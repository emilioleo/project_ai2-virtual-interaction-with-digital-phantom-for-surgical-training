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64" r:id="rId4"/>
    <p:sldId id="267" r:id="rId5"/>
    <p:sldId id="266" r:id="rId6"/>
    <p:sldId id="265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59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E9F7"/>
    <a:srgbClr val="0B3041"/>
    <a:srgbClr val="154065"/>
    <a:srgbClr val="FFFFFF"/>
    <a:srgbClr val="8409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5" autoAdjust="0"/>
    <p:restoredTop sz="94660"/>
  </p:normalViewPr>
  <p:slideViewPr>
    <p:cSldViewPr snapToGrid="0">
      <p:cViewPr varScale="1">
        <p:scale>
          <a:sx n="64" d="100"/>
          <a:sy n="64" d="100"/>
        </p:scale>
        <p:origin x="3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1.pn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34.pn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5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1.pn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34.pn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F77B5B-A29A-4497-B1AA-29F636FD2C06}" type="doc">
      <dgm:prSet loTypeId="urn:microsoft.com/office/officeart/2009/3/layout/FramedTextPicture" loCatId="pictur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it-IT"/>
        </a:p>
      </dgm:t>
    </dgm:pt>
    <dgm:pt modelId="{45B02CAD-6E03-49A3-A302-D0A7E7A76393}">
      <dgm:prSet phldrT="[Testo]" custT="1"/>
      <dgm:spPr/>
      <dgm:t>
        <a:bodyPr/>
        <a:lstStyle/>
        <a:p>
          <a:pPr algn="ctr"/>
          <a:r>
            <a:rPr lang="it-IT" sz="1800" b="1" dirty="0"/>
            <a:t>Cliccando</a:t>
          </a:r>
          <a:r>
            <a:rPr lang="it-IT" sz="1800" b="1" baseline="0" dirty="0"/>
            <a:t> sul prototipo si accede alla schermata con un due opzioni</a:t>
          </a:r>
          <a:endParaRPr lang="it-IT" sz="1800" b="1" dirty="0"/>
        </a:p>
      </dgm:t>
    </dgm:pt>
    <dgm:pt modelId="{6655F79C-2221-4E0E-9D19-F66858A7E25C}" type="parTrans" cxnId="{43213231-D49D-48B8-A095-C3A9159BAB20}">
      <dgm:prSet/>
      <dgm:spPr/>
      <dgm:t>
        <a:bodyPr/>
        <a:lstStyle/>
        <a:p>
          <a:endParaRPr lang="it-IT"/>
        </a:p>
      </dgm:t>
    </dgm:pt>
    <dgm:pt modelId="{E019EB7B-C353-4916-8097-9AFC9907C32D}" type="sibTrans" cxnId="{43213231-D49D-48B8-A095-C3A9159BAB20}">
      <dgm:prSet/>
      <dgm:spPr/>
      <dgm:t>
        <a:bodyPr/>
        <a:lstStyle/>
        <a:p>
          <a:endParaRPr lang="it-IT"/>
        </a:p>
      </dgm:t>
    </dgm:pt>
    <dgm:pt modelId="{C1E99486-A33D-4DC1-B7AD-8D83DDAA3020}" type="pres">
      <dgm:prSet presAssocID="{23F77B5B-A29A-4497-B1AA-29F636FD2C06}" presName="Name0" presStyleCnt="0">
        <dgm:presLayoutVars>
          <dgm:chMax/>
          <dgm:chPref/>
          <dgm:dir/>
        </dgm:presLayoutVars>
      </dgm:prSet>
      <dgm:spPr/>
    </dgm:pt>
    <dgm:pt modelId="{A77C79EE-020E-4D82-94EA-176AFCDD3FEC}" type="pres">
      <dgm:prSet presAssocID="{45B02CAD-6E03-49A3-A302-D0A7E7A76393}" presName="composite" presStyleCnt="0">
        <dgm:presLayoutVars>
          <dgm:chMax/>
          <dgm:chPref/>
        </dgm:presLayoutVars>
      </dgm:prSet>
      <dgm:spPr/>
    </dgm:pt>
    <dgm:pt modelId="{5E0993F5-B705-482B-BFDE-A0D801776397}" type="pres">
      <dgm:prSet presAssocID="{45B02CAD-6E03-49A3-A302-D0A7E7A76393}" presName="Image" presStyleLbl="bgImgPlace1" presStyleIdx="0" presStyleCnt="1" custScaleX="201439" custScaleY="231263" custLinFactNeighborX="-20981" custLinFactNeighborY="536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0" r="-10000"/>
          </a:stretch>
        </a:blipFill>
      </dgm:spPr>
    </dgm:pt>
    <dgm:pt modelId="{55E6DA53-4683-43E0-9236-81DC09A1A2ED}" type="pres">
      <dgm:prSet presAssocID="{45B02CAD-6E03-49A3-A302-D0A7E7A76393}" presName="ParentText" presStyleLbl="revTx" presStyleIdx="0" presStyleCnt="1" custScaleX="81662" custLinFactNeighborX="15932" custLinFactNeighborY="-8553">
        <dgm:presLayoutVars>
          <dgm:chMax val="0"/>
          <dgm:chPref val="0"/>
          <dgm:bulletEnabled val="1"/>
        </dgm:presLayoutVars>
      </dgm:prSet>
      <dgm:spPr/>
    </dgm:pt>
    <dgm:pt modelId="{3B0B8BE0-8FB6-4F01-ACF8-AD4E2B1E5385}" type="pres">
      <dgm:prSet presAssocID="{45B02CAD-6E03-49A3-A302-D0A7E7A76393}" presName="tlFrame" presStyleLbl="node1" presStyleIdx="0" presStyleCnt="4" custLinFactX="28529" custLinFactNeighborX="100000" custLinFactNeighborY="-973"/>
      <dgm:spPr/>
    </dgm:pt>
    <dgm:pt modelId="{497AC870-121B-44EC-91C7-76F30E2B49D9}" type="pres">
      <dgm:prSet presAssocID="{45B02CAD-6E03-49A3-A302-D0A7E7A76393}" presName="trFrame" presStyleLbl="node1" presStyleIdx="1" presStyleCnt="4" custLinFactNeighborX="14804" custLinFactNeighborY="-2996"/>
      <dgm:spPr/>
    </dgm:pt>
    <dgm:pt modelId="{29FFA378-621E-435E-8DEC-F5834A2EF2BD}" type="pres">
      <dgm:prSet presAssocID="{45B02CAD-6E03-49A3-A302-D0A7E7A76393}" presName="blFrame" presStyleLbl="node1" presStyleIdx="2" presStyleCnt="4" custLinFactX="22531" custLinFactNeighborX="100000" custLinFactNeighborY="-25960"/>
      <dgm:spPr/>
    </dgm:pt>
    <dgm:pt modelId="{EB39FB69-F528-42FD-BAB9-A708A10EC4E2}" type="pres">
      <dgm:prSet presAssocID="{45B02CAD-6E03-49A3-A302-D0A7E7A76393}" presName="brFrame" presStyleLbl="node1" presStyleIdx="3" presStyleCnt="4" custLinFactNeighborX="14804" custLinFactNeighborY="-25960"/>
      <dgm:spPr/>
    </dgm:pt>
  </dgm:ptLst>
  <dgm:cxnLst>
    <dgm:cxn modelId="{961C8414-C710-46AF-B611-ABB5EE02CCEC}" type="presOf" srcId="{45B02CAD-6E03-49A3-A302-D0A7E7A76393}" destId="{55E6DA53-4683-43E0-9236-81DC09A1A2ED}" srcOrd="0" destOrd="0" presId="urn:microsoft.com/office/officeart/2009/3/layout/FramedTextPicture"/>
    <dgm:cxn modelId="{43213231-D49D-48B8-A095-C3A9159BAB20}" srcId="{23F77B5B-A29A-4497-B1AA-29F636FD2C06}" destId="{45B02CAD-6E03-49A3-A302-D0A7E7A76393}" srcOrd="0" destOrd="0" parTransId="{6655F79C-2221-4E0E-9D19-F66858A7E25C}" sibTransId="{E019EB7B-C353-4916-8097-9AFC9907C32D}"/>
    <dgm:cxn modelId="{A5D60CEB-5C3D-435B-B20A-59B20A6FE019}" type="presOf" srcId="{23F77B5B-A29A-4497-B1AA-29F636FD2C06}" destId="{C1E99486-A33D-4DC1-B7AD-8D83DDAA3020}" srcOrd="0" destOrd="0" presId="urn:microsoft.com/office/officeart/2009/3/layout/FramedTextPicture"/>
    <dgm:cxn modelId="{4C84E810-A90E-449D-836F-90A48E85E247}" type="presParOf" srcId="{C1E99486-A33D-4DC1-B7AD-8D83DDAA3020}" destId="{A77C79EE-020E-4D82-94EA-176AFCDD3FEC}" srcOrd="0" destOrd="0" presId="urn:microsoft.com/office/officeart/2009/3/layout/FramedTextPicture"/>
    <dgm:cxn modelId="{4AB6BD29-707E-4F7C-A538-A3D2F7ABB23C}" type="presParOf" srcId="{A77C79EE-020E-4D82-94EA-176AFCDD3FEC}" destId="{5E0993F5-B705-482B-BFDE-A0D801776397}" srcOrd="0" destOrd="0" presId="urn:microsoft.com/office/officeart/2009/3/layout/FramedTextPicture"/>
    <dgm:cxn modelId="{E6200DE1-425C-434B-86A7-D8B189D66F7A}" type="presParOf" srcId="{A77C79EE-020E-4D82-94EA-176AFCDD3FEC}" destId="{55E6DA53-4683-43E0-9236-81DC09A1A2ED}" srcOrd="1" destOrd="0" presId="urn:microsoft.com/office/officeart/2009/3/layout/FramedTextPicture"/>
    <dgm:cxn modelId="{C13340C6-0ECA-41E3-A52D-FDD029A09B5F}" type="presParOf" srcId="{A77C79EE-020E-4D82-94EA-176AFCDD3FEC}" destId="{3B0B8BE0-8FB6-4F01-ACF8-AD4E2B1E5385}" srcOrd="2" destOrd="0" presId="urn:microsoft.com/office/officeart/2009/3/layout/FramedTextPicture"/>
    <dgm:cxn modelId="{88C5ABE7-0B84-48E2-9F0D-3A430F5EE15A}" type="presParOf" srcId="{A77C79EE-020E-4D82-94EA-176AFCDD3FEC}" destId="{497AC870-121B-44EC-91C7-76F30E2B49D9}" srcOrd="3" destOrd="0" presId="urn:microsoft.com/office/officeart/2009/3/layout/FramedTextPicture"/>
    <dgm:cxn modelId="{0A5DC790-0543-483F-87DA-C319F937B3FB}" type="presParOf" srcId="{A77C79EE-020E-4D82-94EA-176AFCDD3FEC}" destId="{29FFA378-621E-435E-8DEC-F5834A2EF2BD}" srcOrd="4" destOrd="0" presId="urn:microsoft.com/office/officeart/2009/3/layout/FramedTextPicture"/>
    <dgm:cxn modelId="{A3147916-9B1F-4199-95A4-FD883EDA1B37}" type="presParOf" srcId="{A77C79EE-020E-4D82-94EA-176AFCDD3FEC}" destId="{EB39FB69-F528-42FD-BAB9-A708A10EC4E2}" srcOrd="5" destOrd="0" presId="urn:microsoft.com/office/officeart/2009/3/layout/FramedTextPicture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52F62D-1DC5-4AC6-8DF3-C47CC0D3E536}" type="doc">
      <dgm:prSet loTypeId="urn:microsoft.com/office/officeart/2009/3/layout/FramedTextPicture" loCatId="pictur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it-IT"/>
        </a:p>
      </dgm:t>
    </dgm:pt>
    <dgm:pt modelId="{1C41F006-F3FE-4520-BF05-81664421F717}">
      <dgm:prSet phldrT="[Testo]" custT="1"/>
      <dgm:spPr/>
      <dgm:t>
        <a:bodyPr/>
        <a:lstStyle/>
        <a:p>
          <a:pPr algn="ctr"/>
          <a:endParaRPr lang="it-IT" sz="1800" b="1" u="none" dirty="0"/>
        </a:p>
        <a:p>
          <a:pPr algn="ctr"/>
          <a:r>
            <a:rPr lang="it-IT" sz="1800" b="1" u="none" dirty="0"/>
            <a:t>Asportazione del legamento</a:t>
          </a:r>
        </a:p>
      </dgm:t>
    </dgm:pt>
    <dgm:pt modelId="{592F27D2-9C93-4F73-920B-D844D112D94F}" type="parTrans" cxnId="{9AFC7BAE-4325-4DC4-84A1-0224893BF091}">
      <dgm:prSet/>
      <dgm:spPr/>
      <dgm:t>
        <a:bodyPr/>
        <a:lstStyle/>
        <a:p>
          <a:endParaRPr lang="it-IT"/>
        </a:p>
      </dgm:t>
    </dgm:pt>
    <dgm:pt modelId="{4570B9A7-7524-4778-B0B6-68F84A00B73D}" type="sibTrans" cxnId="{9AFC7BAE-4325-4DC4-84A1-0224893BF091}">
      <dgm:prSet/>
      <dgm:spPr/>
      <dgm:t>
        <a:bodyPr/>
        <a:lstStyle/>
        <a:p>
          <a:endParaRPr lang="it-IT"/>
        </a:p>
      </dgm:t>
    </dgm:pt>
    <dgm:pt modelId="{D89D7F02-D8FC-4769-8487-42B87C97B403}" type="pres">
      <dgm:prSet presAssocID="{8152F62D-1DC5-4AC6-8DF3-C47CC0D3E536}" presName="Name0" presStyleCnt="0">
        <dgm:presLayoutVars>
          <dgm:chMax/>
          <dgm:chPref/>
          <dgm:dir/>
        </dgm:presLayoutVars>
      </dgm:prSet>
      <dgm:spPr/>
    </dgm:pt>
    <dgm:pt modelId="{DDBCD32E-D4F1-40B1-B46D-684B34E5F098}" type="pres">
      <dgm:prSet presAssocID="{1C41F006-F3FE-4520-BF05-81664421F717}" presName="composite" presStyleCnt="0">
        <dgm:presLayoutVars>
          <dgm:chMax/>
          <dgm:chPref/>
        </dgm:presLayoutVars>
      </dgm:prSet>
      <dgm:spPr/>
    </dgm:pt>
    <dgm:pt modelId="{FE5EB575-B63C-436F-AA22-FA535909E2CD}" type="pres">
      <dgm:prSet presAssocID="{1C41F006-F3FE-4520-BF05-81664421F717}" presName="Image" presStyleLbl="bgImgPlace1" presStyleIdx="0" presStyleCnt="1" custScaleX="130530" custScaleY="194439" custLinFactNeighborX="-27032" custLinFactNeighborY="215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0" b="-40000"/>
          </a:stretch>
        </a:blipFill>
      </dgm:spPr>
    </dgm:pt>
    <dgm:pt modelId="{C098BA2E-20FF-4C32-B21F-9B2AD115B6C5}" type="pres">
      <dgm:prSet presAssocID="{1C41F006-F3FE-4520-BF05-81664421F717}" presName="ParentText" presStyleLbl="revTx" presStyleIdx="0" presStyleCnt="1" custLinFactNeighborX="-2738" custLinFactNeighborY="-68346">
        <dgm:presLayoutVars>
          <dgm:chMax val="0"/>
          <dgm:chPref val="0"/>
          <dgm:bulletEnabled val="1"/>
        </dgm:presLayoutVars>
      </dgm:prSet>
      <dgm:spPr/>
    </dgm:pt>
    <dgm:pt modelId="{6CE2936F-F6FD-435E-86BC-76C11282B912}" type="pres">
      <dgm:prSet presAssocID="{1C41F006-F3FE-4520-BF05-81664421F717}" presName="tlFrame" presStyleLbl="node1" presStyleIdx="0" presStyleCnt="4" custLinFactY="-17807" custLinFactNeighborX="39229" custLinFactNeighborY="-100000"/>
      <dgm:spPr/>
    </dgm:pt>
    <dgm:pt modelId="{02447E7E-AF64-402E-BA14-38D78056506B}" type="pres">
      <dgm:prSet presAssocID="{1C41F006-F3FE-4520-BF05-81664421F717}" presName="trFrame" presStyleLbl="node1" presStyleIdx="1" presStyleCnt="4" custLinFactX="-15308" custLinFactY="-17808" custLinFactNeighborX="-100000" custLinFactNeighborY="-100000"/>
      <dgm:spPr/>
    </dgm:pt>
    <dgm:pt modelId="{32E988E3-815B-4182-A0AB-EA41EF204F0B}" type="pres">
      <dgm:prSet presAssocID="{1C41F006-F3FE-4520-BF05-81664421F717}" presName="blFrame" presStyleLbl="node1" presStyleIdx="2" presStyleCnt="4" custScaleX="89249" custLinFactY="-100000" custLinFactNeighborX="39230" custLinFactNeighborY="-108952"/>
      <dgm:spPr/>
    </dgm:pt>
    <dgm:pt modelId="{4896249C-0C44-4B6F-8077-4AE21BB48CE7}" type="pres">
      <dgm:prSet presAssocID="{1C41F006-F3FE-4520-BF05-81664421F717}" presName="brFrame" presStyleLbl="node1" presStyleIdx="3" presStyleCnt="4" custLinFactX="-11785" custLinFactY="-100000" custLinFactNeighborX="-100000" custLinFactNeighborY="-108276"/>
      <dgm:spPr/>
    </dgm:pt>
  </dgm:ptLst>
  <dgm:cxnLst>
    <dgm:cxn modelId="{7E93F542-19CD-4C49-A230-7086700584B4}" type="presOf" srcId="{1C41F006-F3FE-4520-BF05-81664421F717}" destId="{C098BA2E-20FF-4C32-B21F-9B2AD115B6C5}" srcOrd="0" destOrd="0" presId="urn:microsoft.com/office/officeart/2009/3/layout/FramedTextPicture"/>
    <dgm:cxn modelId="{6FCDA94D-7EB4-48BB-B71F-E6FE86DAFD39}" type="presOf" srcId="{8152F62D-1DC5-4AC6-8DF3-C47CC0D3E536}" destId="{D89D7F02-D8FC-4769-8487-42B87C97B403}" srcOrd="0" destOrd="0" presId="urn:microsoft.com/office/officeart/2009/3/layout/FramedTextPicture"/>
    <dgm:cxn modelId="{9AFC7BAE-4325-4DC4-84A1-0224893BF091}" srcId="{8152F62D-1DC5-4AC6-8DF3-C47CC0D3E536}" destId="{1C41F006-F3FE-4520-BF05-81664421F717}" srcOrd="0" destOrd="0" parTransId="{592F27D2-9C93-4F73-920B-D844D112D94F}" sibTransId="{4570B9A7-7524-4778-B0B6-68F84A00B73D}"/>
    <dgm:cxn modelId="{30328DE3-1940-4E15-A5D8-6D514B0F5D26}" type="presParOf" srcId="{D89D7F02-D8FC-4769-8487-42B87C97B403}" destId="{DDBCD32E-D4F1-40B1-B46D-684B34E5F098}" srcOrd="0" destOrd="0" presId="urn:microsoft.com/office/officeart/2009/3/layout/FramedTextPicture"/>
    <dgm:cxn modelId="{0D5F20A2-0D14-4B9B-93E5-4379497FCE3D}" type="presParOf" srcId="{DDBCD32E-D4F1-40B1-B46D-684B34E5F098}" destId="{FE5EB575-B63C-436F-AA22-FA535909E2CD}" srcOrd="0" destOrd="0" presId="urn:microsoft.com/office/officeart/2009/3/layout/FramedTextPicture"/>
    <dgm:cxn modelId="{CF1E8B70-F059-4C01-8774-80A079745439}" type="presParOf" srcId="{DDBCD32E-D4F1-40B1-B46D-684B34E5F098}" destId="{C098BA2E-20FF-4C32-B21F-9B2AD115B6C5}" srcOrd="1" destOrd="0" presId="urn:microsoft.com/office/officeart/2009/3/layout/FramedTextPicture"/>
    <dgm:cxn modelId="{05C231B9-1D72-4921-99CD-2AF08DA8EC0B}" type="presParOf" srcId="{DDBCD32E-D4F1-40B1-B46D-684B34E5F098}" destId="{6CE2936F-F6FD-435E-86BC-76C11282B912}" srcOrd="2" destOrd="0" presId="urn:microsoft.com/office/officeart/2009/3/layout/FramedTextPicture"/>
    <dgm:cxn modelId="{52AB7E52-D00F-4223-BD9F-1A7A15E9B652}" type="presParOf" srcId="{DDBCD32E-D4F1-40B1-B46D-684B34E5F098}" destId="{02447E7E-AF64-402E-BA14-38D78056506B}" srcOrd="3" destOrd="0" presId="urn:microsoft.com/office/officeart/2009/3/layout/FramedTextPicture"/>
    <dgm:cxn modelId="{F13C7773-92C8-44E9-BE53-1A368892E3AB}" type="presParOf" srcId="{DDBCD32E-D4F1-40B1-B46D-684B34E5F098}" destId="{32E988E3-815B-4182-A0AB-EA41EF204F0B}" srcOrd="4" destOrd="0" presId="urn:microsoft.com/office/officeart/2009/3/layout/FramedTextPicture"/>
    <dgm:cxn modelId="{9761D1D1-B0C0-4139-909B-8AB781F3909B}" type="presParOf" srcId="{DDBCD32E-D4F1-40B1-B46D-684B34E5F098}" destId="{4896249C-0C44-4B6F-8077-4AE21BB48CE7}" srcOrd="5" destOrd="0" presId="urn:microsoft.com/office/officeart/2009/3/layout/FramedTextPi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152F62D-1DC5-4AC6-8DF3-C47CC0D3E536}" type="doc">
      <dgm:prSet loTypeId="urn:microsoft.com/office/officeart/2009/3/layout/FramedTextPicture" loCatId="pictur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it-IT"/>
        </a:p>
      </dgm:t>
    </dgm:pt>
    <dgm:pt modelId="{1C41F006-F3FE-4520-BF05-81664421F717}">
      <dgm:prSet phldrT="[Testo]" custT="1"/>
      <dgm:spPr/>
      <dgm:t>
        <a:bodyPr/>
        <a:lstStyle/>
        <a:p>
          <a:pPr algn="ctr"/>
          <a:r>
            <a:rPr lang="it-IT" sz="1800" b="1" u="none" dirty="0"/>
            <a:t>   Spostamento laterale della trachea per la rimozione del disco</a:t>
          </a:r>
        </a:p>
      </dgm:t>
    </dgm:pt>
    <dgm:pt modelId="{592F27D2-9C93-4F73-920B-D844D112D94F}" type="parTrans" cxnId="{9AFC7BAE-4325-4DC4-84A1-0224893BF091}">
      <dgm:prSet/>
      <dgm:spPr/>
      <dgm:t>
        <a:bodyPr/>
        <a:lstStyle/>
        <a:p>
          <a:endParaRPr lang="it-IT"/>
        </a:p>
      </dgm:t>
    </dgm:pt>
    <dgm:pt modelId="{4570B9A7-7524-4778-B0B6-68F84A00B73D}" type="sibTrans" cxnId="{9AFC7BAE-4325-4DC4-84A1-0224893BF091}">
      <dgm:prSet/>
      <dgm:spPr/>
      <dgm:t>
        <a:bodyPr/>
        <a:lstStyle/>
        <a:p>
          <a:endParaRPr lang="it-IT"/>
        </a:p>
      </dgm:t>
    </dgm:pt>
    <dgm:pt modelId="{D89D7F02-D8FC-4769-8487-42B87C97B403}" type="pres">
      <dgm:prSet presAssocID="{8152F62D-1DC5-4AC6-8DF3-C47CC0D3E536}" presName="Name0" presStyleCnt="0">
        <dgm:presLayoutVars>
          <dgm:chMax/>
          <dgm:chPref/>
          <dgm:dir/>
        </dgm:presLayoutVars>
      </dgm:prSet>
      <dgm:spPr/>
    </dgm:pt>
    <dgm:pt modelId="{DDBCD32E-D4F1-40B1-B46D-684B34E5F098}" type="pres">
      <dgm:prSet presAssocID="{1C41F006-F3FE-4520-BF05-81664421F717}" presName="composite" presStyleCnt="0">
        <dgm:presLayoutVars>
          <dgm:chMax/>
          <dgm:chPref/>
        </dgm:presLayoutVars>
      </dgm:prSet>
      <dgm:spPr/>
    </dgm:pt>
    <dgm:pt modelId="{FE5EB575-B63C-436F-AA22-FA535909E2CD}" type="pres">
      <dgm:prSet presAssocID="{1C41F006-F3FE-4520-BF05-81664421F717}" presName="Image" presStyleLbl="bgImgPlace1" presStyleIdx="0" presStyleCnt="1" custScaleX="131780" custScaleY="201645" custLinFactNeighborX="-32249" custLinFactNeighborY="-588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</dgm:spPr>
    </dgm:pt>
    <dgm:pt modelId="{C098BA2E-20FF-4C32-B21F-9B2AD115B6C5}" type="pres">
      <dgm:prSet presAssocID="{1C41F006-F3FE-4520-BF05-81664421F717}" presName="ParentText" presStyleLbl="revTx" presStyleIdx="0" presStyleCnt="1" custScaleX="94498" custScaleY="85030" custLinFactNeighborX="7530" custLinFactNeighborY="-82858">
        <dgm:presLayoutVars>
          <dgm:chMax val="0"/>
          <dgm:chPref val="0"/>
          <dgm:bulletEnabled val="1"/>
        </dgm:presLayoutVars>
      </dgm:prSet>
      <dgm:spPr/>
    </dgm:pt>
    <dgm:pt modelId="{6CE2936F-F6FD-435E-86BC-76C11282B912}" type="pres">
      <dgm:prSet presAssocID="{1C41F006-F3FE-4520-BF05-81664421F717}" presName="tlFrame" presStyleLbl="node1" presStyleIdx="0" presStyleCnt="4" custLinFactY="-85666" custLinFactNeighborX="38311" custLinFactNeighborY="-100000"/>
      <dgm:spPr/>
    </dgm:pt>
    <dgm:pt modelId="{02447E7E-AF64-402E-BA14-38D78056506B}" type="pres">
      <dgm:prSet presAssocID="{1C41F006-F3FE-4520-BF05-81664421F717}" presName="trFrame" presStyleLbl="node1" presStyleIdx="1" presStyleCnt="4" custLinFactY="-85117" custLinFactNeighborX="-19736" custLinFactNeighborY="-100000"/>
      <dgm:spPr/>
    </dgm:pt>
    <dgm:pt modelId="{32E988E3-815B-4182-A0AB-EA41EF204F0B}" type="pres">
      <dgm:prSet presAssocID="{1C41F006-F3FE-4520-BF05-81664421F717}" presName="blFrame" presStyleLbl="node1" presStyleIdx="2" presStyleCnt="4" custScaleX="89249" custLinFactY="-100000" custLinFactNeighborX="38204" custLinFactNeighborY="-150129"/>
      <dgm:spPr/>
    </dgm:pt>
    <dgm:pt modelId="{4896249C-0C44-4B6F-8077-4AE21BB48CE7}" type="pres">
      <dgm:prSet presAssocID="{1C41F006-F3FE-4520-BF05-81664421F717}" presName="brFrame" presStyleLbl="node1" presStyleIdx="3" presStyleCnt="4" custLinFactY="-100000" custLinFactNeighborX="-22736" custLinFactNeighborY="-156548"/>
      <dgm:spPr/>
    </dgm:pt>
  </dgm:ptLst>
  <dgm:cxnLst>
    <dgm:cxn modelId="{7E93F542-19CD-4C49-A230-7086700584B4}" type="presOf" srcId="{1C41F006-F3FE-4520-BF05-81664421F717}" destId="{C098BA2E-20FF-4C32-B21F-9B2AD115B6C5}" srcOrd="0" destOrd="0" presId="urn:microsoft.com/office/officeart/2009/3/layout/FramedTextPicture"/>
    <dgm:cxn modelId="{6FCDA94D-7EB4-48BB-B71F-E6FE86DAFD39}" type="presOf" srcId="{8152F62D-1DC5-4AC6-8DF3-C47CC0D3E536}" destId="{D89D7F02-D8FC-4769-8487-42B87C97B403}" srcOrd="0" destOrd="0" presId="urn:microsoft.com/office/officeart/2009/3/layout/FramedTextPicture"/>
    <dgm:cxn modelId="{9AFC7BAE-4325-4DC4-84A1-0224893BF091}" srcId="{8152F62D-1DC5-4AC6-8DF3-C47CC0D3E536}" destId="{1C41F006-F3FE-4520-BF05-81664421F717}" srcOrd="0" destOrd="0" parTransId="{592F27D2-9C93-4F73-920B-D844D112D94F}" sibTransId="{4570B9A7-7524-4778-B0B6-68F84A00B73D}"/>
    <dgm:cxn modelId="{30328DE3-1940-4E15-A5D8-6D514B0F5D26}" type="presParOf" srcId="{D89D7F02-D8FC-4769-8487-42B87C97B403}" destId="{DDBCD32E-D4F1-40B1-B46D-684B34E5F098}" srcOrd="0" destOrd="0" presId="urn:microsoft.com/office/officeart/2009/3/layout/FramedTextPicture"/>
    <dgm:cxn modelId="{0D5F20A2-0D14-4B9B-93E5-4379497FCE3D}" type="presParOf" srcId="{DDBCD32E-D4F1-40B1-B46D-684B34E5F098}" destId="{FE5EB575-B63C-436F-AA22-FA535909E2CD}" srcOrd="0" destOrd="0" presId="urn:microsoft.com/office/officeart/2009/3/layout/FramedTextPicture"/>
    <dgm:cxn modelId="{CF1E8B70-F059-4C01-8774-80A079745439}" type="presParOf" srcId="{DDBCD32E-D4F1-40B1-B46D-684B34E5F098}" destId="{C098BA2E-20FF-4C32-B21F-9B2AD115B6C5}" srcOrd="1" destOrd="0" presId="urn:microsoft.com/office/officeart/2009/3/layout/FramedTextPicture"/>
    <dgm:cxn modelId="{05C231B9-1D72-4921-99CD-2AF08DA8EC0B}" type="presParOf" srcId="{DDBCD32E-D4F1-40B1-B46D-684B34E5F098}" destId="{6CE2936F-F6FD-435E-86BC-76C11282B912}" srcOrd="2" destOrd="0" presId="urn:microsoft.com/office/officeart/2009/3/layout/FramedTextPicture"/>
    <dgm:cxn modelId="{52AB7E52-D00F-4223-BD9F-1A7A15E9B652}" type="presParOf" srcId="{DDBCD32E-D4F1-40B1-B46D-684B34E5F098}" destId="{02447E7E-AF64-402E-BA14-38D78056506B}" srcOrd="3" destOrd="0" presId="urn:microsoft.com/office/officeart/2009/3/layout/FramedTextPicture"/>
    <dgm:cxn modelId="{F13C7773-92C8-44E9-BE53-1A368892E3AB}" type="presParOf" srcId="{DDBCD32E-D4F1-40B1-B46D-684B34E5F098}" destId="{32E988E3-815B-4182-A0AB-EA41EF204F0B}" srcOrd="4" destOrd="0" presId="urn:microsoft.com/office/officeart/2009/3/layout/FramedTextPicture"/>
    <dgm:cxn modelId="{9761D1D1-B0C0-4139-909B-8AB781F3909B}" type="presParOf" srcId="{DDBCD32E-D4F1-40B1-B46D-684B34E5F098}" destId="{4896249C-0C44-4B6F-8077-4AE21BB48CE7}" srcOrd="5" destOrd="0" presId="urn:microsoft.com/office/officeart/2009/3/layout/FramedTextPicture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A93DFE9-89DA-4DBD-AC7A-348864207ABD}" type="doc">
      <dgm:prSet loTypeId="urn:microsoft.com/office/officeart/2009/3/layout/FramedTextPicture" loCatId="pictur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it-IT"/>
        </a:p>
      </dgm:t>
    </dgm:pt>
    <dgm:pt modelId="{3FA4C848-FE4F-43F7-B97C-41C5A7CE3EB1}">
      <dgm:prSet phldrT="[Testo]" custT="1"/>
      <dgm:spPr/>
      <dgm:t>
        <a:bodyPr/>
        <a:lstStyle/>
        <a:p>
          <a:r>
            <a:rPr lang="it-IT" sz="1800" b="1" dirty="0"/>
            <a:t>   Prendere la gabbia e posizionarla vicino allo spazio intervertebrale rimasto vuoto</a:t>
          </a:r>
          <a:endParaRPr lang="it-IT" sz="1800" dirty="0"/>
        </a:p>
      </dgm:t>
    </dgm:pt>
    <dgm:pt modelId="{10365C9E-8EC1-4F94-B98C-37C6CBF7FC0C}" type="parTrans" cxnId="{35F38972-20A4-49D0-9882-2AA73A980200}">
      <dgm:prSet/>
      <dgm:spPr/>
      <dgm:t>
        <a:bodyPr/>
        <a:lstStyle/>
        <a:p>
          <a:endParaRPr lang="it-IT"/>
        </a:p>
      </dgm:t>
    </dgm:pt>
    <dgm:pt modelId="{A518C0D4-99B3-4618-A683-163B69EDC7A7}" type="sibTrans" cxnId="{35F38972-20A4-49D0-9882-2AA73A980200}">
      <dgm:prSet/>
      <dgm:spPr/>
      <dgm:t>
        <a:bodyPr/>
        <a:lstStyle/>
        <a:p>
          <a:endParaRPr lang="it-IT"/>
        </a:p>
      </dgm:t>
    </dgm:pt>
    <dgm:pt modelId="{68086E04-9842-4B33-BC4B-772CD6930A7E}" type="pres">
      <dgm:prSet presAssocID="{9A93DFE9-89DA-4DBD-AC7A-348864207ABD}" presName="Name0" presStyleCnt="0">
        <dgm:presLayoutVars>
          <dgm:chMax/>
          <dgm:chPref/>
          <dgm:dir/>
        </dgm:presLayoutVars>
      </dgm:prSet>
      <dgm:spPr/>
    </dgm:pt>
    <dgm:pt modelId="{7F2C9610-A9D6-4F22-89CB-067B28846A6A}" type="pres">
      <dgm:prSet presAssocID="{3FA4C848-FE4F-43F7-B97C-41C5A7CE3EB1}" presName="composite" presStyleCnt="0">
        <dgm:presLayoutVars>
          <dgm:chMax/>
          <dgm:chPref/>
        </dgm:presLayoutVars>
      </dgm:prSet>
      <dgm:spPr/>
    </dgm:pt>
    <dgm:pt modelId="{5B9A13B9-2655-4537-B9B7-ACF9AC8017A1}" type="pres">
      <dgm:prSet presAssocID="{3FA4C848-FE4F-43F7-B97C-41C5A7CE3EB1}" presName="Image" presStyleLbl="bgImgPlace1" presStyleIdx="0" presStyleCnt="1" custScaleX="167122" custScaleY="183075" custLinFactNeighborX="-10886" custLinFactNeighborY="-3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</dgm:spPr>
    </dgm:pt>
    <dgm:pt modelId="{46E9480B-BD1A-4119-BCA3-A0C55D7DCF79}" type="pres">
      <dgm:prSet presAssocID="{3FA4C848-FE4F-43F7-B97C-41C5A7CE3EB1}" presName="ParentText" presStyleLbl="revTx" presStyleIdx="0" presStyleCnt="1" custScaleX="93780" custLinFactNeighborX="20130" custLinFactNeighborY="-60750">
        <dgm:presLayoutVars>
          <dgm:chMax val="0"/>
          <dgm:chPref val="0"/>
          <dgm:bulletEnabled val="1"/>
        </dgm:presLayoutVars>
      </dgm:prSet>
      <dgm:spPr/>
    </dgm:pt>
    <dgm:pt modelId="{1D49A733-D87F-4B12-9AC0-B79A7F151B36}" type="pres">
      <dgm:prSet presAssocID="{3FA4C848-FE4F-43F7-B97C-41C5A7CE3EB1}" presName="tlFrame" presStyleLbl="node1" presStyleIdx="0" presStyleCnt="4" custLinFactX="8886" custLinFactY="-60501" custLinFactNeighborX="100000" custLinFactNeighborY="-100000"/>
      <dgm:spPr/>
    </dgm:pt>
    <dgm:pt modelId="{C4D231F0-E191-4FF9-8235-7551E3207973}" type="pres">
      <dgm:prSet presAssocID="{3FA4C848-FE4F-43F7-B97C-41C5A7CE3EB1}" presName="trFrame" presStyleLbl="node1" presStyleIdx="1" presStyleCnt="4" custLinFactY="-69708" custLinFactNeighborX="34669" custLinFactNeighborY="-100000"/>
      <dgm:spPr/>
    </dgm:pt>
    <dgm:pt modelId="{05EE0A2E-2C02-43E2-822F-0DF9E5BB76F2}" type="pres">
      <dgm:prSet presAssocID="{3FA4C848-FE4F-43F7-B97C-41C5A7CE3EB1}" presName="blFrame" presStyleLbl="node1" presStyleIdx="2" presStyleCnt="4" custLinFactX="3491" custLinFactY="-100000" custLinFactNeighborX="100000" custLinFactNeighborY="-112414"/>
      <dgm:spPr/>
    </dgm:pt>
    <dgm:pt modelId="{14270788-012B-4247-8CB9-7B0137476423}" type="pres">
      <dgm:prSet presAssocID="{3FA4C848-FE4F-43F7-B97C-41C5A7CE3EB1}" presName="brFrame" presStyleLbl="node1" presStyleIdx="3" presStyleCnt="4" custLinFactY="-100000" custLinFactNeighborX="34669" custLinFactNeighborY="-120932"/>
      <dgm:spPr/>
    </dgm:pt>
  </dgm:ptLst>
  <dgm:cxnLst>
    <dgm:cxn modelId="{15246C4B-E315-413A-9FEC-F924C3823C84}" type="presOf" srcId="{3FA4C848-FE4F-43F7-B97C-41C5A7CE3EB1}" destId="{46E9480B-BD1A-4119-BCA3-A0C55D7DCF79}" srcOrd="0" destOrd="0" presId="urn:microsoft.com/office/officeart/2009/3/layout/FramedTextPicture"/>
    <dgm:cxn modelId="{35F38972-20A4-49D0-9882-2AA73A980200}" srcId="{9A93DFE9-89DA-4DBD-AC7A-348864207ABD}" destId="{3FA4C848-FE4F-43F7-B97C-41C5A7CE3EB1}" srcOrd="0" destOrd="0" parTransId="{10365C9E-8EC1-4F94-B98C-37C6CBF7FC0C}" sibTransId="{A518C0D4-99B3-4618-A683-163B69EDC7A7}"/>
    <dgm:cxn modelId="{FF8934A0-24D9-4B83-A908-2BD68961A7AA}" type="presOf" srcId="{9A93DFE9-89DA-4DBD-AC7A-348864207ABD}" destId="{68086E04-9842-4B33-BC4B-772CD6930A7E}" srcOrd="0" destOrd="0" presId="urn:microsoft.com/office/officeart/2009/3/layout/FramedTextPicture"/>
    <dgm:cxn modelId="{8D664129-9B52-4262-A0B1-FBF1563C6995}" type="presParOf" srcId="{68086E04-9842-4B33-BC4B-772CD6930A7E}" destId="{7F2C9610-A9D6-4F22-89CB-067B28846A6A}" srcOrd="0" destOrd="0" presId="urn:microsoft.com/office/officeart/2009/3/layout/FramedTextPicture"/>
    <dgm:cxn modelId="{20CCB8AF-B564-410E-B356-5B8B58B435B4}" type="presParOf" srcId="{7F2C9610-A9D6-4F22-89CB-067B28846A6A}" destId="{5B9A13B9-2655-4537-B9B7-ACF9AC8017A1}" srcOrd="0" destOrd="0" presId="urn:microsoft.com/office/officeart/2009/3/layout/FramedTextPicture"/>
    <dgm:cxn modelId="{8919E73E-C495-429A-A6F9-51A5E3D3DEB1}" type="presParOf" srcId="{7F2C9610-A9D6-4F22-89CB-067B28846A6A}" destId="{46E9480B-BD1A-4119-BCA3-A0C55D7DCF79}" srcOrd="1" destOrd="0" presId="urn:microsoft.com/office/officeart/2009/3/layout/FramedTextPicture"/>
    <dgm:cxn modelId="{3AC82093-7334-48AE-B739-97BDF7CE5428}" type="presParOf" srcId="{7F2C9610-A9D6-4F22-89CB-067B28846A6A}" destId="{1D49A733-D87F-4B12-9AC0-B79A7F151B36}" srcOrd="2" destOrd="0" presId="urn:microsoft.com/office/officeart/2009/3/layout/FramedTextPicture"/>
    <dgm:cxn modelId="{57670BF3-7929-4501-A9E9-33741D4743EB}" type="presParOf" srcId="{7F2C9610-A9D6-4F22-89CB-067B28846A6A}" destId="{C4D231F0-E191-4FF9-8235-7551E3207973}" srcOrd="3" destOrd="0" presId="urn:microsoft.com/office/officeart/2009/3/layout/FramedTextPicture"/>
    <dgm:cxn modelId="{C141AFC2-7080-4364-9367-47E4E37798B8}" type="presParOf" srcId="{7F2C9610-A9D6-4F22-89CB-067B28846A6A}" destId="{05EE0A2E-2C02-43E2-822F-0DF9E5BB76F2}" srcOrd="4" destOrd="0" presId="urn:microsoft.com/office/officeart/2009/3/layout/FramedTextPicture"/>
    <dgm:cxn modelId="{F6BB7E89-B0A1-4149-B00C-BBBBF8D77AE1}" type="presParOf" srcId="{7F2C9610-A9D6-4F22-89CB-067B28846A6A}" destId="{14270788-012B-4247-8CB9-7B0137476423}" srcOrd="5" destOrd="0" presId="urn:microsoft.com/office/officeart/2009/3/layout/FramedTextPi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93DFE9-89DA-4DBD-AC7A-348864207ABD}" type="doc">
      <dgm:prSet loTypeId="urn:microsoft.com/office/officeart/2009/3/layout/FramedTextPicture" loCatId="pictur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it-IT"/>
        </a:p>
      </dgm:t>
    </dgm:pt>
    <dgm:pt modelId="{3FA4C848-FE4F-43F7-B97C-41C5A7CE3EB1}">
      <dgm:prSet phldrT="[Testo]" custT="1"/>
      <dgm:spPr/>
      <dgm:t>
        <a:bodyPr/>
        <a:lstStyle/>
        <a:p>
          <a:r>
            <a:rPr lang="it-IT" sz="1800" b="1" dirty="0"/>
            <a:t>    Inserire i 3 innesti ossei corrispondenti ai 3 «</a:t>
          </a:r>
          <a:r>
            <a:rPr lang="it-IT" sz="1800" b="1" dirty="0" err="1"/>
            <a:t>holes</a:t>
          </a:r>
          <a:r>
            <a:rPr lang="it-IT" sz="1800" b="1" dirty="0"/>
            <a:t>» </a:t>
          </a:r>
        </a:p>
        <a:p>
          <a:r>
            <a:rPr lang="it-IT" sz="1800" dirty="0"/>
            <a:t> </a:t>
          </a:r>
        </a:p>
      </dgm:t>
    </dgm:pt>
    <dgm:pt modelId="{10365C9E-8EC1-4F94-B98C-37C6CBF7FC0C}" type="parTrans" cxnId="{35F38972-20A4-49D0-9882-2AA73A980200}">
      <dgm:prSet/>
      <dgm:spPr/>
      <dgm:t>
        <a:bodyPr/>
        <a:lstStyle/>
        <a:p>
          <a:endParaRPr lang="it-IT"/>
        </a:p>
      </dgm:t>
    </dgm:pt>
    <dgm:pt modelId="{A518C0D4-99B3-4618-A683-163B69EDC7A7}" type="sibTrans" cxnId="{35F38972-20A4-49D0-9882-2AA73A980200}">
      <dgm:prSet/>
      <dgm:spPr/>
      <dgm:t>
        <a:bodyPr/>
        <a:lstStyle/>
        <a:p>
          <a:endParaRPr lang="it-IT"/>
        </a:p>
      </dgm:t>
    </dgm:pt>
    <dgm:pt modelId="{68086E04-9842-4B33-BC4B-772CD6930A7E}" type="pres">
      <dgm:prSet presAssocID="{9A93DFE9-89DA-4DBD-AC7A-348864207ABD}" presName="Name0" presStyleCnt="0">
        <dgm:presLayoutVars>
          <dgm:chMax/>
          <dgm:chPref/>
          <dgm:dir/>
        </dgm:presLayoutVars>
      </dgm:prSet>
      <dgm:spPr/>
    </dgm:pt>
    <dgm:pt modelId="{7F2C9610-A9D6-4F22-89CB-067B28846A6A}" type="pres">
      <dgm:prSet presAssocID="{3FA4C848-FE4F-43F7-B97C-41C5A7CE3EB1}" presName="composite" presStyleCnt="0">
        <dgm:presLayoutVars>
          <dgm:chMax/>
          <dgm:chPref/>
        </dgm:presLayoutVars>
      </dgm:prSet>
      <dgm:spPr/>
    </dgm:pt>
    <dgm:pt modelId="{5B9A13B9-2655-4537-B9B7-ACF9AC8017A1}" type="pres">
      <dgm:prSet presAssocID="{3FA4C848-FE4F-43F7-B97C-41C5A7CE3EB1}" presName="Image" presStyleLbl="bgImgPlace1" presStyleIdx="0" presStyleCnt="1" custScaleX="167122" custScaleY="183075" custLinFactNeighborX="-10886" custLinFactNeighborY="-3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</dgm:spPr>
    </dgm:pt>
    <dgm:pt modelId="{46E9480B-BD1A-4119-BCA3-A0C55D7DCF79}" type="pres">
      <dgm:prSet presAssocID="{3FA4C848-FE4F-43F7-B97C-41C5A7CE3EB1}" presName="ParentText" presStyleLbl="revTx" presStyleIdx="0" presStyleCnt="1" custScaleX="93780" custLinFactNeighborX="20130" custLinFactNeighborY="-61055">
        <dgm:presLayoutVars>
          <dgm:chMax val="0"/>
          <dgm:chPref val="0"/>
          <dgm:bulletEnabled val="1"/>
        </dgm:presLayoutVars>
      </dgm:prSet>
      <dgm:spPr/>
    </dgm:pt>
    <dgm:pt modelId="{1D49A733-D87F-4B12-9AC0-B79A7F151B36}" type="pres">
      <dgm:prSet presAssocID="{3FA4C848-FE4F-43F7-B97C-41C5A7CE3EB1}" presName="tlFrame" presStyleLbl="node1" presStyleIdx="0" presStyleCnt="4" custLinFactX="9807" custLinFactY="-70293" custLinFactNeighborX="100000" custLinFactNeighborY="-100000"/>
      <dgm:spPr/>
    </dgm:pt>
    <dgm:pt modelId="{C4D231F0-E191-4FF9-8235-7551E3207973}" type="pres">
      <dgm:prSet presAssocID="{3FA4C848-FE4F-43F7-B97C-41C5A7CE3EB1}" presName="trFrame" presStyleLbl="node1" presStyleIdx="1" presStyleCnt="4" custLinFactY="-70293" custLinFactNeighborX="31236" custLinFactNeighborY="-100000"/>
      <dgm:spPr/>
    </dgm:pt>
    <dgm:pt modelId="{05EE0A2E-2C02-43E2-822F-0DF9E5BB76F2}" type="pres">
      <dgm:prSet presAssocID="{3FA4C848-FE4F-43F7-B97C-41C5A7CE3EB1}" presName="blFrame" presStyleLbl="node1" presStyleIdx="2" presStyleCnt="4" custLinFactX="3491" custLinFactY="-100000" custLinFactNeighborX="100000" custLinFactNeighborY="-112414"/>
      <dgm:spPr/>
    </dgm:pt>
    <dgm:pt modelId="{14270788-012B-4247-8CB9-7B0137476423}" type="pres">
      <dgm:prSet presAssocID="{3FA4C848-FE4F-43F7-B97C-41C5A7CE3EB1}" presName="brFrame" presStyleLbl="node1" presStyleIdx="3" presStyleCnt="4" custLinFactY="-100000" custLinFactNeighborX="31236" custLinFactNeighborY="-120932"/>
      <dgm:spPr/>
    </dgm:pt>
  </dgm:ptLst>
  <dgm:cxnLst>
    <dgm:cxn modelId="{15246C4B-E315-413A-9FEC-F924C3823C84}" type="presOf" srcId="{3FA4C848-FE4F-43F7-B97C-41C5A7CE3EB1}" destId="{46E9480B-BD1A-4119-BCA3-A0C55D7DCF79}" srcOrd="0" destOrd="0" presId="urn:microsoft.com/office/officeart/2009/3/layout/FramedTextPicture"/>
    <dgm:cxn modelId="{35F38972-20A4-49D0-9882-2AA73A980200}" srcId="{9A93DFE9-89DA-4DBD-AC7A-348864207ABD}" destId="{3FA4C848-FE4F-43F7-B97C-41C5A7CE3EB1}" srcOrd="0" destOrd="0" parTransId="{10365C9E-8EC1-4F94-B98C-37C6CBF7FC0C}" sibTransId="{A518C0D4-99B3-4618-A683-163B69EDC7A7}"/>
    <dgm:cxn modelId="{FF8934A0-24D9-4B83-A908-2BD68961A7AA}" type="presOf" srcId="{9A93DFE9-89DA-4DBD-AC7A-348864207ABD}" destId="{68086E04-9842-4B33-BC4B-772CD6930A7E}" srcOrd="0" destOrd="0" presId="urn:microsoft.com/office/officeart/2009/3/layout/FramedTextPicture"/>
    <dgm:cxn modelId="{8D664129-9B52-4262-A0B1-FBF1563C6995}" type="presParOf" srcId="{68086E04-9842-4B33-BC4B-772CD6930A7E}" destId="{7F2C9610-A9D6-4F22-89CB-067B28846A6A}" srcOrd="0" destOrd="0" presId="urn:microsoft.com/office/officeart/2009/3/layout/FramedTextPicture"/>
    <dgm:cxn modelId="{20CCB8AF-B564-410E-B356-5B8B58B435B4}" type="presParOf" srcId="{7F2C9610-A9D6-4F22-89CB-067B28846A6A}" destId="{5B9A13B9-2655-4537-B9B7-ACF9AC8017A1}" srcOrd="0" destOrd="0" presId="urn:microsoft.com/office/officeart/2009/3/layout/FramedTextPicture"/>
    <dgm:cxn modelId="{8919E73E-C495-429A-A6F9-51A5E3D3DEB1}" type="presParOf" srcId="{7F2C9610-A9D6-4F22-89CB-067B28846A6A}" destId="{46E9480B-BD1A-4119-BCA3-A0C55D7DCF79}" srcOrd="1" destOrd="0" presId="urn:microsoft.com/office/officeart/2009/3/layout/FramedTextPicture"/>
    <dgm:cxn modelId="{3AC82093-7334-48AE-B739-97BDF7CE5428}" type="presParOf" srcId="{7F2C9610-A9D6-4F22-89CB-067B28846A6A}" destId="{1D49A733-D87F-4B12-9AC0-B79A7F151B36}" srcOrd="2" destOrd="0" presId="urn:microsoft.com/office/officeart/2009/3/layout/FramedTextPicture"/>
    <dgm:cxn modelId="{57670BF3-7929-4501-A9E9-33741D4743EB}" type="presParOf" srcId="{7F2C9610-A9D6-4F22-89CB-067B28846A6A}" destId="{C4D231F0-E191-4FF9-8235-7551E3207973}" srcOrd="3" destOrd="0" presId="urn:microsoft.com/office/officeart/2009/3/layout/FramedTextPicture"/>
    <dgm:cxn modelId="{C141AFC2-7080-4364-9367-47E4E37798B8}" type="presParOf" srcId="{7F2C9610-A9D6-4F22-89CB-067B28846A6A}" destId="{05EE0A2E-2C02-43E2-822F-0DF9E5BB76F2}" srcOrd="4" destOrd="0" presId="urn:microsoft.com/office/officeart/2009/3/layout/FramedTextPicture"/>
    <dgm:cxn modelId="{F6BB7E89-B0A1-4149-B00C-BBBBF8D77AE1}" type="presParOf" srcId="{7F2C9610-A9D6-4F22-89CB-067B28846A6A}" destId="{14270788-012B-4247-8CB9-7B0137476423}" srcOrd="5" destOrd="0" presId="urn:microsoft.com/office/officeart/2009/3/layout/FramedTextPicture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0993F5-B705-482B-BFDE-A0D801776397}">
      <dsp:nvSpPr>
        <dsp:cNvPr id="0" name=""/>
        <dsp:cNvSpPr/>
      </dsp:nvSpPr>
      <dsp:spPr>
        <a:xfrm>
          <a:off x="0" y="55222"/>
          <a:ext cx="3084530" cy="23607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0" r="-10000"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E6DA53-4683-43E0-9236-81DC09A1A2ED}">
      <dsp:nvSpPr>
        <dsp:cNvPr id="0" name=""/>
        <dsp:cNvSpPr/>
      </dsp:nvSpPr>
      <dsp:spPr>
        <a:xfrm>
          <a:off x="3205158" y="1640491"/>
          <a:ext cx="1771575" cy="134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 dirty="0"/>
            <a:t>Cliccando</a:t>
          </a:r>
          <a:r>
            <a:rPr lang="it-IT" sz="1800" b="1" kern="1200" baseline="0" dirty="0"/>
            <a:t> sul prototipo si accede alla schermata con un due opzioni</a:t>
          </a:r>
          <a:endParaRPr lang="it-IT" sz="1800" b="1" kern="1200" dirty="0"/>
        </a:p>
      </dsp:txBody>
      <dsp:txXfrm>
        <a:off x="3205158" y="1640491"/>
        <a:ext cx="1771575" cy="1340000"/>
      </dsp:txXfrm>
    </dsp:sp>
    <dsp:sp modelId="{3B0B8BE0-8FB6-4F01-ACF8-AD4E2B1E5385}">
      <dsp:nvSpPr>
        <dsp:cNvPr id="0" name=""/>
        <dsp:cNvSpPr/>
      </dsp:nvSpPr>
      <dsp:spPr>
        <a:xfrm>
          <a:off x="3138854" y="1558789"/>
          <a:ext cx="521005" cy="521140"/>
        </a:xfrm>
        <a:prstGeom prst="halfFrame">
          <a:avLst>
            <a:gd name="adj1" fmla="val 25770"/>
            <a:gd name="adj2" fmla="val 257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7AC870-121B-44EC-91C7-76F30E2B49D9}">
      <dsp:nvSpPr>
        <dsp:cNvPr id="0" name=""/>
        <dsp:cNvSpPr/>
      </dsp:nvSpPr>
      <dsp:spPr>
        <a:xfrm rot="5400000">
          <a:off x="4592570" y="1548314"/>
          <a:ext cx="521140" cy="521005"/>
        </a:xfrm>
        <a:prstGeom prst="halfFrame">
          <a:avLst>
            <a:gd name="adj1" fmla="val 25770"/>
            <a:gd name="adj2" fmla="val 257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FFA378-621E-435E-8DEC-F5834A2EF2BD}">
      <dsp:nvSpPr>
        <dsp:cNvPr id="0" name=""/>
        <dsp:cNvSpPr/>
      </dsp:nvSpPr>
      <dsp:spPr>
        <a:xfrm rot="16200000">
          <a:off x="3107536" y="2630244"/>
          <a:ext cx="521140" cy="521005"/>
        </a:xfrm>
        <a:prstGeom prst="halfFrame">
          <a:avLst>
            <a:gd name="adj1" fmla="val 25770"/>
            <a:gd name="adj2" fmla="val 257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39FB69-F528-42FD-BAB9-A708A10EC4E2}">
      <dsp:nvSpPr>
        <dsp:cNvPr id="0" name=""/>
        <dsp:cNvSpPr/>
      </dsp:nvSpPr>
      <dsp:spPr>
        <a:xfrm rot="10800000">
          <a:off x="4592637" y="2630177"/>
          <a:ext cx="521005" cy="521140"/>
        </a:xfrm>
        <a:prstGeom prst="halfFrame">
          <a:avLst>
            <a:gd name="adj1" fmla="val 25770"/>
            <a:gd name="adj2" fmla="val 257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5EB575-B63C-436F-AA22-FA535909E2CD}">
      <dsp:nvSpPr>
        <dsp:cNvPr id="0" name=""/>
        <dsp:cNvSpPr/>
      </dsp:nvSpPr>
      <dsp:spPr>
        <a:xfrm>
          <a:off x="0" y="29986"/>
          <a:ext cx="2585561" cy="25676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0" b="-40000"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98BA2E-20FF-4C32-B21F-9B2AD115B6C5}">
      <dsp:nvSpPr>
        <dsp:cNvPr id="0" name=""/>
        <dsp:cNvSpPr/>
      </dsp:nvSpPr>
      <dsp:spPr>
        <a:xfrm>
          <a:off x="2802023" y="843526"/>
          <a:ext cx="2806330" cy="1733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800" b="1" u="none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u="none" kern="1200" dirty="0"/>
            <a:t>Asportazione del legamento</a:t>
          </a:r>
        </a:p>
      </dsp:txBody>
      <dsp:txXfrm>
        <a:off x="2802023" y="843526"/>
        <a:ext cx="2806330" cy="1733420"/>
      </dsp:txXfrm>
    </dsp:sp>
    <dsp:sp modelId="{6CE2936F-F6FD-435E-86BC-76C11282B912}">
      <dsp:nvSpPr>
        <dsp:cNvPr id="0" name=""/>
        <dsp:cNvSpPr/>
      </dsp:nvSpPr>
      <dsp:spPr>
        <a:xfrm>
          <a:off x="2895650" y="986669"/>
          <a:ext cx="673971" cy="674145"/>
        </a:xfrm>
        <a:prstGeom prst="halfFrame">
          <a:avLst>
            <a:gd name="adj1" fmla="val 25770"/>
            <a:gd name="adj2" fmla="val 257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447E7E-AF64-402E-BA14-38D78056506B}">
      <dsp:nvSpPr>
        <dsp:cNvPr id="0" name=""/>
        <dsp:cNvSpPr/>
      </dsp:nvSpPr>
      <dsp:spPr>
        <a:xfrm rot="5400000">
          <a:off x="4501112" y="986750"/>
          <a:ext cx="674145" cy="673971"/>
        </a:xfrm>
        <a:prstGeom prst="halfFrame">
          <a:avLst>
            <a:gd name="adj1" fmla="val 25770"/>
            <a:gd name="adj2" fmla="val 257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E988E3-815B-4182-A0AB-EA41EF204F0B}">
      <dsp:nvSpPr>
        <dsp:cNvPr id="0" name=""/>
        <dsp:cNvSpPr/>
      </dsp:nvSpPr>
      <dsp:spPr>
        <a:xfrm rot="16200000">
          <a:off x="2895570" y="1962929"/>
          <a:ext cx="674145" cy="601512"/>
        </a:xfrm>
        <a:prstGeom prst="halfFrame">
          <a:avLst>
            <a:gd name="adj1" fmla="val 25770"/>
            <a:gd name="adj2" fmla="val 257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96249C-0C44-4B6F-8077-4AE21BB48CE7}">
      <dsp:nvSpPr>
        <dsp:cNvPr id="0" name=""/>
        <dsp:cNvSpPr/>
      </dsp:nvSpPr>
      <dsp:spPr>
        <a:xfrm rot="10800000">
          <a:off x="4524943" y="1931170"/>
          <a:ext cx="673971" cy="674145"/>
        </a:xfrm>
        <a:prstGeom prst="halfFrame">
          <a:avLst>
            <a:gd name="adj1" fmla="val 25770"/>
            <a:gd name="adj2" fmla="val 257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5EB575-B63C-436F-AA22-FA535909E2CD}">
      <dsp:nvSpPr>
        <dsp:cNvPr id="0" name=""/>
        <dsp:cNvSpPr/>
      </dsp:nvSpPr>
      <dsp:spPr>
        <a:xfrm>
          <a:off x="0" y="0"/>
          <a:ext cx="2580109" cy="26319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98BA2E-20FF-4C32-B21F-9B2AD115B6C5}">
      <dsp:nvSpPr>
        <dsp:cNvPr id="0" name=""/>
        <dsp:cNvSpPr/>
      </dsp:nvSpPr>
      <dsp:spPr>
        <a:xfrm>
          <a:off x="3174253" y="760092"/>
          <a:ext cx="2621232" cy="14568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u="none" kern="1200" dirty="0"/>
            <a:t>   Spostamento laterale della trachea per la rimozione del disco</a:t>
          </a:r>
        </a:p>
      </dsp:txBody>
      <dsp:txXfrm>
        <a:off x="3174253" y="760092"/>
        <a:ext cx="2621232" cy="1456868"/>
      </dsp:txXfrm>
    </dsp:sp>
    <dsp:sp modelId="{6CE2936F-F6FD-435E-86BC-76C11282B912}">
      <dsp:nvSpPr>
        <dsp:cNvPr id="0" name=""/>
        <dsp:cNvSpPr/>
      </dsp:nvSpPr>
      <dsp:spPr>
        <a:xfrm>
          <a:off x="2899553" y="569802"/>
          <a:ext cx="666170" cy="666343"/>
        </a:xfrm>
        <a:prstGeom prst="halfFrame">
          <a:avLst>
            <a:gd name="adj1" fmla="val 25770"/>
            <a:gd name="adj2" fmla="val 257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447E7E-AF64-402E-BA14-38D78056506B}">
      <dsp:nvSpPr>
        <dsp:cNvPr id="0" name=""/>
        <dsp:cNvSpPr/>
      </dsp:nvSpPr>
      <dsp:spPr>
        <a:xfrm rot="5400000">
          <a:off x="5129221" y="573546"/>
          <a:ext cx="666343" cy="666170"/>
        </a:xfrm>
        <a:prstGeom prst="halfFrame">
          <a:avLst>
            <a:gd name="adj1" fmla="val 25770"/>
            <a:gd name="adj2" fmla="val 257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E988E3-815B-4182-A0AB-EA41EF204F0B}">
      <dsp:nvSpPr>
        <dsp:cNvPr id="0" name=""/>
        <dsp:cNvSpPr/>
      </dsp:nvSpPr>
      <dsp:spPr>
        <a:xfrm rot="16200000">
          <a:off x="2898754" y="1712556"/>
          <a:ext cx="666343" cy="594550"/>
        </a:xfrm>
        <a:prstGeom prst="halfFrame">
          <a:avLst>
            <a:gd name="adj1" fmla="val 25770"/>
            <a:gd name="adj2" fmla="val 257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96249C-0C44-4B6F-8077-4AE21BB48CE7}">
      <dsp:nvSpPr>
        <dsp:cNvPr id="0" name=""/>
        <dsp:cNvSpPr/>
      </dsp:nvSpPr>
      <dsp:spPr>
        <a:xfrm rot="10800000">
          <a:off x="5109322" y="1633887"/>
          <a:ext cx="666170" cy="666343"/>
        </a:xfrm>
        <a:prstGeom prst="halfFrame">
          <a:avLst>
            <a:gd name="adj1" fmla="val 25770"/>
            <a:gd name="adj2" fmla="val 257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9A13B9-2655-4537-B9B7-ACF9AC8017A1}">
      <dsp:nvSpPr>
        <dsp:cNvPr id="0" name=""/>
        <dsp:cNvSpPr/>
      </dsp:nvSpPr>
      <dsp:spPr>
        <a:xfrm>
          <a:off x="0" y="3"/>
          <a:ext cx="3456464" cy="25242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E9480B-BD1A-4119-BCA3-A0C55D7DCF79}">
      <dsp:nvSpPr>
        <dsp:cNvPr id="0" name=""/>
        <dsp:cNvSpPr/>
      </dsp:nvSpPr>
      <dsp:spPr>
        <a:xfrm>
          <a:off x="3749484" y="938653"/>
          <a:ext cx="2747912" cy="1809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 dirty="0"/>
            <a:t>   Prendere la gabbia e posizionarla vicino allo spazio intervertebrale rimasto vuoto</a:t>
          </a:r>
          <a:endParaRPr lang="it-IT" sz="1800" kern="1200" dirty="0"/>
        </a:p>
      </dsp:txBody>
      <dsp:txXfrm>
        <a:off x="3749484" y="938653"/>
        <a:ext cx="2747912" cy="1809913"/>
      </dsp:txXfrm>
    </dsp:sp>
    <dsp:sp modelId="{1D49A733-D87F-4B12-9AC0-B79A7F151B36}">
      <dsp:nvSpPr>
        <dsp:cNvPr id="0" name=""/>
        <dsp:cNvSpPr/>
      </dsp:nvSpPr>
      <dsp:spPr>
        <a:xfrm>
          <a:off x="3576229" y="650111"/>
          <a:ext cx="703712" cy="703894"/>
        </a:xfrm>
        <a:prstGeom prst="halfFrame">
          <a:avLst>
            <a:gd name="adj1" fmla="val 25770"/>
            <a:gd name="adj2" fmla="val 257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231F0-E191-4FF9-8235-7551E3207973}">
      <dsp:nvSpPr>
        <dsp:cNvPr id="0" name=""/>
        <dsp:cNvSpPr/>
      </dsp:nvSpPr>
      <dsp:spPr>
        <a:xfrm rot="5400000">
          <a:off x="5817759" y="585394"/>
          <a:ext cx="703894" cy="703712"/>
        </a:xfrm>
        <a:prstGeom prst="halfFrame">
          <a:avLst>
            <a:gd name="adj1" fmla="val 25770"/>
            <a:gd name="adj2" fmla="val 257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EE0A2E-2C02-43E2-822F-0DF9E5BB76F2}">
      <dsp:nvSpPr>
        <dsp:cNvPr id="0" name=""/>
        <dsp:cNvSpPr/>
      </dsp:nvSpPr>
      <dsp:spPr>
        <a:xfrm rot="16200000">
          <a:off x="3538173" y="1907775"/>
          <a:ext cx="703894" cy="703712"/>
        </a:xfrm>
        <a:prstGeom prst="halfFrame">
          <a:avLst>
            <a:gd name="adj1" fmla="val 25770"/>
            <a:gd name="adj2" fmla="val 257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270788-012B-4247-8CB9-7B0137476423}">
      <dsp:nvSpPr>
        <dsp:cNvPr id="0" name=""/>
        <dsp:cNvSpPr/>
      </dsp:nvSpPr>
      <dsp:spPr>
        <a:xfrm rot="10800000">
          <a:off x="5817850" y="1847726"/>
          <a:ext cx="703712" cy="703894"/>
        </a:xfrm>
        <a:prstGeom prst="halfFrame">
          <a:avLst>
            <a:gd name="adj1" fmla="val 25770"/>
            <a:gd name="adj2" fmla="val 257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9A13B9-2655-4537-B9B7-ACF9AC8017A1}">
      <dsp:nvSpPr>
        <dsp:cNvPr id="0" name=""/>
        <dsp:cNvSpPr/>
      </dsp:nvSpPr>
      <dsp:spPr>
        <a:xfrm>
          <a:off x="0" y="3"/>
          <a:ext cx="3456464" cy="25242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E9480B-BD1A-4119-BCA3-A0C55D7DCF79}">
      <dsp:nvSpPr>
        <dsp:cNvPr id="0" name=""/>
        <dsp:cNvSpPr/>
      </dsp:nvSpPr>
      <dsp:spPr>
        <a:xfrm>
          <a:off x="3749484" y="933132"/>
          <a:ext cx="2747912" cy="1809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 dirty="0"/>
            <a:t>    Inserire i 3 innesti ossei corrispondenti ai 3 «</a:t>
          </a:r>
          <a:r>
            <a:rPr lang="it-IT" sz="1800" b="1" kern="1200" dirty="0" err="1"/>
            <a:t>holes</a:t>
          </a:r>
          <a:r>
            <a:rPr lang="it-IT" sz="1800" b="1" kern="1200" dirty="0"/>
            <a:t>»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 </a:t>
          </a:r>
        </a:p>
      </dsp:txBody>
      <dsp:txXfrm>
        <a:off x="3749484" y="933132"/>
        <a:ext cx="2747912" cy="1809913"/>
      </dsp:txXfrm>
    </dsp:sp>
    <dsp:sp modelId="{1D49A733-D87F-4B12-9AC0-B79A7F151B36}">
      <dsp:nvSpPr>
        <dsp:cNvPr id="0" name=""/>
        <dsp:cNvSpPr/>
      </dsp:nvSpPr>
      <dsp:spPr>
        <a:xfrm>
          <a:off x="3582710" y="581185"/>
          <a:ext cx="703712" cy="703894"/>
        </a:xfrm>
        <a:prstGeom prst="halfFrame">
          <a:avLst>
            <a:gd name="adj1" fmla="val 25770"/>
            <a:gd name="adj2" fmla="val 257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231F0-E191-4FF9-8235-7551E3207973}">
      <dsp:nvSpPr>
        <dsp:cNvPr id="0" name=""/>
        <dsp:cNvSpPr/>
      </dsp:nvSpPr>
      <dsp:spPr>
        <a:xfrm rot="5400000">
          <a:off x="5793601" y="581276"/>
          <a:ext cx="703894" cy="703712"/>
        </a:xfrm>
        <a:prstGeom prst="halfFrame">
          <a:avLst>
            <a:gd name="adj1" fmla="val 25770"/>
            <a:gd name="adj2" fmla="val 257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EE0A2E-2C02-43E2-822F-0DF9E5BB76F2}">
      <dsp:nvSpPr>
        <dsp:cNvPr id="0" name=""/>
        <dsp:cNvSpPr/>
      </dsp:nvSpPr>
      <dsp:spPr>
        <a:xfrm rot="16200000">
          <a:off x="3538173" y="1907775"/>
          <a:ext cx="703894" cy="703712"/>
        </a:xfrm>
        <a:prstGeom prst="halfFrame">
          <a:avLst>
            <a:gd name="adj1" fmla="val 25770"/>
            <a:gd name="adj2" fmla="val 257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270788-012B-4247-8CB9-7B0137476423}">
      <dsp:nvSpPr>
        <dsp:cNvPr id="0" name=""/>
        <dsp:cNvSpPr/>
      </dsp:nvSpPr>
      <dsp:spPr>
        <a:xfrm rot="10800000">
          <a:off x="5793692" y="1847726"/>
          <a:ext cx="703712" cy="703894"/>
        </a:xfrm>
        <a:prstGeom prst="halfFrame">
          <a:avLst>
            <a:gd name="adj1" fmla="val 25770"/>
            <a:gd name="adj2" fmla="val 257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FramedTextPicture">
  <dgm:title val=""/>
  <dgm:desc val=""/>
  <dgm:catLst>
    <dgm:cat type="picture" pri="20000"/>
    <dgm:cat type="pictureconvert" pri="20000"/>
  </dgm:catLst>
  <dgm:samp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grDir" val="tL"/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w" for="ch" forName="composite" refType="w"/>
      <dgm:constr type="h" for="ch" forName="composite" refType="h"/>
      <dgm:constr type="primFontSz" for="des" ptType="node" op="equ" val="65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/>
          <dgm:chPref/>
        </dgm:varLst>
        <dgm:alg type="composite">
          <dgm:param type="ar" val="1.5179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4017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.3535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8688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.3535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8688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if>
          <dgm:else name="Name6">
            <dgm:constrLst>
              <dgm:constr type="l" for="ch" forName="Image" refType="w" fact="0.6144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0482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5153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5153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else>
        </dgm:choos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tlFrame" styleLbl="node1">
          <dgm:alg type="sp"/>
          <dgm:shape xmlns:r="http://schemas.openxmlformats.org/officeDocument/2006/relationships" type="halfFrame" r:blip="">
            <dgm:adjLst>
              <dgm:adj idx="1" val="0.2577"/>
              <dgm:adj idx="2" val="0.2577"/>
            </dgm:adjLst>
          </dgm:shape>
          <dgm:presOf/>
        </dgm:layoutNode>
        <dgm:layoutNode name="trFrame" styleLbl="node1">
          <dgm:alg type="sp"/>
          <dgm:shape xmlns:r="http://schemas.openxmlformats.org/officeDocument/2006/relationships" rot="90" type="halfFrame" r:blip="">
            <dgm:adjLst>
              <dgm:adj idx="1" val="0.2577"/>
              <dgm:adj idx="2" val="0.2577"/>
            </dgm:adjLst>
          </dgm:shape>
          <dgm:presOf/>
        </dgm:layoutNode>
        <dgm:layoutNode name="blFrame" styleLbl="node1">
          <dgm:alg type="sp"/>
          <dgm:shape xmlns:r="http://schemas.openxmlformats.org/officeDocument/2006/relationships" rot="270" type="halfFrame" r:blip="">
            <dgm:adjLst>
              <dgm:adj idx="1" val="0.2577"/>
              <dgm:adj idx="2" val="0.2577"/>
            </dgm:adjLst>
          </dgm:shape>
          <dgm:presOf/>
        </dgm:layoutNode>
        <dgm:layoutNode name="brFrame" styleLbl="node1">
          <dgm:alg type="sp"/>
          <dgm:shape xmlns:r="http://schemas.openxmlformats.org/officeDocument/2006/relationships" rot="180" type="halfFrame" r:blip="">
            <dgm:adjLst>
              <dgm:adj idx="1" val="0.2577"/>
              <dgm:adj idx="2" val="0.2577"/>
            </dgm:adjLst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FramedTextPicture">
  <dgm:title val=""/>
  <dgm:desc val=""/>
  <dgm:catLst>
    <dgm:cat type="picture" pri="20000"/>
    <dgm:cat type="pictureconvert" pri="20000"/>
  </dgm:catLst>
  <dgm:samp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grDir" val="tL"/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w" for="ch" forName="composite" refType="w"/>
      <dgm:constr type="h" for="ch" forName="composite" refType="h"/>
      <dgm:constr type="primFontSz" for="des" ptType="node" op="equ" val="65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/>
          <dgm:chPref/>
        </dgm:varLst>
        <dgm:alg type="composite">
          <dgm:param type="ar" val="1.5179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4017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.3535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8688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.3535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8688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if>
          <dgm:else name="Name6">
            <dgm:constrLst>
              <dgm:constr type="l" for="ch" forName="Image" refType="w" fact="0.6144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0482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5153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5153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else>
        </dgm:choos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tlFrame" styleLbl="node1">
          <dgm:alg type="sp"/>
          <dgm:shape xmlns:r="http://schemas.openxmlformats.org/officeDocument/2006/relationships" type="halfFrame" r:blip="">
            <dgm:adjLst>
              <dgm:adj idx="1" val="0.2577"/>
              <dgm:adj idx="2" val="0.2577"/>
            </dgm:adjLst>
          </dgm:shape>
          <dgm:presOf/>
        </dgm:layoutNode>
        <dgm:layoutNode name="trFrame" styleLbl="node1">
          <dgm:alg type="sp"/>
          <dgm:shape xmlns:r="http://schemas.openxmlformats.org/officeDocument/2006/relationships" rot="90" type="halfFrame" r:blip="">
            <dgm:adjLst>
              <dgm:adj idx="1" val="0.2577"/>
              <dgm:adj idx="2" val="0.2577"/>
            </dgm:adjLst>
          </dgm:shape>
          <dgm:presOf/>
        </dgm:layoutNode>
        <dgm:layoutNode name="blFrame" styleLbl="node1">
          <dgm:alg type="sp"/>
          <dgm:shape xmlns:r="http://schemas.openxmlformats.org/officeDocument/2006/relationships" rot="270" type="halfFrame" r:blip="">
            <dgm:adjLst>
              <dgm:adj idx="1" val="0.2577"/>
              <dgm:adj idx="2" val="0.2577"/>
            </dgm:adjLst>
          </dgm:shape>
          <dgm:presOf/>
        </dgm:layoutNode>
        <dgm:layoutNode name="brFrame" styleLbl="node1">
          <dgm:alg type="sp"/>
          <dgm:shape xmlns:r="http://schemas.openxmlformats.org/officeDocument/2006/relationships" rot="180" type="halfFrame" r:blip="">
            <dgm:adjLst>
              <dgm:adj idx="1" val="0.2577"/>
              <dgm:adj idx="2" val="0.2577"/>
            </dgm:adjLst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FramedTextPicture">
  <dgm:title val=""/>
  <dgm:desc val=""/>
  <dgm:catLst>
    <dgm:cat type="picture" pri="20000"/>
    <dgm:cat type="pictureconvert" pri="20000"/>
  </dgm:catLst>
  <dgm:samp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grDir" val="tL"/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w" for="ch" forName="composite" refType="w"/>
      <dgm:constr type="h" for="ch" forName="composite" refType="h"/>
      <dgm:constr type="primFontSz" for="des" ptType="node" op="equ" val="65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/>
          <dgm:chPref/>
        </dgm:varLst>
        <dgm:alg type="composite">
          <dgm:param type="ar" val="1.5179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4017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.3535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8688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.3535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8688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if>
          <dgm:else name="Name6">
            <dgm:constrLst>
              <dgm:constr type="l" for="ch" forName="Image" refType="w" fact="0.6144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0482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5153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5153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else>
        </dgm:choos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tlFrame" styleLbl="node1">
          <dgm:alg type="sp"/>
          <dgm:shape xmlns:r="http://schemas.openxmlformats.org/officeDocument/2006/relationships" type="halfFrame" r:blip="">
            <dgm:adjLst>
              <dgm:adj idx="1" val="0.2577"/>
              <dgm:adj idx="2" val="0.2577"/>
            </dgm:adjLst>
          </dgm:shape>
          <dgm:presOf/>
        </dgm:layoutNode>
        <dgm:layoutNode name="trFrame" styleLbl="node1">
          <dgm:alg type="sp"/>
          <dgm:shape xmlns:r="http://schemas.openxmlformats.org/officeDocument/2006/relationships" rot="90" type="halfFrame" r:blip="">
            <dgm:adjLst>
              <dgm:adj idx="1" val="0.2577"/>
              <dgm:adj idx="2" val="0.2577"/>
            </dgm:adjLst>
          </dgm:shape>
          <dgm:presOf/>
        </dgm:layoutNode>
        <dgm:layoutNode name="blFrame" styleLbl="node1">
          <dgm:alg type="sp"/>
          <dgm:shape xmlns:r="http://schemas.openxmlformats.org/officeDocument/2006/relationships" rot="270" type="halfFrame" r:blip="">
            <dgm:adjLst>
              <dgm:adj idx="1" val="0.2577"/>
              <dgm:adj idx="2" val="0.2577"/>
            </dgm:adjLst>
          </dgm:shape>
          <dgm:presOf/>
        </dgm:layoutNode>
        <dgm:layoutNode name="brFrame" styleLbl="node1">
          <dgm:alg type="sp"/>
          <dgm:shape xmlns:r="http://schemas.openxmlformats.org/officeDocument/2006/relationships" rot="180" type="halfFrame" r:blip="">
            <dgm:adjLst>
              <dgm:adj idx="1" val="0.2577"/>
              <dgm:adj idx="2" val="0.2577"/>
            </dgm:adjLst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FramedTextPicture">
  <dgm:title val=""/>
  <dgm:desc val=""/>
  <dgm:catLst>
    <dgm:cat type="picture" pri="20000"/>
    <dgm:cat type="pictureconvert" pri="20000"/>
  </dgm:catLst>
  <dgm:samp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grDir" val="tL"/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w" for="ch" forName="composite" refType="w"/>
      <dgm:constr type="h" for="ch" forName="composite" refType="h"/>
      <dgm:constr type="primFontSz" for="des" ptType="node" op="equ" val="65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/>
          <dgm:chPref/>
        </dgm:varLst>
        <dgm:alg type="composite">
          <dgm:param type="ar" val="1.5179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4017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.3535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8688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.3535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8688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if>
          <dgm:else name="Name6">
            <dgm:constrLst>
              <dgm:constr type="l" for="ch" forName="Image" refType="w" fact="0.6144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0482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5153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5153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else>
        </dgm:choos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tlFrame" styleLbl="node1">
          <dgm:alg type="sp"/>
          <dgm:shape xmlns:r="http://schemas.openxmlformats.org/officeDocument/2006/relationships" type="halfFrame" r:blip="">
            <dgm:adjLst>
              <dgm:adj idx="1" val="0.2577"/>
              <dgm:adj idx="2" val="0.2577"/>
            </dgm:adjLst>
          </dgm:shape>
          <dgm:presOf/>
        </dgm:layoutNode>
        <dgm:layoutNode name="trFrame" styleLbl="node1">
          <dgm:alg type="sp"/>
          <dgm:shape xmlns:r="http://schemas.openxmlformats.org/officeDocument/2006/relationships" rot="90" type="halfFrame" r:blip="">
            <dgm:adjLst>
              <dgm:adj idx="1" val="0.2577"/>
              <dgm:adj idx="2" val="0.2577"/>
            </dgm:adjLst>
          </dgm:shape>
          <dgm:presOf/>
        </dgm:layoutNode>
        <dgm:layoutNode name="blFrame" styleLbl="node1">
          <dgm:alg type="sp"/>
          <dgm:shape xmlns:r="http://schemas.openxmlformats.org/officeDocument/2006/relationships" rot="270" type="halfFrame" r:blip="">
            <dgm:adjLst>
              <dgm:adj idx="1" val="0.2577"/>
              <dgm:adj idx="2" val="0.2577"/>
            </dgm:adjLst>
          </dgm:shape>
          <dgm:presOf/>
        </dgm:layoutNode>
        <dgm:layoutNode name="brFrame" styleLbl="node1">
          <dgm:alg type="sp"/>
          <dgm:shape xmlns:r="http://schemas.openxmlformats.org/officeDocument/2006/relationships" rot="180" type="halfFrame" r:blip="">
            <dgm:adjLst>
              <dgm:adj idx="1" val="0.2577"/>
              <dgm:adj idx="2" val="0.2577"/>
            </dgm:adjLst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FramedTextPicture">
  <dgm:title val=""/>
  <dgm:desc val=""/>
  <dgm:catLst>
    <dgm:cat type="picture" pri="20000"/>
    <dgm:cat type="pictureconvert" pri="20000"/>
  </dgm:catLst>
  <dgm:samp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grDir" val="tL"/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w" for="ch" forName="composite" refType="w"/>
      <dgm:constr type="h" for="ch" forName="composite" refType="h"/>
      <dgm:constr type="primFontSz" for="des" ptType="node" op="equ" val="65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/>
          <dgm:chPref/>
        </dgm:varLst>
        <dgm:alg type="composite">
          <dgm:param type="ar" val="1.5179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4017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.3535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8688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.3535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8688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if>
          <dgm:else name="Name6">
            <dgm:constrLst>
              <dgm:constr type="l" for="ch" forName="Image" refType="w" fact="0.6144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0482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5153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5153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else>
        </dgm:choos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tlFrame" styleLbl="node1">
          <dgm:alg type="sp"/>
          <dgm:shape xmlns:r="http://schemas.openxmlformats.org/officeDocument/2006/relationships" type="halfFrame" r:blip="">
            <dgm:adjLst>
              <dgm:adj idx="1" val="0.2577"/>
              <dgm:adj idx="2" val="0.2577"/>
            </dgm:adjLst>
          </dgm:shape>
          <dgm:presOf/>
        </dgm:layoutNode>
        <dgm:layoutNode name="trFrame" styleLbl="node1">
          <dgm:alg type="sp"/>
          <dgm:shape xmlns:r="http://schemas.openxmlformats.org/officeDocument/2006/relationships" rot="90" type="halfFrame" r:blip="">
            <dgm:adjLst>
              <dgm:adj idx="1" val="0.2577"/>
              <dgm:adj idx="2" val="0.2577"/>
            </dgm:adjLst>
          </dgm:shape>
          <dgm:presOf/>
        </dgm:layoutNode>
        <dgm:layoutNode name="blFrame" styleLbl="node1">
          <dgm:alg type="sp"/>
          <dgm:shape xmlns:r="http://schemas.openxmlformats.org/officeDocument/2006/relationships" rot="270" type="halfFrame" r:blip="">
            <dgm:adjLst>
              <dgm:adj idx="1" val="0.2577"/>
              <dgm:adj idx="2" val="0.2577"/>
            </dgm:adjLst>
          </dgm:shape>
          <dgm:presOf/>
        </dgm:layoutNode>
        <dgm:layoutNode name="brFrame" styleLbl="node1">
          <dgm:alg type="sp"/>
          <dgm:shape xmlns:r="http://schemas.openxmlformats.org/officeDocument/2006/relationships" rot="180" type="halfFrame" r:blip="">
            <dgm:adjLst>
              <dgm:adj idx="1" val="0.2577"/>
              <dgm:adj idx="2" val="0.2577"/>
            </dgm:adjLst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53585-C99B-4E73-8A8D-11B83B587ED7}" type="datetimeFigureOut">
              <a:rPr lang="it-IT" smtClean="0"/>
              <a:t>27/09/2025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8A6413-F47C-486C-ACDE-0F02AA9BC40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7921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FF1F3-7519-C67D-C767-ECFD620D8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15755EE-8312-85D6-95BD-81D7490CA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24F9F43-0545-C224-6593-BB8DC60C9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EA92E4F-2FCF-7A96-DD20-728C0A54DB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A6413-F47C-486C-ACDE-0F02AA9BC403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8298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D4A21-4390-4749-F29E-DF5E6C51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51AA89C-3A76-9D59-86BC-03DF80B51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FB4D022-4EEE-60D2-F3DE-FC020C413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BE2BE53-D04C-2872-5912-774851A77D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A6413-F47C-486C-ACDE-0F02AA9BC403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0372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EC562-2FE1-776E-4092-1E280C69C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811CC2C-891F-54BF-4C72-52097E970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6F1B194-94EC-DAF1-D5D6-B64E86A8E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C363330-1CE6-E9D6-8AA0-19F7B8D54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A6413-F47C-486C-ACDE-0F02AA9BC403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9886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26D12-9170-3A70-8ADA-E5D1B7EA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CA53F-9A40-5DED-AF25-24C98DE13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CE303-9EFF-9D0F-32C6-A711A1AB0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06508-F77F-11E8-9489-FB28690EFD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02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2D7BF9-295B-61F6-5BC7-0DAB5F516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FB44AF3-8836-6D32-55A7-4E0C71F31F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CB3D52B-9948-DB0F-4462-34374E76B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F27-69E3-4D74-B466-27DC19493DB0}" type="datetimeFigureOut">
              <a:rPr lang="it-IT" smtClean="0"/>
              <a:t>27/09/2025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2FA5537-DEC1-C620-8F7C-70783908D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B09D908-F427-E30F-9FC5-3B6DBD79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2EF6-877F-4027-89DF-8A79733BA5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5596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4218DD-41DA-9A68-0E99-1277571C8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4E693C5-84E2-8E15-8935-0D80AFBC7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A4038C-2B3E-867C-1A69-3BC7B3D53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F27-69E3-4D74-B466-27DC19493DB0}" type="datetimeFigureOut">
              <a:rPr lang="it-IT" smtClean="0"/>
              <a:t>27/09/2025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F0063FE-3E0B-4830-EAEC-B8BB3FCC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D590AA5-58F3-B3D1-489F-CF2D4084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2EF6-877F-4027-89DF-8A79733BA5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3747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D694A6-306A-64AB-2C9B-18EE9CE4E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09324B1-8C1B-E972-B745-22277CD03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3F574EA-7B81-56FB-8C58-A9EAC476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F27-69E3-4D74-B466-27DC19493DB0}" type="datetimeFigureOut">
              <a:rPr lang="it-IT" smtClean="0"/>
              <a:t>27/09/2025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BD82D8-D0E3-F6BD-A569-A36D23C0D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FD7B6B5-5C24-FC29-1E6C-BC07D763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2EF6-877F-4027-89DF-8A79733BA5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9732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86EA81-9C8D-D96A-E34F-E347DF152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A97195E-D5F6-4BBC-5F66-7EBC6DDE81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F18F013-6B85-9649-83C5-BDEB39F02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5600A0D-80F5-0A40-6A05-EE8A542F9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F27-69E3-4D74-B466-27DC19493DB0}" type="datetimeFigureOut">
              <a:rPr lang="it-IT" smtClean="0"/>
              <a:t>27/09/2025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3BF5FAA-57DC-6547-21EE-3FEB61750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05C5DA9-7453-441A-A9CE-E161CE9AA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2EF6-877F-4027-89DF-8A79733BA5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6102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C7668E-A09E-3801-B920-D1996BBE9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55B455C-EE6C-5780-88E3-D8F6BC6E8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95CA26D-EFFC-CFCE-641A-B7186F55C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C5B5D20-634F-8459-118E-82AC7888A3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3CAFFA5-97CD-7593-74F3-C094B23ED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D186D45-67D9-43F9-92B6-8D4225646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F27-69E3-4D74-B466-27DC19493DB0}" type="datetimeFigureOut">
              <a:rPr lang="it-IT" smtClean="0"/>
              <a:t>27/09/2025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6D29A7C-1095-3B26-F70C-EB049A14B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B76AE21-DEB4-76B1-F69B-916727B7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2EF6-877F-4027-89DF-8A79733BA5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101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ACF617-D342-5D2C-5000-89CC8E0E5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EF8C8AC-09FC-9AD8-CDCD-CAF8A196E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F27-69E3-4D74-B466-27DC19493DB0}" type="datetimeFigureOut">
              <a:rPr lang="it-IT" smtClean="0"/>
              <a:t>27/09/2025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AB3A645-90DC-8EE5-2BEE-89FCB711E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9211472-2891-A104-18BC-3777A4CD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2EF6-877F-4027-89DF-8A79733BA5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214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D46F77A-FD49-0EC1-1ABA-AF576FCDE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F27-69E3-4D74-B466-27DC19493DB0}" type="datetimeFigureOut">
              <a:rPr lang="it-IT" smtClean="0"/>
              <a:t>27/09/2025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0135825-305B-808B-812E-1B0114CF0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0969FD4-87FA-88C7-2635-A1240EBF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2EF6-877F-4027-89DF-8A79733BA5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5591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AC59B4-1409-0965-58C1-F02CD7B63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A9B79C-B545-0AF8-77CA-CDC691BE3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647D578-01D0-A192-E593-E6CD35A5C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844E0D3-D7FD-BA24-FE40-B08AB8D7E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F27-69E3-4D74-B466-27DC19493DB0}" type="datetimeFigureOut">
              <a:rPr lang="it-IT" smtClean="0"/>
              <a:t>27/09/2025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090E21-CE23-F19C-3659-6480D261F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5ED58F7-3467-4EE5-97BF-9F6B38E5A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2EF6-877F-4027-89DF-8A79733BA5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4879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D301A7-7AF1-8E41-3E1F-99A10DEA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8CAE3ED-3835-EF73-0F71-18A006C253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6497047-C9D8-F367-9FF9-55DFAB418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FFDAC0C-DE41-4D18-1C47-985242F07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F27-69E3-4D74-B466-27DC19493DB0}" type="datetimeFigureOut">
              <a:rPr lang="it-IT" smtClean="0"/>
              <a:t>27/09/2025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597A4B4-8426-EEEE-4F4B-F1959A7EB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919CE18-A0A5-46AB-1453-DC4F26EF9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2EF6-877F-4027-89DF-8A79733BA5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3056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D060CB-BC99-49E1-DF54-D1EFC1F03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A5B38B3-78AC-91C7-4F5A-0C6714B33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B2CD1C-8A3A-8BC1-11A2-260EBC114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F27-69E3-4D74-B466-27DC19493DB0}" type="datetimeFigureOut">
              <a:rPr lang="it-IT" smtClean="0"/>
              <a:t>27/09/2025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10E9D5A-9C07-7723-4BA6-8DD7D9293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62D9A80-454D-D169-A1A6-3EF3F6C44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2EF6-877F-4027-89DF-8A79733BA5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2495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2CCC249-98AA-B018-F82B-DBA6E490D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23EBAA0-0653-1D13-7D5B-B8DCF1241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B2DCA87-F283-CAE2-C014-90A2F0CB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F27-69E3-4D74-B466-27DC19493DB0}" type="datetimeFigureOut">
              <a:rPr lang="it-IT" smtClean="0"/>
              <a:t>27/09/2025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91CE7D-80DA-BB08-F340-04EA5C360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B6562C0-5C73-DDCC-A75D-AEE34E386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B2EF6-877F-4027-89DF-8A79733BA5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7469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702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5212F79-57EA-393C-5D09-149B0569F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B467716-0CCE-0836-55B1-A17AB0C74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6C79F3-AAAD-7B53-8793-BD2CF9021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72DF27-69E3-4D74-B466-27DC19493DB0}" type="datetimeFigureOut">
              <a:rPr lang="it-IT" smtClean="0"/>
              <a:t>27/09/2025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EEC24C3-4F74-F3A2-81BF-046359FEE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2028A83-261B-7E4D-4CE4-4C1FAFA56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BB2EF6-877F-4027-89DF-8A79733BA5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7280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hyperlink" Target="https://physiopretoria.co.za/pain/neck/neck-disc-injury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0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9.png"/><Relationship Id="rId5" Type="http://schemas.openxmlformats.org/officeDocument/2006/relationships/hyperlink" Target="https://www.progettosaluteglobale.com/dettaglio-articolo.asp?IDarticolo=22&amp;cat=7" TargetMode="External"/><Relationship Id="rId4" Type="http://schemas.openxmlformats.org/officeDocument/2006/relationships/notesSlide" Target="../notesSlides/notesSlide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hyperlink" Target="https://it.pinterest.com/pin/15199717490939264/" TargetMode="Externa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9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image" Target="../media/image18.png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image" Target="../media/image3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image" Target="../media/image19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microsoft.com/office/2007/relationships/diagramDrawing" Target="../diagrams/drawing5.xml"/><Relationship Id="rId3" Type="http://schemas.openxmlformats.org/officeDocument/2006/relationships/diagramLayout" Target="../diagrams/layout4.xml"/><Relationship Id="rId7" Type="http://schemas.openxmlformats.org/officeDocument/2006/relationships/image" Target="../media/image18.png"/><Relationship Id="rId12" Type="http://schemas.openxmlformats.org/officeDocument/2006/relationships/diagramColors" Target="../diagrams/colors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11" Type="http://schemas.openxmlformats.org/officeDocument/2006/relationships/diagramQuickStyle" Target="../diagrams/quickStyle5.xml"/><Relationship Id="rId5" Type="http://schemas.openxmlformats.org/officeDocument/2006/relationships/diagramColors" Target="../diagrams/colors4.xml"/><Relationship Id="rId10" Type="http://schemas.openxmlformats.org/officeDocument/2006/relationships/diagramLayout" Target="../diagrams/layout5.xml"/><Relationship Id="rId4" Type="http://schemas.openxmlformats.org/officeDocument/2006/relationships/diagramQuickStyle" Target="../diagrams/quickStyle4.xml"/><Relationship Id="rId9" Type="http://schemas.openxmlformats.org/officeDocument/2006/relationships/diagramData" Target="../diagrams/data5.xml"/><Relationship Id="rId1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cbi.nlm.nih.gov/books/NBK546618/?utm_source=chatgpt.com" TargetMode="External"/><Relationship Id="rId3" Type="http://schemas.openxmlformats.org/officeDocument/2006/relationships/image" Target="../media/image3.jpeg"/><Relationship Id="rId7" Type="http://schemas.openxmlformats.org/officeDocument/2006/relationships/hyperlink" Target="https://it.pinterest.com/pin/15199717490939264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it.pinterest.com/pin/15833036183651969/" TargetMode="External"/><Relationship Id="rId11" Type="http://schemas.openxmlformats.org/officeDocument/2006/relationships/hyperlink" Target="https://www.ejmanager.com/mnstemps/10/10-1619802433.pdf" TargetMode="External"/><Relationship Id="rId5" Type="http://schemas.openxmlformats.org/officeDocument/2006/relationships/hyperlink" Target="https://www.progettosaluteglobale.com/dettaglio-articolo.asp?IDarticolo=22&amp;cat=7" TargetMode="External"/><Relationship Id="rId10" Type="http://schemas.openxmlformats.org/officeDocument/2006/relationships/hyperlink" Target="https://www.sciencedirect.com/science/article/abs/pii/S1040738315001306?utm_source=chatgpt.com" TargetMode="External"/><Relationship Id="rId4" Type="http://schemas.openxmlformats.org/officeDocument/2006/relationships/hyperlink" Target="https://physiopretoria.co.za/pain/neck/neck-disc-injury" TargetMode="External"/><Relationship Id="rId9" Type="http://schemas.openxmlformats.org/officeDocument/2006/relationships/hyperlink" Target="https://emedicine.medscape.com/article/305720-overview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tangolo 16">
            <a:extLst>
              <a:ext uri="{FF2B5EF4-FFF2-40B4-BE49-F238E27FC236}">
                <a16:creationId xmlns:a16="http://schemas.microsoft.com/office/drawing/2014/main" id="{348C201E-B52B-3B3B-E391-91DBB2B9BA8C}"/>
              </a:ext>
            </a:extLst>
          </p:cNvPr>
          <p:cNvSpPr/>
          <p:nvPr/>
        </p:nvSpPr>
        <p:spPr>
          <a:xfrm>
            <a:off x="0" y="0"/>
            <a:ext cx="12192000" cy="5781040"/>
          </a:xfrm>
          <a:prstGeom prst="rect">
            <a:avLst/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841310"/>
            <a:ext cx="4667250" cy="418789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6553200" y="609600"/>
            <a:ext cx="5334000" cy="178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158" b="1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Progetto AI.2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err="1">
                <a:solidFill>
                  <a:srgbClr val="FFFFFF"/>
                </a:solidFill>
                <a:ea typeface="ui-sans-serif" pitchFamily="34" charset="-122"/>
              </a:rPr>
              <a:t>Interazione</a:t>
            </a:r>
            <a:r>
              <a:rPr lang="en-US" sz="2400" b="1" dirty="0">
                <a:solidFill>
                  <a:srgbClr val="FFFFFF"/>
                </a:solidFill>
                <a:ea typeface="ui-sans-serif" pitchFamily="34" charset="-122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a typeface="ui-sans-serif" pitchFamily="34" charset="-122"/>
              </a:rPr>
              <a:t>virtuale</a:t>
            </a:r>
            <a:r>
              <a:rPr lang="en-US" sz="2400" b="1" dirty="0">
                <a:solidFill>
                  <a:srgbClr val="FFFFFF"/>
                </a:solidFill>
                <a:ea typeface="ui-sans-serif" pitchFamily="34" charset="-122"/>
              </a:rPr>
              <a:t> con un phantom </a:t>
            </a:r>
            <a:r>
              <a:rPr lang="en-US" sz="2400" b="1" dirty="0" err="1">
                <a:solidFill>
                  <a:srgbClr val="FFFFFF"/>
                </a:solidFill>
                <a:ea typeface="ui-sans-serif" pitchFamily="34" charset="-122"/>
              </a:rPr>
              <a:t>digitale</a:t>
            </a:r>
            <a:r>
              <a:rPr lang="en-US" sz="2400" b="1" dirty="0">
                <a:solidFill>
                  <a:srgbClr val="FFFFFF"/>
                </a:solidFill>
                <a:ea typeface="ui-sans-serif" pitchFamily="34" charset="-122"/>
              </a:rPr>
              <a:t> per la </a:t>
            </a:r>
            <a:r>
              <a:rPr lang="en-US" sz="2400" b="1" dirty="0" err="1">
                <a:solidFill>
                  <a:srgbClr val="FFFFFF"/>
                </a:solidFill>
                <a:ea typeface="ui-sans-serif" pitchFamily="34" charset="-122"/>
              </a:rPr>
              <a:t>formazione</a:t>
            </a:r>
            <a:r>
              <a:rPr lang="en-US" sz="2400" b="1" dirty="0">
                <a:solidFill>
                  <a:srgbClr val="FFFFFF"/>
                </a:solidFill>
                <a:ea typeface="ui-sans-serif" pitchFamily="34" charset="-122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a typeface="ui-sans-serif" pitchFamily="34" charset="-122"/>
              </a:rPr>
              <a:t>chirurgica</a:t>
            </a:r>
            <a:endParaRPr lang="en-US" sz="2400" dirty="0"/>
          </a:p>
        </p:txBody>
      </p:sp>
      <p:sp>
        <p:nvSpPr>
          <p:cNvPr id="13" name="Text 1"/>
          <p:cNvSpPr/>
          <p:nvPr/>
        </p:nvSpPr>
        <p:spPr>
          <a:xfrm>
            <a:off x="6553200" y="3445308"/>
            <a:ext cx="5181600" cy="121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dirty="0">
                <a:solidFill>
                  <a:srgbClr val="DBEAFE"/>
                </a:solidFill>
                <a:ea typeface="ui-sans-serif" pitchFamily="34" charset="-122"/>
                <a:cs typeface="ui-sans-serif" pitchFamily="34" charset="-120"/>
              </a:rPr>
              <a:t>Emilio Leo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646" dirty="0">
                <a:solidFill>
                  <a:srgbClr val="DBEAFE"/>
                </a:solidFill>
                <a:ea typeface="ui-sans-serif" pitchFamily="34" charset="-122"/>
              </a:rPr>
              <a:t>Veronica Mercurio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646" dirty="0">
                <a:solidFill>
                  <a:srgbClr val="DBEAFE"/>
                </a:solidFill>
                <a:ea typeface="ui-sans-serif" pitchFamily="34" charset="-122"/>
              </a:rPr>
              <a:t>Simona Pia </a:t>
            </a:r>
            <a:r>
              <a:rPr lang="en-US" sz="1646" dirty="0" err="1">
                <a:solidFill>
                  <a:srgbClr val="DBEAFE"/>
                </a:solidFill>
                <a:ea typeface="ui-sans-serif" pitchFamily="34" charset="-122"/>
              </a:rPr>
              <a:t>Vestita</a:t>
            </a:r>
            <a:endParaRPr lang="en-US" sz="1646" dirty="0">
              <a:solidFill>
                <a:srgbClr val="DBEAFE"/>
              </a:solidFill>
              <a:ea typeface="ui-sans-serif" pitchFamily="34" charset="-122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646" dirty="0">
                <a:solidFill>
                  <a:srgbClr val="DBEAFE"/>
                </a:solidFill>
                <a:ea typeface="ui-sans-serif" pitchFamily="34" charset="-122"/>
              </a:rPr>
              <a:t>Marta Palazzoli</a:t>
            </a:r>
            <a:endParaRPr lang="en-US" sz="1646" dirty="0"/>
          </a:p>
        </p:txBody>
      </p:sp>
      <p:pic>
        <p:nvPicPr>
          <p:cNvPr id="23" name="Immagine 22">
            <a:hlinkClick r:id="rId4"/>
            <a:extLst>
              <a:ext uri="{FF2B5EF4-FFF2-40B4-BE49-F238E27FC236}">
                <a16:creationId xmlns:a16="http://schemas.microsoft.com/office/drawing/2014/main" id="{C375FF46-BA12-6408-F494-E7A16BC0C7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523" y="475912"/>
            <a:ext cx="3600953" cy="4839375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7E856DAB-074E-AA80-99E4-CDDCDBC39C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42" r="11946" b="16787"/>
          <a:stretch>
            <a:fillRect/>
          </a:stretch>
        </p:blipFill>
        <p:spPr bwMode="auto">
          <a:xfrm>
            <a:off x="368292" y="5870510"/>
            <a:ext cx="1758462" cy="974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FE40A83-2CDC-EA91-467D-C6EB24EE337C}"/>
              </a:ext>
            </a:extLst>
          </p:cNvPr>
          <p:cNvSpPr/>
          <p:nvPr/>
        </p:nvSpPr>
        <p:spPr>
          <a:xfrm>
            <a:off x="6553200" y="3081279"/>
            <a:ext cx="1354539" cy="68321"/>
          </a:xfrm>
          <a:prstGeom prst="rect">
            <a:avLst/>
          </a:prstGeom>
          <a:solidFill>
            <a:srgbClr val="1540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5D802079-DCFE-8D73-795D-103D1FB855B6}"/>
              </a:ext>
            </a:extLst>
          </p:cNvPr>
          <p:cNvSpPr/>
          <p:nvPr/>
        </p:nvSpPr>
        <p:spPr>
          <a:xfrm>
            <a:off x="5830252" y="5915168"/>
            <a:ext cx="6627496" cy="66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0B3041"/>
                </a:solidFill>
                <a:ea typeface="ui-sans-serif" pitchFamily="34" charset="-122"/>
                <a:cs typeface="ui-sans-serif" pitchFamily="34" charset="-120"/>
              </a:rPr>
              <a:t>Medical Robotics A.A. 2024/2025</a:t>
            </a:r>
            <a:endParaRPr lang="en-US" sz="2800" dirty="0">
              <a:solidFill>
                <a:srgbClr val="0B304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3654E5A7-F740-36CC-0D49-53E000A00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61" y="2520341"/>
            <a:ext cx="544250" cy="571500"/>
          </a:xfrm>
          <a:prstGeom prst="rect">
            <a:avLst/>
          </a:prstGeom>
        </p:spPr>
      </p:pic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70846FBA-C12F-3ABD-8F37-9B7736A64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22" y="5594781"/>
            <a:ext cx="544250" cy="571500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A277303-EC1D-CEA4-5944-007B0540727D}"/>
              </a:ext>
            </a:extLst>
          </p:cNvPr>
          <p:cNvSpPr txBox="1"/>
          <p:nvPr/>
        </p:nvSpPr>
        <p:spPr>
          <a:xfrm>
            <a:off x="481263" y="1572126"/>
            <a:ext cx="11229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154065"/>
                </a:solidFill>
              </a:rPr>
              <a:t>Simulazione del trattamento dell’ernia cervicale attraverso il software </a:t>
            </a:r>
            <a:r>
              <a:rPr lang="it-IT" sz="2400" b="1" dirty="0" err="1">
                <a:solidFill>
                  <a:srgbClr val="154065"/>
                </a:solidFill>
              </a:rPr>
              <a:t>Unity</a:t>
            </a:r>
            <a:endParaRPr lang="it-IT" sz="2400" b="1" dirty="0">
              <a:solidFill>
                <a:srgbClr val="154065"/>
              </a:solidFill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64DD3A6-309B-4D3A-28EF-3B9B14C9408B}"/>
              </a:ext>
            </a:extLst>
          </p:cNvPr>
          <p:cNvSpPr txBox="1"/>
          <p:nvPr/>
        </p:nvSpPr>
        <p:spPr>
          <a:xfrm>
            <a:off x="1500608" y="2386717"/>
            <a:ext cx="986843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B3041"/>
              </a:buClr>
            </a:pPr>
            <a:r>
              <a:rPr lang="it-IT" sz="2400" dirty="0"/>
              <a:t>Realizzazione di una simulazione interattiva in </a:t>
            </a:r>
            <a:r>
              <a:rPr lang="it-IT" sz="2400" dirty="0" err="1"/>
              <a:t>Unity</a:t>
            </a:r>
            <a:r>
              <a:rPr lang="it-IT" sz="2400" dirty="0"/>
              <a:t> per rappresentare il trattamento chirurgico dell’ernia cervicale</a:t>
            </a:r>
          </a:p>
          <a:p>
            <a:pPr>
              <a:buClr>
                <a:srgbClr val="0B3041"/>
              </a:buClr>
            </a:pPr>
            <a:endParaRPr lang="it-IT" sz="2400" dirty="0"/>
          </a:p>
          <a:p>
            <a:pPr>
              <a:buClr>
                <a:srgbClr val="0B3041"/>
              </a:buClr>
            </a:pPr>
            <a:r>
              <a:rPr lang="it-IT" sz="2400" dirty="0"/>
              <a:t>Utilizzo di un </a:t>
            </a:r>
            <a:r>
              <a:rPr lang="it-IT" sz="2400" dirty="0" err="1"/>
              <a:t>phantom</a:t>
            </a:r>
            <a:r>
              <a:rPr lang="it-IT" sz="2400" dirty="0"/>
              <a:t> anatomico 3D che riproduce fedelmente le strutture del collo (ossa, dischi, nervi, vasi, muscoli)</a:t>
            </a:r>
          </a:p>
          <a:p>
            <a:pPr>
              <a:buClr>
                <a:srgbClr val="0B3041"/>
              </a:buClr>
            </a:pPr>
            <a:endParaRPr lang="it-IT" sz="2400" dirty="0"/>
          </a:p>
          <a:p>
            <a:pPr>
              <a:buClr>
                <a:srgbClr val="0B3041"/>
              </a:buClr>
            </a:pPr>
            <a:r>
              <a:rPr lang="it-IT" sz="2400" dirty="0"/>
              <a:t>Integrazione con interfaccia aptica per fornire feedback tattile durante le manovre chirurgiche</a:t>
            </a:r>
          </a:p>
          <a:p>
            <a:pPr>
              <a:buClr>
                <a:srgbClr val="0B3041"/>
              </a:buClr>
            </a:pPr>
            <a:endParaRPr lang="it-IT" sz="2400" dirty="0"/>
          </a:p>
          <a:p>
            <a:pPr>
              <a:buClr>
                <a:srgbClr val="0B3041"/>
              </a:buClr>
            </a:pPr>
            <a:r>
              <a:rPr lang="it-IT" sz="2400" dirty="0"/>
              <a:t>Uso del visore Meta per un’esperienza immersiva in realtà virtuale</a:t>
            </a:r>
          </a:p>
        </p:txBody>
      </p:sp>
      <p:sp>
        <p:nvSpPr>
          <p:cNvPr id="19" name="Rettangolo con un angolo arrotondato 18">
            <a:extLst>
              <a:ext uri="{FF2B5EF4-FFF2-40B4-BE49-F238E27FC236}">
                <a16:creationId xmlns:a16="http://schemas.microsoft.com/office/drawing/2014/main" id="{8A2B49A0-0023-720C-9D05-1EDFB1077EF9}"/>
              </a:ext>
            </a:extLst>
          </p:cNvPr>
          <p:cNvSpPr/>
          <p:nvPr/>
        </p:nvSpPr>
        <p:spPr>
          <a:xfrm flipV="1">
            <a:off x="481263" y="358140"/>
            <a:ext cx="4974657" cy="861060"/>
          </a:xfrm>
          <a:prstGeom prst="round1Rect">
            <a:avLst>
              <a:gd name="adj" fmla="val 50000"/>
            </a:avLst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b="1" dirty="0">
              <a:solidFill>
                <a:srgbClr val="FFFFFF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6EF8464-4B40-5575-088F-AA37FEB5BBB8}"/>
              </a:ext>
            </a:extLst>
          </p:cNvPr>
          <p:cNvSpPr txBox="1"/>
          <p:nvPr/>
        </p:nvSpPr>
        <p:spPr>
          <a:xfrm>
            <a:off x="1219801" y="387887"/>
            <a:ext cx="349758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 err="1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Scopo</a:t>
            </a:r>
            <a:r>
              <a:rPr lang="en-US" sz="2800" b="1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 del </a:t>
            </a:r>
            <a:r>
              <a:rPr lang="en-US" sz="2800" b="1" dirty="0" err="1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progetto</a:t>
            </a:r>
            <a:endParaRPr lang="en-US" sz="2800" b="1" dirty="0">
              <a:solidFill>
                <a:srgbClr val="FFFFFF"/>
              </a:solidFill>
              <a:ea typeface="ui-sans-serif" pitchFamily="34" charset="-122"/>
              <a:cs typeface="ui-sans-serif" pitchFamily="34" charset="-120"/>
            </a:endParaRPr>
          </a:p>
        </p:txBody>
      </p:sp>
      <p:pic>
        <p:nvPicPr>
          <p:cNvPr id="22" name="Image 6" descr="preencoded.png">
            <a:extLst>
              <a:ext uri="{FF2B5EF4-FFF2-40B4-BE49-F238E27FC236}">
                <a16:creationId xmlns:a16="http://schemas.microsoft.com/office/drawing/2014/main" id="{17DEE7CB-F692-69F5-3E42-B7857953EF0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1590" y="5734605"/>
            <a:ext cx="319035" cy="317376"/>
          </a:xfrm>
          <a:prstGeom prst="rect">
            <a:avLst/>
          </a:prstGeom>
        </p:spPr>
      </p:pic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67145DB2-5479-0387-A163-673FDF5DE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22" y="4618962"/>
            <a:ext cx="544250" cy="571500"/>
          </a:xfrm>
          <a:prstGeom prst="rect">
            <a:avLst/>
          </a:prstGeom>
        </p:spPr>
      </p:pic>
      <p:pic>
        <p:nvPicPr>
          <p:cNvPr id="24" name="Image 4" descr="preencoded.png">
            <a:extLst>
              <a:ext uri="{FF2B5EF4-FFF2-40B4-BE49-F238E27FC236}">
                <a16:creationId xmlns:a16="http://schemas.microsoft.com/office/drawing/2014/main" id="{5FA1E725-8D82-179F-CE1B-4EC5ED3347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13905" y="4752312"/>
            <a:ext cx="223481" cy="304800"/>
          </a:xfrm>
          <a:prstGeom prst="rect">
            <a:avLst/>
          </a:prstGeom>
        </p:spPr>
      </p:pic>
      <p:pic>
        <p:nvPicPr>
          <p:cNvPr id="25" name="Image 17" descr="preencoded.png">
            <a:extLst>
              <a:ext uri="{FF2B5EF4-FFF2-40B4-BE49-F238E27FC236}">
                <a16:creationId xmlns:a16="http://schemas.microsoft.com/office/drawing/2014/main" id="{13513519-F453-FF1E-5EF3-5D96ED22770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0469" y="2653691"/>
            <a:ext cx="272125" cy="304800"/>
          </a:xfrm>
          <a:prstGeom prst="rect">
            <a:avLst/>
          </a:prstGeom>
        </p:spPr>
      </p:pic>
      <p:pic>
        <p:nvPicPr>
          <p:cNvPr id="28" name="Image 3" descr="preencoded.png">
            <a:extLst>
              <a:ext uri="{FF2B5EF4-FFF2-40B4-BE49-F238E27FC236}">
                <a16:creationId xmlns:a16="http://schemas.microsoft.com/office/drawing/2014/main" id="{7C506214-9A00-17CA-330E-B71626573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35" y="3569651"/>
            <a:ext cx="544250" cy="571500"/>
          </a:xfrm>
          <a:prstGeom prst="rect">
            <a:avLst/>
          </a:prstGeom>
        </p:spPr>
      </p:pic>
      <p:pic>
        <p:nvPicPr>
          <p:cNvPr id="35" name="Image 12" descr="preencoded.png">
            <a:extLst>
              <a:ext uri="{FF2B5EF4-FFF2-40B4-BE49-F238E27FC236}">
                <a16:creationId xmlns:a16="http://schemas.microsoft.com/office/drawing/2014/main" id="{B42F2007-A9FB-37FE-863E-EEF681AC301A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13905" y="3706492"/>
            <a:ext cx="24491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689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192FE-D739-2694-7331-513BA5ABD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tangolo con un angolo arrotondato 18">
            <a:extLst>
              <a:ext uri="{FF2B5EF4-FFF2-40B4-BE49-F238E27FC236}">
                <a16:creationId xmlns:a16="http://schemas.microsoft.com/office/drawing/2014/main" id="{24EFCBB6-84DA-1F1E-8CE1-000463380011}"/>
              </a:ext>
            </a:extLst>
          </p:cNvPr>
          <p:cNvSpPr/>
          <p:nvPr/>
        </p:nvSpPr>
        <p:spPr>
          <a:xfrm flipV="1">
            <a:off x="481263" y="358140"/>
            <a:ext cx="4974657" cy="861060"/>
          </a:xfrm>
          <a:prstGeom prst="round1Rect">
            <a:avLst>
              <a:gd name="adj" fmla="val 50000"/>
            </a:avLst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b="1" dirty="0">
              <a:solidFill>
                <a:srgbClr val="FFFFFF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6FA3321-007F-BFDB-FA0A-CC7FCB0BC17F}"/>
              </a:ext>
            </a:extLst>
          </p:cNvPr>
          <p:cNvSpPr txBox="1"/>
          <p:nvPr/>
        </p:nvSpPr>
        <p:spPr>
          <a:xfrm>
            <a:off x="1219801" y="387887"/>
            <a:ext cx="349758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 err="1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Obiettivi</a:t>
            </a:r>
            <a:endParaRPr lang="en-US" sz="2800" b="1" dirty="0">
              <a:solidFill>
                <a:srgbClr val="FFFFFF"/>
              </a:solidFill>
              <a:ea typeface="ui-sans-serif" pitchFamily="34" charset="-122"/>
              <a:cs typeface="ui-sans-serif" pitchFamily="34" charset="-120"/>
            </a:endParaRPr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61427ADE-DECD-CEE7-8F90-3DF47A1E089F}"/>
              </a:ext>
            </a:extLst>
          </p:cNvPr>
          <p:cNvGrpSpPr/>
          <p:nvPr/>
        </p:nvGrpSpPr>
        <p:grpSpPr>
          <a:xfrm>
            <a:off x="2117256" y="1773706"/>
            <a:ext cx="1188720" cy="1158241"/>
            <a:chOff x="1747520" y="2599266"/>
            <a:chExt cx="1188720" cy="1158241"/>
          </a:xfrm>
          <a:solidFill>
            <a:srgbClr val="0B3041"/>
          </a:solidFill>
        </p:grpSpPr>
        <p:sp>
          <p:nvSpPr>
            <p:cNvPr id="18" name="Ovale 17">
              <a:extLst>
                <a:ext uri="{FF2B5EF4-FFF2-40B4-BE49-F238E27FC236}">
                  <a16:creationId xmlns:a16="http://schemas.microsoft.com/office/drawing/2014/main" id="{22D4E4F7-4B76-E591-4FEE-3BCC615DB75B}"/>
                </a:ext>
              </a:extLst>
            </p:cNvPr>
            <p:cNvSpPr/>
            <p:nvPr/>
          </p:nvSpPr>
          <p:spPr>
            <a:xfrm>
              <a:off x="1747520" y="2599266"/>
              <a:ext cx="1188720" cy="11582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AB2A08DE-076C-EAAF-DD88-7C44DC2F5795}"/>
                </a:ext>
              </a:extLst>
            </p:cNvPr>
            <p:cNvSpPr txBox="1"/>
            <p:nvPr/>
          </p:nvSpPr>
          <p:spPr>
            <a:xfrm>
              <a:off x="2135402" y="2885998"/>
              <a:ext cx="412955" cy="584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it-IT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2E70243B-1D2D-AE4D-A758-77A262DCAB41}"/>
              </a:ext>
            </a:extLst>
          </p:cNvPr>
          <p:cNvGrpSpPr/>
          <p:nvPr/>
        </p:nvGrpSpPr>
        <p:grpSpPr>
          <a:xfrm>
            <a:off x="2117256" y="3486453"/>
            <a:ext cx="1188720" cy="1158241"/>
            <a:chOff x="1747520" y="2599266"/>
            <a:chExt cx="1188720" cy="1158241"/>
          </a:xfrm>
          <a:solidFill>
            <a:srgbClr val="0B3041"/>
          </a:solidFill>
        </p:grpSpPr>
        <p:sp>
          <p:nvSpPr>
            <p:cNvPr id="30" name="Ovale 29">
              <a:extLst>
                <a:ext uri="{FF2B5EF4-FFF2-40B4-BE49-F238E27FC236}">
                  <a16:creationId xmlns:a16="http://schemas.microsoft.com/office/drawing/2014/main" id="{9B73B83A-CA74-A359-A2AA-DD7C07414D78}"/>
                </a:ext>
              </a:extLst>
            </p:cNvPr>
            <p:cNvSpPr/>
            <p:nvPr/>
          </p:nvSpPr>
          <p:spPr>
            <a:xfrm>
              <a:off x="1747520" y="2599266"/>
              <a:ext cx="1188720" cy="11582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1" name="CasellaDiTesto 30">
              <a:extLst>
                <a:ext uri="{FF2B5EF4-FFF2-40B4-BE49-F238E27FC236}">
                  <a16:creationId xmlns:a16="http://schemas.microsoft.com/office/drawing/2014/main" id="{9882D2A9-12BC-26D7-C167-F2BC95F0D406}"/>
                </a:ext>
              </a:extLst>
            </p:cNvPr>
            <p:cNvSpPr txBox="1"/>
            <p:nvPr/>
          </p:nvSpPr>
          <p:spPr>
            <a:xfrm>
              <a:off x="2135402" y="2885998"/>
              <a:ext cx="412955" cy="584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it-IT" sz="32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CC9984A7-CF83-4C0F-6E88-C586DAB0529E}"/>
              </a:ext>
            </a:extLst>
          </p:cNvPr>
          <p:cNvGrpSpPr/>
          <p:nvPr/>
        </p:nvGrpSpPr>
        <p:grpSpPr>
          <a:xfrm>
            <a:off x="2117256" y="5210574"/>
            <a:ext cx="1188720" cy="1158241"/>
            <a:chOff x="1747520" y="2599266"/>
            <a:chExt cx="1188720" cy="1158241"/>
          </a:xfrm>
          <a:solidFill>
            <a:srgbClr val="0B3041"/>
          </a:solidFill>
        </p:grpSpPr>
        <p:sp>
          <p:nvSpPr>
            <p:cNvPr id="34" name="Ovale 33">
              <a:extLst>
                <a:ext uri="{FF2B5EF4-FFF2-40B4-BE49-F238E27FC236}">
                  <a16:creationId xmlns:a16="http://schemas.microsoft.com/office/drawing/2014/main" id="{E46D37DE-192B-67B6-639A-F69E4C3217BE}"/>
                </a:ext>
              </a:extLst>
            </p:cNvPr>
            <p:cNvSpPr/>
            <p:nvPr/>
          </p:nvSpPr>
          <p:spPr>
            <a:xfrm>
              <a:off x="1747520" y="2599266"/>
              <a:ext cx="1188720" cy="11582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5" name="CasellaDiTesto 34">
              <a:extLst>
                <a:ext uri="{FF2B5EF4-FFF2-40B4-BE49-F238E27FC236}">
                  <a16:creationId xmlns:a16="http://schemas.microsoft.com/office/drawing/2014/main" id="{1C0C5DEA-30CD-68BD-656C-1652777C5A6E}"/>
                </a:ext>
              </a:extLst>
            </p:cNvPr>
            <p:cNvSpPr txBox="1"/>
            <p:nvPr/>
          </p:nvSpPr>
          <p:spPr>
            <a:xfrm>
              <a:off x="2135402" y="2885998"/>
              <a:ext cx="412955" cy="584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it-IT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073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0E4D6-44D8-3DC8-2DD2-84918E9F3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tangolo con un angolo arrotondato 18">
            <a:extLst>
              <a:ext uri="{FF2B5EF4-FFF2-40B4-BE49-F238E27FC236}">
                <a16:creationId xmlns:a16="http://schemas.microsoft.com/office/drawing/2014/main" id="{5EADA1CC-E4BA-474D-424D-91A405892158}"/>
              </a:ext>
            </a:extLst>
          </p:cNvPr>
          <p:cNvSpPr/>
          <p:nvPr/>
        </p:nvSpPr>
        <p:spPr>
          <a:xfrm flipV="1">
            <a:off x="481263" y="358140"/>
            <a:ext cx="4974657" cy="861060"/>
          </a:xfrm>
          <a:prstGeom prst="round1Rect">
            <a:avLst>
              <a:gd name="adj" fmla="val 50000"/>
            </a:avLst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b="1" dirty="0">
              <a:solidFill>
                <a:srgbClr val="FFFFFF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55C8358-BC21-7B87-37DD-85EBC21BB727}"/>
              </a:ext>
            </a:extLst>
          </p:cNvPr>
          <p:cNvSpPr txBox="1"/>
          <p:nvPr/>
        </p:nvSpPr>
        <p:spPr>
          <a:xfrm>
            <a:off x="1219801" y="387887"/>
            <a:ext cx="349758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 err="1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Obiettivi</a:t>
            </a:r>
            <a:endParaRPr lang="en-US" sz="2800" b="1" dirty="0">
              <a:solidFill>
                <a:srgbClr val="FFFFFF"/>
              </a:solidFill>
              <a:ea typeface="ui-sans-serif" pitchFamily="34" charset="-122"/>
              <a:cs typeface="ui-sans-serif" pitchFamily="34" charset="-120"/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F3EF7B2A-CA5A-C55A-A382-EDB44470EB52}"/>
              </a:ext>
            </a:extLst>
          </p:cNvPr>
          <p:cNvSpPr/>
          <p:nvPr/>
        </p:nvSpPr>
        <p:spPr>
          <a:xfrm>
            <a:off x="1828387" y="1792666"/>
            <a:ext cx="9105084" cy="1127907"/>
          </a:xfrm>
          <a:prstGeom prst="roundRect">
            <a:avLst/>
          </a:prstGeom>
          <a:solidFill>
            <a:srgbClr val="154065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800" dirty="0">
                <a:solidFill>
                  <a:schemeClr val="tx1"/>
                </a:solidFill>
              </a:rPr>
              <a:t>      </a:t>
            </a:r>
          </a:p>
          <a:p>
            <a:pPr algn="ctr"/>
            <a:r>
              <a:rPr lang="it-IT" sz="2400" dirty="0">
                <a:solidFill>
                  <a:schemeClr val="tx1"/>
                </a:solidFill>
              </a:rPr>
              <a:t> </a:t>
            </a:r>
            <a:endParaRPr lang="it-IT" dirty="0"/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1EFBE1FD-736B-C692-1F5D-0CAE6908C68A}"/>
              </a:ext>
            </a:extLst>
          </p:cNvPr>
          <p:cNvGrpSpPr/>
          <p:nvPr/>
        </p:nvGrpSpPr>
        <p:grpSpPr>
          <a:xfrm>
            <a:off x="1392412" y="1777498"/>
            <a:ext cx="1188720" cy="1158241"/>
            <a:chOff x="1747520" y="2599266"/>
            <a:chExt cx="1188720" cy="1158241"/>
          </a:xfrm>
          <a:solidFill>
            <a:srgbClr val="0B3041"/>
          </a:solidFill>
        </p:grpSpPr>
        <p:sp>
          <p:nvSpPr>
            <p:cNvPr id="18" name="Ovale 17">
              <a:extLst>
                <a:ext uri="{FF2B5EF4-FFF2-40B4-BE49-F238E27FC236}">
                  <a16:creationId xmlns:a16="http://schemas.microsoft.com/office/drawing/2014/main" id="{2DF0DFC3-AEA9-E486-6164-1715E321FD97}"/>
                </a:ext>
              </a:extLst>
            </p:cNvPr>
            <p:cNvSpPr/>
            <p:nvPr/>
          </p:nvSpPr>
          <p:spPr>
            <a:xfrm>
              <a:off x="1747520" y="2599266"/>
              <a:ext cx="1188720" cy="11582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03D0E4AA-6530-22F2-5C88-B441EB28BD94}"/>
                </a:ext>
              </a:extLst>
            </p:cNvPr>
            <p:cNvSpPr txBox="1"/>
            <p:nvPr/>
          </p:nvSpPr>
          <p:spPr>
            <a:xfrm>
              <a:off x="2135402" y="2885998"/>
              <a:ext cx="412955" cy="584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it-IT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B3CAB126-51A4-C818-16A4-1F29C99684F6}"/>
              </a:ext>
            </a:extLst>
          </p:cNvPr>
          <p:cNvGrpSpPr/>
          <p:nvPr/>
        </p:nvGrpSpPr>
        <p:grpSpPr>
          <a:xfrm>
            <a:off x="2117256" y="3486453"/>
            <a:ext cx="1188720" cy="1158241"/>
            <a:chOff x="1747520" y="2599266"/>
            <a:chExt cx="1188720" cy="1158241"/>
          </a:xfrm>
          <a:solidFill>
            <a:srgbClr val="0B3041"/>
          </a:solidFill>
        </p:grpSpPr>
        <p:sp>
          <p:nvSpPr>
            <p:cNvPr id="30" name="Ovale 29">
              <a:extLst>
                <a:ext uri="{FF2B5EF4-FFF2-40B4-BE49-F238E27FC236}">
                  <a16:creationId xmlns:a16="http://schemas.microsoft.com/office/drawing/2014/main" id="{716155AB-BF45-7B28-0504-F55A74641F85}"/>
                </a:ext>
              </a:extLst>
            </p:cNvPr>
            <p:cNvSpPr/>
            <p:nvPr/>
          </p:nvSpPr>
          <p:spPr>
            <a:xfrm>
              <a:off x="1747520" y="2599266"/>
              <a:ext cx="1188720" cy="11582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1" name="CasellaDiTesto 30">
              <a:extLst>
                <a:ext uri="{FF2B5EF4-FFF2-40B4-BE49-F238E27FC236}">
                  <a16:creationId xmlns:a16="http://schemas.microsoft.com/office/drawing/2014/main" id="{9AC6F476-A82F-218A-BA27-646F7DE3A2FF}"/>
                </a:ext>
              </a:extLst>
            </p:cNvPr>
            <p:cNvSpPr txBox="1"/>
            <p:nvPr/>
          </p:nvSpPr>
          <p:spPr>
            <a:xfrm>
              <a:off x="2135402" y="2885998"/>
              <a:ext cx="412955" cy="584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it-IT" sz="32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E7C4CA6D-CFD8-C6E5-7D5B-A7399BEBD9E1}"/>
              </a:ext>
            </a:extLst>
          </p:cNvPr>
          <p:cNvGrpSpPr/>
          <p:nvPr/>
        </p:nvGrpSpPr>
        <p:grpSpPr>
          <a:xfrm>
            <a:off x="2117256" y="5210574"/>
            <a:ext cx="1188720" cy="1158241"/>
            <a:chOff x="1747520" y="2599266"/>
            <a:chExt cx="1188720" cy="1158241"/>
          </a:xfrm>
          <a:solidFill>
            <a:srgbClr val="0B3041"/>
          </a:solidFill>
        </p:grpSpPr>
        <p:sp>
          <p:nvSpPr>
            <p:cNvPr id="34" name="Ovale 33">
              <a:extLst>
                <a:ext uri="{FF2B5EF4-FFF2-40B4-BE49-F238E27FC236}">
                  <a16:creationId xmlns:a16="http://schemas.microsoft.com/office/drawing/2014/main" id="{99EB1D73-B7A1-43E8-D6CA-FD525B0F92A7}"/>
                </a:ext>
              </a:extLst>
            </p:cNvPr>
            <p:cNvSpPr/>
            <p:nvPr/>
          </p:nvSpPr>
          <p:spPr>
            <a:xfrm>
              <a:off x="1747520" y="2599266"/>
              <a:ext cx="1188720" cy="11582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5" name="CasellaDiTesto 34">
              <a:extLst>
                <a:ext uri="{FF2B5EF4-FFF2-40B4-BE49-F238E27FC236}">
                  <a16:creationId xmlns:a16="http://schemas.microsoft.com/office/drawing/2014/main" id="{27D74893-03EE-C947-10FE-FE6E555B0DD3}"/>
                </a:ext>
              </a:extLst>
            </p:cNvPr>
            <p:cNvSpPr txBox="1"/>
            <p:nvPr/>
          </p:nvSpPr>
          <p:spPr>
            <a:xfrm>
              <a:off x="2135402" y="2885998"/>
              <a:ext cx="412955" cy="584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it-IT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224B3A0E-D4CA-6DBD-E387-5570E355247D}"/>
              </a:ext>
            </a:extLst>
          </p:cNvPr>
          <p:cNvSpPr txBox="1"/>
          <p:nvPr/>
        </p:nvSpPr>
        <p:spPr>
          <a:xfrm>
            <a:off x="2711616" y="1894952"/>
            <a:ext cx="79344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Obiettivi didattici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Fornire uno strumento formativo per studenti e specializzandi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Facilitare la comprensione dell’anatomia del collo e delle fasi chirurgiche</a:t>
            </a:r>
          </a:p>
        </p:txBody>
      </p:sp>
    </p:spTree>
    <p:extLst>
      <p:ext uri="{BB962C8B-B14F-4D97-AF65-F5344CB8AC3E}">
        <p14:creationId xmlns:p14="http://schemas.microsoft.com/office/powerpoint/2010/main" val="1243759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69823-8E52-2EDB-2066-ADC3365B3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tangolo con un angolo arrotondato 18">
            <a:extLst>
              <a:ext uri="{FF2B5EF4-FFF2-40B4-BE49-F238E27FC236}">
                <a16:creationId xmlns:a16="http://schemas.microsoft.com/office/drawing/2014/main" id="{1A5EC768-A12C-0623-4084-E4124AA718ED}"/>
              </a:ext>
            </a:extLst>
          </p:cNvPr>
          <p:cNvSpPr/>
          <p:nvPr/>
        </p:nvSpPr>
        <p:spPr>
          <a:xfrm flipV="1">
            <a:off x="481263" y="358140"/>
            <a:ext cx="4974657" cy="861060"/>
          </a:xfrm>
          <a:prstGeom prst="round1Rect">
            <a:avLst>
              <a:gd name="adj" fmla="val 50000"/>
            </a:avLst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b="1" dirty="0">
              <a:solidFill>
                <a:srgbClr val="FFFFFF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F097BD7-6883-8410-7A14-7385C7C57B99}"/>
              </a:ext>
            </a:extLst>
          </p:cNvPr>
          <p:cNvSpPr txBox="1"/>
          <p:nvPr/>
        </p:nvSpPr>
        <p:spPr>
          <a:xfrm>
            <a:off x="1219801" y="387887"/>
            <a:ext cx="349758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 err="1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Obiettivi</a:t>
            </a:r>
            <a:endParaRPr lang="en-US" sz="2800" b="1" dirty="0">
              <a:solidFill>
                <a:srgbClr val="FFFFFF"/>
              </a:solidFill>
              <a:ea typeface="ui-sans-serif" pitchFamily="34" charset="-122"/>
              <a:cs typeface="ui-sans-serif" pitchFamily="34" charset="-120"/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619AD57-6E60-BCD9-77DB-02A9DCF75C58}"/>
              </a:ext>
            </a:extLst>
          </p:cNvPr>
          <p:cNvSpPr/>
          <p:nvPr/>
        </p:nvSpPr>
        <p:spPr>
          <a:xfrm>
            <a:off x="1828387" y="1792666"/>
            <a:ext cx="9105084" cy="1127907"/>
          </a:xfrm>
          <a:prstGeom prst="roundRect">
            <a:avLst/>
          </a:prstGeom>
          <a:solidFill>
            <a:srgbClr val="154065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800" dirty="0">
                <a:solidFill>
                  <a:schemeClr val="tx1"/>
                </a:solidFill>
              </a:rPr>
              <a:t>      </a:t>
            </a:r>
          </a:p>
          <a:p>
            <a:pPr algn="ctr"/>
            <a:r>
              <a:rPr lang="it-IT" sz="2400" dirty="0">
                <a:solidFill>
                  <a:schemeClr val="tx1"/>
                </a:solidFill>
              </a:rPr>
              <a:t> </a:t>
            </a:r>
            <a:endParaRPr lang="it-IT" dirty="0"/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AAD4E442-392B-B142-CE3F-08ADBFD68280}"/>
              </a:ext>
            </a:extLst>
          </p:cNvPr>
          <p:cNvGrpSpPr/>
          <p:nvPr/>
        </p:nvGrpSpPr>
        <p:grpSpPr>
          <a:xfrm>
            <a:off x="1392412" y="1777498"/>
            <a:ext cx="1188720" cy="1158241"/>
            <a:chOff x="1747520" y="2599266"/>
            <a:chExt cx="1188720" cy="1158241"/>
          </a:xfrm>
          <a:solidFill>
            <a:srgbClr val="0B3041"/>
          </a:solidFill>
        </p:grpSpPr>
        <p:sp>
          <p:nvSpPr>
            <p:cNvPr id="18" name="Ovale 17">
              <a:extLst>
                <a:ext uri="{FF2B5EF4-FFF2-40B4-BE49-F238E27FC236}">
                  <a16:creationId xmlns:a16="http://schemas.microsoft.com/office/drawing/2014/main" id="{D097C15E-AD10-90FA-C39F-B39946EEDC1B}"/>
                </a:ext>
              </a:extLst>
            </p:cNvPr>
            <p:cNvSpPr/>
            <p:nvPr/>
          </p:nvSpPr>
          <p:spPr>
            <a:xfrm>
              <a:off x="1747520" y="2599266"/>
              <a:ext cx="1188720" cy="11582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BA6999AF-9EE0-C90D-F414-FDD174F4A72D}"/>
                </a:ext>
              </a:extLst>
            </p:cNvPr>
            <p:cNvSpPr txBox="1"/>
            <p:nvPr/>
          </p:nvSpPr>
          <p:spPr>
            <a:xfrm>
              <a:off x="2135402" y="2885998"/>
              <a:ext cx="412955" cy="584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it-IT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69CDA056-E5B0-EF0F-35EF-815D026FECEC}"/>
              </a:ext>
            </a:extLst>
          </p:cNvPr>
          <p:cNvSpPr/>
          <p:nvPr/>
        </p:nvSpPr>
        <p:spPr>
          <a:xfrm>
            <a:off x="1828387" y="3494037"/>
            <a:ext cx="9105084" cy="1127907"/>
          </a:xfrm>
          <a:prstGeom prst="roundRect">
            <a:avLst/>
          </a:prstGeom>
          <a:solidFill>
            <a:srgbClr val="154065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800" dirty="0">
                <a:solidFill>
                  <a:schemeClr val="tx1"/>
                </a:solidFill>
              </a:rPr>
              <a:t>      </a:t>
            </a:r>
          </a:p>
          <a:p>
            <a:pPr algn="ctr"/>
            <a:r>
              <a:rPr lang="it-IT" sz="2400" dirty="0">
                <a:solidFill>
                  <a:schemeClr val="tx1"/>
                </a:solidFill>
              </a:rPr>
              <a:t> </a:t>
            </a:r>
            <a:endParaRPr lang="it-IT" dirty="0"/>
          </a:p>
        </p:txBody>
      </p: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EFC8B019-F9CD-C068-F1DB-C8296B40510C}"/>
              </a:ext>
            </a:extLst>
          </p:cNvPr>
          <p:cNvGrpSpPr/>
          <p:nvPr/>
        </p:nvGrpSpPr>
        <p:grpSpPr>
          <a:xfrm>
            <a:off x="1392412" y="3478869"/>
            <a:ext cx="1188720" cy="1158241"/>
            <a:chOff x="1747520" y="2599266"/>
            <a:chExt cx="1188720" cy="1158241"/>
          </a:xfrm>
          <a:solidFill>
            <a:srgbClr val="0B3041"/>
          </a:solidFill>
        </p:grpSpPr>
        <p:sp>
          <p:nvSpPr>
            <p:cNvPr id="30" name="Ovale 29">
              <a:extLst>
                <a:ext uri="{FF2B5EF4-FFF2-40B4-BE49-F238E27FC236}">
                  <a16:creationId xmlns:a16="http://schemas.microsoft.com/office/drawing/2014/main" id="{98A4E450-0F0B-11FC-798C-91BCB376D031}"/>
                </a:ext>
              </a:extLst>
            </p:cNvPr>
            <p:cNvSpPr/>
            <p:nvPr/>
          </p:nvSpPr>
          <p:spPr>
            <a:xfrm>
              <a:off x="1747520" y="2599266"/>
              <a:ext cx="1188720" cy="11582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1" name="CasellaDiTesto 30">
              <a:extLst>
                <a:ext uri="{FF2B5EF4-FFF2-40B4-BE49-F238E27FC236}">
                  <a16:creationId xmlns:a16="http://schemas.microsoft.com/office/drawing/2014/main" id="{B9BB4075-20F1-8D23-4E8F-6186806F7AA2}"/>
                </a:ext>
              </a:extLst>
            </p:cNvPr>
            <p:cNvSpPr txBox="1"/>
            <p:nvPr/>
          </p:nvSpPr>
          <p:spPr>
            <a:xfrm>
              <a:off x="2135402" y="2885998"/>
              <a:ext cx="412955" cy="584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it-IT" sz="32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D69B4F2F-1103-8820-312F-E97D550E85DF}"/>
              </a:ext>
            </a:extLst>
          </p:cNvPr>
          <p:cNvGrpSpPr/>
          <p:nvPr/>
        </p:nvGrpSpPr>
        <p:grpSpPr>
          <a:xfrm>
            <a:off x="2117256" y="5210574"/>
            <a:ext cx="1188720" cy="1158241"/>
            <a:chOff x="1747520" y="2599266"/>
            <a:chExt cx="1188720" cy="1158241"/>
          </a:xfrm>
          <a:solidFill>
            <a:srgbClr val="0B3041"/>
          </a:solidFill>
        </p:grpSpPr>
        <p:sp>
          <p:nvSpPr>
            <p:cNvPr id="34" name="Ovale 33">
              <a:extLst>
                <a:ext uri="{FF2B5EF4-FFF2-40B4-BE49-F238E27FC236}">
                  <a16:creationId xmlns:a16="http://schemas.microsoft.com/office/drawing/2014/main" id="{4DD032E1-2458-E77E-7E29-3B12DD7F0DDF}"/>
                </a:ext>
              </a:extLst>
            </p:cNvPr>
            <p:cNvSpPr/>
            <p:nvPr/>
          </p:nvSpPr>
          <p:spPr>
            <a:xfrm>
              <a:off x="1747520" y="2599266"/>
              <a:ext cx="1188720" cy="11582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5" name="CasellaDiTesto 34">
              <a:extLst>
                <a:ext uri="{FF2B5EF4-FFF2-40B4-BE49-F238E27FC236}">
                  <a16:creationId xmlns:a16="http://schemas.microsoft.com/office/drawing/2014/main" id="{FC90B176-69AB-9C9F-7143-5894889FD1CD}"/>
                </a:ext>
              </a:extLst>
            </p:cNvPr>
            <p:cNvSpPr txBox="1"/>
            <p:nvPr/>
          </p:nvSpPr>
          <p:spPr>
            <a:xfrm>
              <a:off x="2135402" y="2885998"/>
              <a:ext cx="412955" cy="584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it-IT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3F18E11C-AAA8-5A4F-3823-88DD07A6B7EC}"/>
              </a:ext>
            </a:extLst>
          </p:cNvPr>
          <p:cNvSpPr txBox="1"/>
          <p:nvPr/>
        </p:nvSpPr>
        <p:spPr>
          <a:xfrm>
            <a:off x="2711616" y="1894952"/>
            <a:ext cx="79344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Obiettivi didattici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Fornire uno strumento formativo per studenti e specializzandi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Facilitare la comprensione dell’anatomia del collo e delle fasi chirurgiche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10449E89-7655-1C1B-AC45-221537AFB9F9}"/>
              </a:ext>
            </a:extLst>
          </p:cNvPr>
          <p:cNvSpPr txBox="1"/>
          <p:nvPr/>
        </p:nvSpPr>
        <p:spPr>
          <a:xfrm>
            <a:off x="2711616" y="3596323"/>
            <a:ext cx="85954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Obiettivi clinici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Riprodurre fedelmente le principali fasi dell’intervento di </a:t>
            </a:r>
            <a:r>
              <a:rPr lang="it-IT" dirty="0" err="1">
                <a:solidFill>
                  <a:schemeClr val="bg1"/>
                </a:solidFill>
              </a:rPr>
              <a:t>disectomia</a:t>
            </a:r>
            <a:r>
              <a:rPr lang="it-IT" dirty="0">
                <a:solidFill>
                  <a:schemeClr val="bg1"/>
                </a:solidFill>
              </a:rPr>
              <a:t> cervicale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Supporto alla pianificazione chirurgica e riduzione del rischio operatorio</a:t>
            </a:r>
          </a:p>
        </p:txBody>
      </p:sp>
    </p:spTree>
    <p:extLst>
      <p:ext uri="{BB962C8B-B14F-4D97-AF65-F5344CB8AC3E}">
        <p14:creationId xmlns:p14="http://schemas.microsoft.com/office/powerpoint/2010/main" val="2686237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82645-4719-3923-1BB0-4F3F3E32F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tangolo con un angolo arrotondato 18">
            <a:extLst>
              <a:ext uri="{FF2B5EF4-FFF2-40B4-BE49-F238E27FC236}">
                <a16:creationId xmlns:a16="http://schemas.microsoft.com/office/drawing/2014/main" id="{EC403480-22A9-7B4F-3D44-D9EB06231335}"/>
              </a:ext>
            </a:extLst>
          </p:cNvPr>
          <p:cNvSpPr/>
          <p:nvPr/>
        </p:nvSpPr>
        <p:spPr>
          <a:xfrm flipV="1">
            <a:off x="481263" y="358140"/>
            <a:ext cx="4974657" cy="861060"/>
          </a:xfrm>
          <a:prstGeom prst="round1Rect">
            <a:avLst>
              <a:gd name="adj" fmla="val 50000"/>
            </a:avLst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b="1" dirty="0">
              <a:solidFill>
                <a:srgbClr val="FFFFFF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318ADE7-6123-B6E8-B0FD-8B2A8453498B}"/>
              </a:ext>
            </a:extLst>
          </p:cNvPr>
          <p:cNvSpPr txBox="1"/>
          <p:nvPr/>
        </p:nvSpPr>
        <p:spPr>
          <a:xfrm>
            <a:off x="1219801" y="387887"/>
            <a:ext cx="349758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 err="1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Obiettivi</a:t>
            </a:r>
            <a:endParaRPr lang="en-US" sz="2800" b="1" dirty="0">
              <a:solidFill>
                <a:srgbClr val="FFFFFF"/>
              </a:solidFill>
              <a:ea typeface="ui-sans-serif" pitchFamily="34" charset="-122"/>
              <a:cs typeface="ui-sans-serif" pitchFamily="34" charset="-120"/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0FF9C5DE-7781-2AE7-29FB-0C7E1BBE6E3A}"/>
              </a:ext>
            </a:extLst>
          </p:cNvPr>
          <p:cNvSpPr/>
          <p:nvPr/>
        </p:nvSpPr>
        <p:spPr>
          <a:xfrm>
            <a:off x="1828387" y="1792666"/>
            <a:ext cx="9105084" cy="1127907"/>
          </a:xfrm>
          <a:prstGeom prst="roundRect">
            <a:avLst/>
          </a:prstGeom>
          <a:solidFill>
            <a:srgbClr val="154065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800" dirty="0">
                <a:solidFill>
                  <a:schemeClr val="tx1"/>
                </a:solidFill>
              </a:rPr>
              <a:t>      </a:t>
            </a:r>
          </a:p>
          <a:p>
            <a:pPr algn="ctr"/>
            <a:r>
              <a:rPr lang="it-IT" sz="2400" dirty="0">
                <a:solidFill>
                  <a:schemeClr val="tx1"/>
                </a:solidFill>
              </a:rPr>
              <a:t> </a:t>
            </a:r>
            <a:endParaRPr lang="it-IT" dirty="0"/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865398D4-8AC4-5C60-9102-32F940FAC4FF}"/>
              </a:ext>
            </a:extLst>
          </p:cNvPr>
          <p:cNvGrpSpPr/>
          <p:nvPr/>
        </p:nvGrpSpPr>
        <p:grpSpPr>
          <a:xfrm>
            <a:off x="1392412" y="1777498"/>
            <a:ext cx="1188720" cy="1158241"/>
            <a:chOff x="1747520" y="2599266"/>
            <a:chExt cx="1188720" cy="1158241"/>
          </a:xfrm>
          <a:solidFill>
            <a:srgbClr val="0B3041"/>
          </a:solidFill>
        </p:grpSpPr>
        <p:sp>
          <p:nvSpPr>
            <p:cNvPr id="18" name="Ovale 17">
              <a:extLst>
                <a:ext uri="{FF2B5EF4-FFF2-40B4-BE49-F238E27FC236}">
                  <a16:creationId xmlns:a16="http://schemas.microsoft.com/office/drawing/2014/main" id="{D8E03E6A-63C1-E9CD-B337-FDBBB04B1EEE}"/>
                </a:ext>
              </a:extLst>
            </p:cNvPr>
            <p:cNvSpPr/>
            <p:nvPr/>
          </p:nvSpPr>
          <p:spPr>
            <a:xfrm>
              <a:off x="1747520" y="2599266"/>
              <a:ext cx="1188720" cy="11582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B61722D0-8EF1-46B5-0148-01913DE5C7C0}"/>
                </a:ext>
              </a:extLst>
            </p:cNvPr>
            <p:cNvSpPr txBox="1"/>
            <p:nvPr/>
          </p:nvSpPr>
          <p:spPr>
            <a:xfrm>
              <a:off x="2135402" y="2885998"/>
              <a:ext cx="412955" cy="584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it-IT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1F4612E0-68A9-D09A-22A6-D96D051B1079}"/>
              </a:ext>
            </a:extLst>
          </p:cNvPr>
          <p:cNvSpPr/>
          <p:nvPr/>
        </p:nvSpPr>
        <p:spPr>
          <a:xfrm>
            <a:off x="1828387" y="3494037"/>
            <a:ext cx="9105084" cy="1127907"/>
          </a:xfrm>
          <a:prstGeom prst="roundRect">
            <a:avLst/>
          </a:prstGeom>
          <a:solidFill>
            <a:srgbClr val="154065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800" dirty="0">
                <a:solidFill>
                  <a:schemeClr val="tx1"/>
                </a:solidFill>
              </a:rPr>
              <a:t>      </a:t>
            </a:r>
          </a:p>
          <a:p>
            <a:pPr algn="ctr"/>
            <a:r>
              <a:rPr lang="it-IT" sz="2400" dirty="0">
                <a:solidFill>
                  <a:schemeClr val="tx1"/>
                </a:solidFill>
              </a:rPr>
              <a:t> </a:t>
            </a:r>
            <a:endParaRPr lang="it-IT" dirty="0"/>
          </a:p>
        </p:txBody>
      </p: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26E39C87-B9A1-EB01-01A5-CF18472BE431}"/>
              </a:ext>
            </a:extLst>
          </p:cNvPr>
          <p:cNvGrpSpPr/>
          <p:nvPr/>
        </p:nvGrpSpPr>
        <p:grpSpPr>
          <a:xfrm>
            <a:off x="1392412" y="3478869"/>
            <a:ext cx="1188720" cy="1158241"/>
            <a:chOff x="1747520" y="2599266"/>
            <a:chExt cx="1188720" cy="1158241"/>
          </a:xfrm>
          <a:solidFill>
            <a:srgbClr val="0B3041"/>
          </a:solidFill>
        </p:grpSpPr>
        <p:sp>
          <p:nvSpPr>
            <p:cNvPr id="30" name="Ovale 29">
              <a:extLst>
                <a:ext uri="{FF2B5EF4-FFF2-40B4-BE49-F238E27FC236}">
                  <a16:creationId xmlns:a16="http://schemas.microsoft.com/office/drawing/2014/main" id="{CFAAACC3-F087-D78F-D0E8-991AA5F23EB5}"/>
                </a:ext>
              </a:extLst>
            </p:cNvPr>
            <p:cNvSpPr/>
            <p:nvPr/>
          </p:nvSpPr>
          <p:spPr>
            <a:xfrm>
              <a:off x="1747520" y="2599266"/>
              <a:ext cx="1188720" cy="11582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1" name="CasellaDiTesto 30">
              <a:extLst>
                <a:ext uri="{FF2B5EF4-FFF2-40B4-BE49-F238E27FC236}">
                  <a16:creationId xmlns:a16="http://schemas.microsoft.com/office/drawing/2014/main" id="{039E4EC6-5D49-CE45-9BE0-17170C779E64}"/>
                </a:ext>
              </a:extLst>
            </p:cNvPr>
            <p:cNvSpPr txBox="1"/>
            <p:nvPr/>
          </p:nvSpPr>
          <p:spPr>
            <a:xfrm>
              <a:off x="2135402" y="2885998"/>
              <a:ext cx="412955" cy="584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it-IT" sz="32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76431482-3DFE-5A30-9449-742E7CF0D7B5}"/>
              </a:ext>
            </a:extLst>
          </p:cNvPr>
          <p:cNvSpPr/>
          <p:nvPr/>
        </p:nvSpPr>
        <p:spPr>
          <a:xfrm>
            <a:off x="1828387" y="5225742"/>
            <a:ext cx="9105084" cy="1127907"/>
          </a:xfrm>
          <a:prstGeom prst="roundRect">
            <a:avLst/>
          </a:prstGeom>
          <a:solidFill>
            <a:srgbClr val="154065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800" u="sng" dirty="0">
                <a:solidFill>
                  <a:schemeClr val="tx1"/>
                </a:solidFill>
              </a:rPr>
              <a:t>      </a:t>
            </a:r>
          </a:p>
          <a:p>
            <a:pPr algn="ctr"/>
            <a:r>
              <a:rPr lang="it-IT" sz="2400" u="sng" dirty="0">
                <a:solidFill>
                  <a:schemeClr val="tx1"/>
                </a:solidFill>
              </a:rPr>
              <a:t> </a:t>
            </a:r>
            <a:endParaRPr lang="it-IT" u="sng" dirty="0"/>
          </a:p>
        </p:txBody>
      </p: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65A9EE92-3E39-062D-62A1-6301507A207C}"/>
              </a:ext>
            </a:extLst>
          </p:cNvPr>
          <p:cNvGrpSpPr/>
          <p:nvPr/>
        </p:nvGrpSpPr>
        <p:grpSpPr>
          <a:xfrm>
            <a:off x="1392412" y="5210574"/>
            <a:ext cx="1188720" cy="1158241"/>
            <a:chOff x="1747520" y="2599266"/>
            <a:chExt cx="1188720" cy="1158241"/>
          </a:xfrm>
          <a:solidFill>
            <a:srgbClr val="0B3041"/>
          </a:solidFill>
        </p:grpSpPr>
        <p:sp>
          <p:nvSpPr>
            <p:cNvPr id="34" name="Ovale 33">
              <a:extLst>
                <a:ext uri="{FF2B5EF4-FFF2-40B4-BE49-F238E27FC236}">
                  <a16:creationId xmlns:a16="http://schemas.microsoft.com/office/drawing/2014/main" id="{D7B67D85-F99C-8B50-4BC6-2294B476FA62}"/>
                </a:ext>
              </a:extLst>
            </p:cNvPr>
            <p:cNvSpPr/>
            <p:nvPr/>
          </p:nvSpPr>
          <p:spPr>
            <a:xfrm>
              <a:off x="1747520" y="2599266"/>
              <a:ext cx="1188720" cy="11582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5" name="CasellaDiTesto 34">
              <a:extLst>
                <a:ext uri="{FF2B5EF4-FFF2-40B4-BE49-F238E27FC236}">
                  <a16:creationId xmlns:a16="http://schemas.microsoft.com/office/drawing/2014/main" id="{B81F5EB6-5BD9-1487-B086-4654CCF6D9C2}"/>
                </a:ext>
              </a:extLst>
            </p:cNvPr>
            <p:cNvSpPr txBox="1"/>
            <p:nvPr/>
          </p:nvSpPr>
          <p:spPr>
            <a:xfrm>
              <a:off x="2135402" y="2885998"/>
              <a:ext cx="412955" cy="584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it-IT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2EC5F509-4ED0-BEAD-619B-F36BA56B4BCD}"/>
              </a:ext>
            </a:extLst>
          </p:cNvPr>
          <p:cNvSpPr txBox="1"/>
          <p:nvPr/>
        </p:nvSpPr>
        <p:spPr>
          <a:xfrm>
            <a:off x="2711616" y="1894952"/>
            <a:ext cx="79344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Obiettivi didattici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Fornire uno strumento formativo per studenti e specializzandi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Facilitare la comprensione dell’anatomia del collo e delle fasi chirurgiche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48D9C218-6610-DBED-384D-11006302DB3C}"/>
              </a:ext>
            </a:extLst>
          </p:cNvPr>
          <p:cNvSpPr txBox="1"/>
          <p:nvPr/>
        </p:nvSpPr>
        <p:spPr>
          <a:xfrm>
            <a:off x="2711616" y="3596323"/>
            <a:ext cx="85954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Obiettivi clinici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Riprodurre fedelmente le principali fasi dell’intervento di </a:t>
            </a:r>
            <a:r>
              <a:rPr lang="it-IT" dirty="0" err="1">
                <a:solidFill>
                  <a:schemeClr val="bg1"/>
                </a:solidFill>
              </a:rPr>
              <a:t>disectomia</a:t>
            </a:r>
            <a:r>
              <a:rPr lang="it-IT" dirty="0">
                <a:solidFill>
                  <a:schemeClr val="bg1"/>
                </a:solidFill>
              </a:rPr>
              <a:t> cervicale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Supporto alla pianificazione chirurgica e riduzione del rischio operatorio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847A25C2-B302-EAE7-B189-0ED59FD493E2}"/>
              </a:ext>
            </a:extLst>
          </p:cNvPr>
          <p:cNvSpPr txBox="1"/>
          <p:nvPr/>
        </p:nvSpPr>
        <p:spPr>
          <a:xfrm>
            <a:off x="2711616" y="5328028"/>
            <a:ext cx="79344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Obiettivi tecnologici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Sviluppare la simulazione in </a:t>
            </a:r>
            <a:r>
              <a:rPr lang="it-IT" dirty="0" err="1">
                <a:solidFill>
                  <a:schemeClr val="bg1"/>
                </a:solidFill>
              </a:rPr>
              <a:t>Unity</a:t>
            </a:r>
            <a:r>
              <a:rPr lang="it-IT" dirty="0">
                <a:solidFill>
                  <a:schemeClr val="bg1"/>
                </a:solidFill>
              </a:rPr>
              <a:t> tramite l’utilizzo del </a:t>
            </a:r>
            <a:r>
              <a:rPr lang="it-IT" dirty="0" err="1">
                <a:solidFill>
                  <a:schemeClr val="bg1"/>
                </a:solidFill>
              </a:rPr>
              <a:t>phantom</a:t>
            </a:r>
            <a:r>
              <a:rPr lang="it-IT" dirty="0">
                <a:solidFill>
                  <a:schemeClr val="bg1"/>
                </a:solidFill>
              </a:rPr>
              <a:t> del collo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Rendere </a:t>
            </a:r>
            <a:r>
              <a:rPr lang="it-IT" dirty="0" err="1">
                <a:solidFill>
                  <a:schemeClr val="bg1"/>
                </a:solidFill>
              </a:rPr>
              <a:t>interagibile</a:t>
            </a:r>
            <a:r>
              <a:rPr lang="it-IT" dirty="0">
                <a:solidFill>
                  <a:schemeClr val="bg1"/>
                </a:solidFill>
              </a:rPr>
              <a:t> con interfacce aptiche e visore la scena chirurgica</a:t>
            </a:r>
          </a:p>
        </p:txBody>
      </p:sp>
    </p:spTree>
    <p:extLst>
      <p:ext uri="{BB962C8B-B14F-4D97-AF65-F5344CB8AC3E}">
        <p14:creationId xmlns:p14="http://schemas.microsoft.com/office/powerpoint/2010/main" val="1438625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84F70-789A-4028-72AF-470E56230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tangolo con un angolo arrotondato 18">
            <a:extLst>
              <a:ext uri="{FF2B5EF4-FFF2-40B4-BE49-F238E27FC236}">
                <a16:creationId xmlns:a16="http://schemas.microsoft.com/office/drawing/2014/main" id="{2B8BF28D-06E8-D1D5-9F8F-2945124F40ED}"/>
              </a:ext>
            </a:extLst>
          </p:cNvPr>
          <p:cNvSpPr/>
          <p:nvPr/>
        </p:nvSpPr>
        <p:spPr>
          <a:xfrm flipV="1">
            <a:off x="481263" y="358140"/>
            <a:ext cx="4974657" cy="861060"/>
          </a:xfrm>
          <a:prstGeom prst="round1Rect">
            <a:avLst>
              <a:gd name="adj" fmla="val 50000"/>
            </a:avLst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b="1" dirty="0">
              <a:solidFill>
                <a:srgbClr val="FFFFFF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85BC48F-8C73-7CA1-2DCE-7FC14347A942}"/>
              </a:ext>
            </a:extLst>
          </p:cNvPr>
          <p:cNvSpPr txBox="1"/>
          <p:nvPr/>
        </p:nvSpPr>
        <p:spPr>
          <a:xfrm>
            <a:off x="1219801" y="387887"/>
            <a:ext cx="349758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 err="1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L’ernia</a:t>
            </a:r>
            <a:r>
              <a:rPr lang="en-US" sz="2800" b="1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 cervicale</a:t>
            </a:r>
          </a:p>
        </p:txBody>
      </p:sp>
      <p:pic>
        <p:nvPicPr>
          <p:cNvPr id="3" name="Immagine 2" descr="Immagine che contiene diagramma&#10;&#10;Il contenuto generato dall'IA potrebbe non essere corretto.">
            <a:hlinkClick r:id="rId5"/>
            <a:extLst>
              <a:ext uri="{FF2B5EF4-FFF2-40B4-BE49-F238E27FC236}">
                <a16:creationId xmlns:a16="http://schemas.microsoft.com/office/drawing/2014/main" id="{E3183DFD-B2F7-336D-97C1-B647A91B5C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48" y="2797499"/>
            <a:ext cx="5850137" cy="2755415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30C2AD22-2D15-E724-D675-90383B169D06}"/>
              </a:ext>
            </a:extLst>
          </p:cNvPr>
          <p:cNvSpPr txBox="1"/>
          <p:nvPr/>
        </p:nvSpPr>
        <p:spPr>
          <a:xfrm>
            <a:off x="756648" y="1511584"/>
            <a:ext cx="58501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L’ernia cervicale è una condizione in cui parte del disco intervertebrale situato tra due vertebre del collo fuoriesce dalla sua sede naturale</a:t>
            </a:r>
          </a:p>
          <a:p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Il disco è composto da un nucleo gelatinoso (nucleo polposo) e da un anello esterno rigido (</a:t>
            </a:r>
            <a:r>
              <a:rPr lang="it-IT" sz="1400" dirty="0" err="1"/>
              <a:t>anulus</a:t>
            </a:r>
            <a:r>
              <a:rPr lang="it-IT" sz="1400" dirty="0"/>
              <a:t> fibroso)</a:t>
            </a:r>
          </a:p>
          <a:p>
            <a:endParaRPr lang="it-IT" sz="1400" dirty="0"/>
          </a:p>
        </p:txBody>
      </p:sp>
      <p:pic>
        <p:nvPicPr>
          <p:cNvPr id="6" name="From KlickPin CF Pin by Jorge Luis on ejercicios de reabilitacion _ Human skeleton anatomy Human body anatomy Body anatomy">
            <a:hlinkClick r:id="" action="ppaction://media"/>
            <a:extLst>
              <a:ext uri="{FF2B5EF4-FFF2-40B4-BE49-F238E27FC236}">
                <a16:creationId xmlns:a16="http://schemas.microsoft.com/office/drawing/2014/main" id="{C162F3FF-348E-3F75-16EE-B3988D6E3520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2765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757652" y="240646"/>
            <a:ext cx="3352265" cy="5860135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276BE4B8-C9AB-4968-09E1-53D2E1173104}"/>
              </a:ext>
            </a:extLst>
          </p:cNvPr>
          <p:cNvSpPr txBox="1"/>
          <p:nvPr/>
        </p:nvSpPr>
        <p:spPr>
          <a:xfrm>
            <a:off x="1012040" y="5933390"/>
            <a:ext cx="53393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B3041"/>
              </a:buClr>
              <a:buFont typeface="Wingdings" panose="05000000000000000000" pitchFamily="2" charset="2"/>
              <a:buChar char=""/>
            </a:pPr>
            <a:r>
              <a:rPr lang="it-IT" sz="1400" dirty="0"/>
              <a:t>Un'ernia del disco si verifica quando lo strato esterno del disco si rompe e parte del nucleo polposo fuoriesce al suo interno</a:t>
            </a:r>
          </a:p>
          <a:p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14464223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90909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DA817-235A-0DE5-AE37-94B6FDC6D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tangolo con un angolo arrotondato 18">
            <a:extLst>
              <a:ext uri="{FF2B5EF4-FFF2-40B4-BE49-F238E27FC236}">
                <a16:creationId xmlns:a16="http://schemas.microsoft.com/office/drawing/2014/main" id="{4C0B76FA-586A-8E90-3421-13EBF785880A}"/>
              </a:ext>
            </a:extLst>
          </p:cNvPr>
          <p:cNvSpPr/>
          <p:nvPr/>
        </p:nvSpPr>
        <p:spPr>
          <a:xfrm flipV="1">
            <a:off x="481263" y="358140"/>
            <a:ext cx="4974657" cy="861060"/>
          </a:xfrm>
          <a:prstGeom prst="round1Rect">
            <a:avLst>
              <a:gd name="adj" fmla="val 50000"/>
            </a:avLst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b="1" dirty="0">
              <a:solidFill>
                <a:srgbClr val="FFFFFF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A50C3F7-E352-5932-B8A6-D1B9032609EB}"/>
              </a:ext>
            </a:extLst>
          </p:cNvPr>
          <p:cNvSpPr txBox="1"/>
          <p:nvPr/>
        </p:nvSpPr>
        <p:spPr>
          <a:xfrm>
            <a:off x="1219801" y="387887"/>
            <a:ext cx="349758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 err="1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L’ernia</a:t>
            </a:r>
            <a:r>
              <a:rPr lang="en-US" sz="2800" b="1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 cervicale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17799A0-C632-DD66-A63C-1D758249A84B}"/>
              </a:ext>
            </a:extLst>
          </p:cNvPr>
          <p:cNvSpPr txBox="1"/>
          <p:nvPr/>
        </p:nvSpPr>
        <p:spPr>
          <a:xfrm>
            <a:off x="756648" y="1511584"/>
            <a:ext cx="731253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Il nucleo polposo (contiene proteine infiammatorie) che fuoriesce dal disco intervertebrale può provocare una pressione diretta su radici nervose e midollo spinale</a:t>
            </a:r>
          </a:p>
          <a:p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Compressione + infiammazione possono ridurre il flusso sanguigno locale </a:t>
            </a:r>
            <a:r>
              <a:rPr lang="it-IT" sz="1400" b="1" dirty="0">
                <a:solidFill>
                  <a:srgbClr val="0B3041"/>
                </a:solidFill>
                <a:sym typeface="Wingdings" panose="05000000000000000000" pitchFamily="2" charset="2"/>
              </a:rPr>
              <a:t></a:t>
            </a:r>
            <a:r>
              <a:rPr lang="it-IT" sz="1400" dirty="0">
                <a:sym typeface="Wingdings" panose="05000000000000000000" pitchFamily="2" charset="2"/>
              </a:rPr>
              <a:t> ischemia del nervo </a:t>
            </a:r>
            <a:r>
              <a:rPr lang="it-IT" sz="1400" b="1" dirty="0">
                <a:solidFill>
                  <a:srgbClr val="0B3041"/>
                </a:solidFill>
                <a:sym typeface="Wingdings" panose="05000000000000000000" pitchFamily="2" charset="2"/>
              </a:rPr>
              <a:t></a:t>
            </a:r>
            <a:r>
              <a:rPr lang="it-IT" sz="1400" dirty="0">
                <a:sym typeface="Wingdings" panose="05000000000000000000" pitchFamily="2" charset="2"/>
              </a:rPr>
              <a:t> aumento della sensibilità al dolore</a:t>
            </a:r>
            <a:endParaRPr lang="it-IT" sz="1400" dirty="0"/>
          </a:p>
          <a:p>
            <a:endParaRPr lang="it-IT" sz="1400" dirty="0"/>
          </a:p>
        </p:txBody>
      </p:sp>
      <p:pic>
        <p:nvPicPr>
          <p:cNvPr id="7" name="Immagine 6" descr="Immagine che contiene vestiti, Guanto di protezione, guanto, guanti&#10;&#10;Il contenuto generato dall'IA potrebbe non essere corretto.">
            <a:hlinkClick r:id="rId3"/>
            <a:extLst>
              <a:ext uri="{FF2B5EF4-FFF2-40B4-BE49-F238E27FC236}">
                <a16:creationId xmlns:a16="http://schemas.microsoft.com/office/drawing/2014/main" id="{D69CE987-B6E2-3DF8-BAEE-0E6A4DE8BC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9179" y="1059738"/>
            <a:ext cx="3795963" cy="5061284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9B16A11B-901B-1FE0-C905-0111B2450833}"/>
              </a:ext>
            </a:extLst>
          </p:cNvPr>
          <p:cNvSpPr/>
          <p:nvPr/>
        </p:nvSpPr>
        <p:spPr>
          <a:xfrm>
            <a:off x="756648" y="2896579"/>
            <a:ext cx="6959605" cy="3087126"/>
          </a:xfrm>
          <a:prstGeom prst="rect">
            <a:avLst/>
          </a:prstGeom>
          <a:solidFill>
            <a:srgbClr val="0B3041">
              <a:alpha val="35000"/>
            </a:srgbClr>
          </a:solidFill>
          <a:ln>
            <a:solidFill>
              <a:srgbClr val="0B30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FB441A2-E619-D2C5-E125-DD288CCE76D3}"/>
              </a:ext>
            </a:extLst>
          </p:cNvPr>
          <p:cNvSpPr txBox="1"/>
          <p:nvPr/>
        </p:nvSpPr>
        <p:spPr>
          <a:xfrm>
            <a:off x="914400" y="3080084"/>
            <a:ext cx="66414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B3041"/>
                </a:solidFill>
              </a:rPr>
              <a:t>Sintomatologia associata</a:t>
            </a:r>
          </a:p>
          <a:p>
            <a:endParaRPr lang="it-IT" b="1" dirty="0">
              <a:solidFill>
                <a:srgbClr val="0B3041"/>
              </a:solidFill>
            </a:endParaRPr>
          </a:p>
          <a:p>
            <a:r>
              <a:rPr lang="it-IT" b="1" dirty="0">
                <a:solidFill>
                  <a:srgbClr val="0B3041"/>
                </a:solidFill>
              </a:rPr>
              <a:t>         </a:t>
            </a:r>
            <a:r>
              <a:rPr lang="it-IT" sz="1600" b="1" dirty="0">
                <a:solidFill>
                  <a:srgbClr val="0B3041"/>
                </a:solidFill>
              </a:rPr>
              <a:t>Cervicalgia                                                   Brachialgia</a:t>
            </a:r>
          </a:p>
          <a:p>
            <a:r>
              <a:rPr lang="it-IT" sz="1600" b="1" dirty="0">
                <a:solidFill>
                  <a:srgbClr val="0B3041"/>
                </a:solidFill>
              </a:rPr>
              <a:t>          </a:t>
            </a:r>
            <a:r>
              <a:rPr lang="it-IT" sz="1400" dirty="0">
                <a:solidFill>
                  <a:srgbClr val="0B3041"/>
                </a:solidFill>
              </a:rPr>
              <a:t>Dolore al collo                                                        Dolore irradiato al braccio</a:t>
            </a:r>
          </a:p>
          <a:p>
            <a:endParaRPr lang="it-IT" sz="1600" b="1" dirty="0">
              <a:solidFill>
                <a:srgbClr val="0B3041"/>
              </a:solidFill>
            </a:endParaRPr>
          </a:p>
          <a:p>
            <a:r>
              <a:rPr lang="it-IT" sz="1600" b="1" dirty="0">
                <a:solidFill>
                  <a:srgbClr val="0B3041"/>
                </a:solidFill>
              </a:rPr>
              <a:t>          Intorpidimento                                           Debolezza</a:t>
            </a:r>
          </a:p>
          <a:p>
            <a:r>
              <a:rPr lang="it-IT" sz="1600" b="1" dirty="0">
                <a:solidFill>
                  <a:srgbClr val="0B3041"/>
                </a:solidFill>
              </a:rPr>
              <a:t>        </a:t>
            </a:r>
            <a:r>
              <a:rPr lang="it-IT" sz="1400" b="1" dirty="0">
                <a:solidFill>
                  <a:srgbClr val="0B3041"/>
                </a:solidFill>
              </a:rPr>
              <a:t>  </a:t>
            </a:r>
            <a:r>
              <a:rPr lang="it-IT" sz="1400" dirty="0">
                <a:solidFill>
                  <a:srgbClr val="0B3041"/>
                </a:solidFill>
              </a:rPr>
              <a:t>Sensazione di formicolio                                    Ridotta forza nei muscoli </a:t>
            </a:r>
          </a:p>
          <a:p>
            <a:endParaRPr lang="it-IT" sz="1600" b="1" dirty="0">
              <a:solidFill>
                <a:srgbClr val="0B3041"/>
              </a:solidFill>
            </a:endParaRPr>
          </a:p>
          <a:p>
            <a:r>
              <a:rPr lang="it-IT" sz="1600" b="1" dirty="0">
                <a:solidFill>
                  <a:srgbClr val="0B3041"/>
                </a:solidFill>
              </a:rPr>
              <a:t>          Mielopatia cervicale</a:t>
            </a:r>
          </a:p>
          <a:p>
            <a:r>
              <a:rPr lang="it-IT" sz="1600" b="1" dirty="0">
                <a:solidFill>
                  <a:srgbClr val="0B3041"/>
                </a:solidFill>
              </a:rPr>
              <a:t>     </a:t>
            </a:r>
            <a:r>
              <a:rPr lang="it-IT" b="1" dirty="0">
                <a:solidFill>
                  <a:srgbClr val="0B3041"/>
                </a:solidFill>
              </a:rPr>
              <a:t>     </a:t>
            </a:r>
            <a:r>
              <a:rPr lang="it-IT" sz="1400" dirty="0">
                <a:solidFill>
                  <a:srgbClr val="0B3041"/>
                </a:solidFill>
              </a:rPr>
              <a:t>Deficit neurologici come problemi di equilibrio, riflessi e sensibilità alterati</a:t>
            </a:r>
            <a:endParaRPr lang="it-IT" dirty="0">
              <a:solidFill>
                <a:srgbClr val="0B3041"/>
              </a:solidFill>
            </a:endParaRPr>
          </a:p>
        </p:txBody>
      </p:sp>
      <p:pic>
        <p:nvPicPr>
          <p:cNvPr id="10" name="Image 14" descr="preencoded.png">
            <a:extLst>
              <a:ext uri="{FF2B5EF4-FFF2-40B4-BE49-F238E27FC236}">
                <a16:creationId xmlns:a16="http://schemas.microsoft.com/office/drawing/2014/main" id="{C12E26E5-5DEE-B342-4E3A-FF14667358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541" y="3662770"/>
            <a:ext cx="228600" cy="304800"/>
          </a:xfrm>
          <a:prstGeom prst="rect">
            <a:avLst/>
          </a:prstGeom>
        </p:spPr>
      </p:pic>
      <p:pic>
        <p:nvPicPr>
          <p:cNvPr id="11" name="Image 16" descr="preencoded.png">
            <a:extLst>
              <a:ext uri="{FF2B5EF4-FFF2-40B4-BE49-F238E27FC236}">
                <a16:creationId xmlns:a16="http://schemas.microsoft.com/office/drawing/2014/main" id="{0111E7EA-4FB6-9E57-2343-E1AAA2E5F2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4314" y="3662770"/>
            <a:ext cx="228600" cy="304800"/>
          </a:xfrm>
          <a:prstGeom prst="rect">
            <a:avLst/>
          </a:prstGeom>
        </p:spPr>
      </p:pic>
      <p:pic>
        <p:nvPicPr>
          <p:cNvPr id="12" name="Image 20" descr="preencoded.png">
            <a:extLst>
              <a:ext uri="{FF2B5EF4-FFF2-40B4-BE49-F238E27FC236}">
                <a16:creationId xmlns:a16="http://schemas.microsoft.com/office/drawing/2014/main" id="{932DE238-FD2D-5ED7-68D2-999F0197B2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5739" y="4440142"/>
            <a:ext cx="285750" cy="304800"/>
          </a:xfrm>
          <a:prstGeom prst="rect">
            <a:avLst/>
          </a:prstGeom>
        </p:spPr>
      </p:pic>
      <p:pic>
        <p:nvPicPr>
          <p:cNvPr id="13" name="Image 18" descr="preencoded.png">
            <a:extLst>
              <a:ext uri="{FF2B5EF4-FFF2-40B4-BE49-F238E27FC236}">
                <a16:creationId xmlns:a16="http://schemas.microsoft.com/office/drawing/2014/main" id="{48528EB6-810B-CDE3-CDE3-73314FE7A5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396" y="4418912"/>
            <a:ext cx="228600" cy="304800"/>
          </a:xfrm>
          <a:prstGeom prst="rect">
            <a:avLst/>
          </a:prstGeom>
        </p:spPr>
      </p:pic>
      <p:pic>
        <p:nvPicPr>
          <p:cNvPr id="15" name="Image 22" descr="preencoded.png">
            <a:extLst>
              <a:ext uri="{FF2B5EF4-FFF2-40B4-BE49-F238E27FC236}">
                <a16:creationId xmlns:a16="http://schemas.microsoft.com/office/drawing/2014/main" id="{D26070F9-1B8C-3DF6-C6D6-6CB4C9F0E7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396" y="5153998"/>
            <a:ext cx="2286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305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DCB37-BC1D-32A6-291C-50E858F0E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tangolo con un angolo arrotondato 18">
            <a:extLst>
              <a:ext uri="{FF2B5EF4-FFF2-40B4-BE49-F238E27FC236}">
                <a16:creationId xmlns:a16="http://schemas.microsoft.com/office/drawing/2014/main" id="{DF8B4A94-8EBF-0EB1-0E50-6F6E3C2903D0}"/>
              </a:ext>
            </a:extLst>
          </p:cNvPr>
          <p:cNvSpPr/>
          <p:nvPr/>
        </p:nvSpPr>
        <p:spPr>
          <a:xfrm flipV="1">
            <a:off x="481263" y="358140"/>
            <a:ext cx="4974657" cy="861060"/>
          </a:xfrm>
          <a:prstGeom prst="round1Rect">
            <a:avLst>
              <a:gd name="adj" fmla="val 50000"/>
            </a:avLst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b="1" dirty="0">
              <a:solidFill>
                <a:srgbClr val="FFFFFF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F9D4F83-9643-AD87-AD77-9E3558DA06E6}"/>
              </a:ext>
            </a:extLst>
          </p:cNvPr>
          <p:cNvSpPr txBox="1"/>
          <p:nvPr/>
        </p:nvSpPr>
        <p:spPr>
          <a:xfrm>
            <a:off x="921418" y="387887"/>
            <a:ext cx="3795963" cy="1322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 err="1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Trattamento</a:t>
            </a:r>
            <a:r>
              <a:rPr lang="en-US" sz="2800" b="1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dell’ernia</a:t>
            </a:r>
            <a:r>
              <a:rPr lang="en-US" sz="2800" b="1" dirty="0">
                <a:solidFill>
                  <a:srgbClr val="FFFFFF"/>
                </a:solidFill>
                <a:ea typeface="ui-sans-serif" pitchFamily="34" charset="-122"/>
                <a:cs typeface="ui-sans-serif" pitchFamily="34" charset="-120"/>
              </a:rPr>
              <a:t> cervicale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69972146-E1A4-2B1D-6646-051AFF8631E5}"/>
              </a:ext>
            </a:extLst>
          </p:cNvPr>
          <p:cNvSpPr/>
          <p:nvPr/>
        </p:nvSpPr>
        <p:spPr>
          <a:xfrm>
            <a:off x="802722" y="1597307"/>
            <a:ext cx="3541032" cy="1685627"/>
          </a:xfrm>
          <a:prstGeom prst="rect">
            <a:avLst/>
          </a:prstGeom>
          <a:solidFill>
            <a:srgbClr val="0B3041">
              <a:alpha val="35000"/>
            </a:srgbClr>
          </a:solidFill>
          <a:ln>
            <a:solidFill>
              <a:srgbClr val="0B30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3C04E8C-15A0-424D-99F6-491E2456D8E5}"/>
              </a:ext>
            </a:extLst>
          </p:cNvPr>
          <p:cNvSpPr txBox="1"/>
          <p:nvPr/>
        </p:nvSpPr>
        <p:spPr>
          <a:xfrm>
            <a:off x="935907" y="1661387"/>
            <a:ext cx="327466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Approccio conservativo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Farmaci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Fisioterapia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Collare cervicale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Infiltrazioni epidurali </a:t>
            </a:r>
          </a:p>
        </p:txBody>
      </p:sp>
      <p:cxnSp>
        <p:nvCxnSpPr>
          <p:cNvPr id="6" name="Connettore a gomito 5">
            <a:extLst>
              <a:ext uri="{FF2B5EF4-FFF2-40B4-BE49-F238E27FC236}">
                <a16:creationId xmlns:a16="http://schemas.microsoft.com/office/drawing/2014/main" id="{6A45384A-AE7E-0BE4-9AD6-EACAD6A9FC1C}"/>
              </a:ext>
            </a:extLst>
          </p:cNvPr>
          <p:cNvCxnSpPr>
            <a:cxnSpLocks/>
          </p:cNvCxnSpPr>
          <p:nvPr/>
        </p:nvCxnSpPr>
        <p:spPr>
          <a:xfrm>
            <a:off x="4717381" y="2350790"/>
            <a:ext cx="2072640" cy="799703"/>
          </a:xfrm>
          <a:prstGeom prst="bentConnector3">
            <a:avLst>
              <a:gd name="adj1" fmla="val 100000"/>
            </a:avLst>
          </a:prstGeom>
          <a:ln w="5715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EA38D9B1-38CE-1148-51F1-80EA52B2F721}"/>
              </a:ext>
            </a:extLst>
          </p:cNvPr>
          <p:cNvSpPr txBox="1"/>
          <p:nvPr/>
        </p:nvSpPr>
        <p:spPr>
          <a:xfrm>
            <a:off x="6790021" y="1793789"/>
            <a:ext cx="4748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Se il dolore è persistente ( &gt; 6-12 settimane nonostante la terapia conservativa)</a:t>
            </a:r>
            <a:endParaRPr lang="it-IT" sz="1600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47A96F34-71C0-94D6-B5BB-A503B7FF3A10}"/>
              </a:ext>
            </a:extLst>
          </p:cNvPr>
          <p:cNvSpPr/>
          <p:nvPr/>
        </p:nvSpPr>
        <p:spPr>
          <a:xfrm>
            <a:off x="802722" y="3661042"/>
            <a:ext cx="10632193" cy="2809071"/>
          </a:xfrm>
          <a:prstGeom prst="rect">
            <a:avLst/>
          </a:prstGeom>
          <a:solidFill>
            <a:srgbClr val="0B3041">
              <a:alpha val="35000"/>
            </a:srgbClr>
          </a:solidFill>
          <a:ln>
            <a:solidFill>
              <a:srgbClr val="0B30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8832786-DF86-9E27-A025-B09DA0F1AAEC}"/>
              </a:ext>
            </a:extLst>
          </p:cNvPr>
          <p:cNvSpPr txBox="1"/>
          <p:nvPr/>
        </p:nvSpPr>
        <p:spPr>
          <a:xfrm>
            <a:off x="926853" y="3896026"/>
            <a:ext cx="1080115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Approccio chirurgico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it-IT" b="1" dirty="0">
                <a:sym typeface="Wingdings" panose="05000000000000000000" pitchFamily="2" charset="2"/>
              </a:rPr>
              <a:t>ACDF (</a:t>
            </a:r>
            <a:r>
              <a:rPr lang="it-IT" b="1" dirty="0" err="1">
                <a:sym typeface="Wingdings" panose="05000000000000000000" pitchFamily="2" charset="2"/>
              </a:rPr>
              <a:t>Anterior</a:t>
            </a:r>
            <a:r>
              <a:rPr lang="it-IT" b="1" dirty="0">
                <a:sym typeface="Wingdings" panose="05000000000000000000" pitchFamily="2" charset="2"/>
              </a:rPr>
              <a:t> </a:t>
            </a:r>
            <a:r>
              <a:rPr lang="it-IT" b="1" dirty="0" err="1">
                <a:sym typeface="Wingdings" panose="05000000000000000000" pitchFamily="2" charset="2"/>
              </a:rPr>
              <a:t>Cervical</a:t>
            </a:r>
            <a:r>
              <a:rPr lang="it-IT" b="1" dirty="0">
                <a:sym typeface="Wingdings" panose="05000000000000000000" pitchFamily="2" charset="2"/>
              </a:rPr>
              <a:t> </a:t>
            </a:r>
            <a:r>
              <a:rPr lang="it-IT" b="1" dirty="0" err="1">
                <a:sym typeface="Wingdings" panose="05000000000000000000" pitchFamily="2" charset="2"/>
              </a:rPr>
              <a:t>Discectomy</a:t>
            </a:r>
            <a:r>
              <a:rPr lang="it-IT" b="1" dirty="0">
                <a:sym typeface="Wingdings" panose="05000000000000000000" pitchFamily="2" charset="2"/>
              </a:rPr>
              <a:t> and Fusion)</a:t>
            </a:r>
          </a:p>
          <a:p>
            <a:r>
              <a:rPr lang="it-IT" dirty="0">
                <a:sym typeface="Wingdings" panose="05000000000000000000" pitchFamily="2" charset="2"/>
              </a:rPr>
              <a:t>       - Rimozione disco erniato</a:t>
            </a:r>
          </a:p>
          <a:p>
            <a:r>
              <a:rPr lang="it-IT" dirty="0">
                <a:sym typeface="Wingdings" panose="05000000000000000000" pitchFamily="2" charset="2"/>
              </a:rPr>
              <a:t>       - Decompressione nervosa</a:t>
            </a:r>
          </a:p>
          <a:p>
            <a:r>
              <a:rPr lang="it-IT" dirty="0">
                <a:sym typeface="Wingdings" panose="05000000000000000000" pitchFamily="2" charset="2"/>
              </a:rPr>
              <a:t>       - Stabilizzazione con gabbia </a:t>
            </a:r>
            <a:r>
              <a:rPr lang="it-IT" dirty="0" err="1">
                <a:sym typeface="Wingdings" panose="05000000000000000000" pitchFamily="2" charset="2"/>
              </a:rPr>
              <a:t>intersomatica</a:t>
            </a:r>
            <a:r>
              <a:rPr lang="it-IT" dirty="0">
                <a:sym typeface="Wingdings" panose="05000000000000000000" pitchFamily="2" charset="2"/>
              </a:rPr>
              <a:t> e, se necessario, si inserisce una placca anteriore con viti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it-IT" b="1" dirty="0">
                <a:sym typeface="Wingdings" panose="05000000000000000000" pitchFamily="2" charset="2"/>
              </a:rPr>
              <a:t>Protesi discale cervicale</a:t>
            </a:r>
          </a:p>
          <a:p>
            <a:r>
              <a:rPr lang="it-IT" dirty="0">
                <a:sym typeface="Wingdings" panose="05000000000000000000" pitchFamily="2" charset="2"/>
              </a:rPr>
              <a:t>       - Alternativa alla fusione</a:t>
            </a:r>
          </a:p>
          <a:p>
            <a:r>
              <a:rPr lang="it-IT" dirty="0">
                <a:sym typeface="Wingdings" panose="05000000000000000000" pitchFamily="2" charset="2"/>
              </a:rPr>
              <a:t>       - Si impianta una protesi discale artificiale che mantiene la mobilità del segmento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17571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un angolo arrotondato 1">
            <a:extLst>
              <a:ext uri="{FF2B5EF4-FFF2-40B4-BE49-F238E27FC236}">
                <a16:creationId xmlns:a16="http://schemas.microsoft.com/office/drawing/2014/main" id="{9E133A15-2612-C5F1-22A3-06F9E251B534}"/>
              </a:ext>
            </a:extLst>
          </p:cNvPr>
          <p:cNvSpPr/>
          <p:nvPr/>
        </p:nvSpPr>
        <p:spPr>
          <a:xfrm flipV="1">
            <a:off x="481260" y="358140"/>
            <a:ext cx="4974657" cy="861060"/>
          </a:xfrm>
          <a:prstGeom prst="round1Rect">
            <a:avLst>
              <a:gd name="adj" fmla="val 50000"/>
            </a:avLst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just">
              <a:lnSpc>
                <a:spcPct val="150000"/>
              </a:lnSpc>
            </a:pPr>
            <a:endParaRPr lang="en-US" b="1" dirty="0">
              <a:solidFill>
                <a:srgbClr val="FFFFFF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8FB1ABD-7EDF-7AC3-8295-68243FC7015B}"/>
              </a:ext>
            </a:extLst>
          </p:cNvPr>
          <p:cNvSpPr txBox="1"/>
          <p:nvPr/>
        </p:nvSpPr>
        <p:spPr>
          <a:xfrm>
            <a:off x="1342155" y="527060"/>
            <a:ext cx="3252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1"/>
                </a:solidFill>
              </a:rPr>
              <a:t>ACDF steps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92758462-8872-F119-2BD0-765E8E101F9B}"/>
              </a:ext>
            </a:extLst>
          </p:cNvPr>
          <p:cNvSpPr/>
          <p:nvPr/>
        </p:nvSpPr>
        <p:spPr>
          <a:xfrm>
            <a:off x="2059879" y="1770891"/>
            <a:ext cx="9103335" cy="614597"/>
          </a:xfrm>
          <a:prstGeom prst="roundRect">
            <a:avLst/>
          </a:prstGeom>
          <a:gradFill flip="none" rotWithShape="1">
            <a:gsLst>
              <a:gs pos="0">
                <a:srgbClr val="154065">
                  <a:tint val="66000"/>
                  <a:satMod val="160000"/>
                </a:srgbClr>
              </a:gs>
              <a:gs pos="50000">
                <a:srgbClr val="154065">
                  <a:tint val="44500"/>
                  <a:satMod val="160000"/>
                </a:srgbClr>
              </a:gs>
              <a:gs pos="100000">
                <a:srgbClr val="154065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chemeClr val="tx1"/>
                </a:solidFill>
              </a:rPr>
              <a:t>Posizionamento e Preparazione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7754C555-3A81-223F-DA28-25C979F1C8F7}"/>
              </a:ext>
            </a:extLst>
          </p:cNvPr>
          <p:cNvSpPr/>
          <p:nvPr/>
        </p:nvSpPr>
        <p:spPr>
          <a:xfrm>
            <a:off x="990429" y="1773529"/>
            <a:ext cx="1693350" cy="609319"/>
          </a:xfrm>
          <a:prstGeom prst="roundRect">
            <a:avLst/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/>
              <a:t>Fase 1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E83EE601-6F13-EC9D-702B-455EAE1413EE}"/>
              </a:ext>
            </a:extLst>
          </p:cNvPr>
          <p:cNvSpPr/>
          <p:nvPr/>
        </p:nvSpPr>
        <p:spPr>
          <a:xfrm>
            <a:off x="1781988" y="2740255"/>
            <a:ext cx="9381226" cy="614597"/>
          </a:xfrm>
          <a:prstGeom prst="roundRect">
            <a:avLst/>
          </a:prstGeom>
          <a:gradFill flip="none" rotWithShape="1">
            <a:gsLst>
              <a:gs pos="0">
                <a:srgbClr val="154065">
                  <a:tint val="66000"/>
                  <a:satMod val="160000"/>
                </a:srgbClr>
              </a:gs>
              <a:gs pos="50000">
                <a:srgbClr val="154065">
                  <a:tint val="44500"/>
                  <a:satMod val="160000"/>
                </a:srgbClr>
              </a:gs>
              <a:gs pos="100000">
                <a:srgbClr val="154065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chemeClr val="tx1"/>
                </a:solidFill>
              </a:rPr>
              <a:t>Dissezione profonda e accesso mediale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CDA72335-E67F-584F-0BDA-4EF8239E34B8}"/>
              </a:ext>
            </a:extLst>
          </p:cNvPr>
          <p:cNvSpPr/>
          <p:nvPr/>
        </p:nvSpPr>
        <p:spPr>
          <a:xfrm>
            <a:off x="990429" y="2740255"/>
            <a:ext cx="1693350" cy="614597"/>
          </a:xfrm>
          <a:prstGeom prst="roundRect">
            <a:avLst/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/>
              <a:t>Fase 2</a:t>
            </a: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C0911984-450D-659F-4345-5B696CF71F26}"/>
              </a:ext>
            </a:extLst>
          </p:cNvPr>
          <p:cNvSpPr/>
          <p:nvPr/>
        </p:nvSpPr>
        <p:spPr>
          <a:xfrm>
            <a:off x="1781988" y="3709619"/>
            <a:ext cx="9381226" cy="614597"/>
          </a:xfrm>
          <a:prstGeom prst="roundRect">
            <a:avLst/>
          </a:prstGeom>
          <a:gradFill flip="none" rotWithShape="1">
            <a:gsLst>
              <a:gs pos="0">
                <a:srgbClr val="154065">
                  <a:tint val="66000"/>
                  <a:satMod val="160000"/>
                </a:srgbClr>
              </a:gs>
              <a:gs pos="50000">
                <a:srgbClr val="154065">
                  <a:tint val="44500"/>
                  <a:satMod val="160000"/>
                </a:srgbClr>
              </a:gs>
              <a:gs pos="100000">
                <a:srgbClr val="154065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chemeClr val="tx1"/>
                </a:solidFill>
              </a:rPr>
              <a:t>Accesso alla colonna vertebrale</a:t>
            </a: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005E5A10-4B01-E079-DB18-9AC8E2CBF3D0}"/>
              </a:ext>
            </a:extLst>
          </p:cNvPr>
          <p:cNvSpPr/>
          <p:nvPr/>
        </p:nvSpPr>
        <p:spPr>
          <a:xfrm>
            <a:off x="990429" y="3714658"/>
            <a:ext cx="1693350" cy="614597"/>
          </a:xfrm>
          <a:prstGeom prst="roundRect">
            <a:avLst/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/>
              <a:t>Fase 3</a:t>
            </a:r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9498D62C-9E88-483D-7AF0-97633E85D19E}"/>
              </a:ext>
            </a:extLst>
          </p:cNvPr>
          <p:cNvSpPr/>
          <p:nvPr/>
        </p:nvSpPr>
        <p:spPr>
          <a:xfrm>
            <a:off x="1781988" y="4689061"/>
            <a:ext cx="9381226" cy="614597"/>
          </a:xfrm>
          <a:prstGeom prst="roundRect">
            <a:avLst/>
          </a:prstGeom>
          <a:gradFill flip="none" rotWithShape="1">
            <a:gsLst>
              <a:gs pos="0">
                <a:srgbClr val="154065">
                  <a:tint val="66000"/>
                  <a:satMod val="160000"/>
                </a:srgbClr>
              </a:gs>
              <a:gs pos="50000">
                <a:srgbClr val="154065">
                  <a:tint val="44500"/>
                  <a:satMod val="160000"/>
                </a:srgbClr>
              </a:gs>
              <a:gs pos="100000">
                <a:srgbClr val="154065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chemeClr val="tx1"/>
                </a:solidFill>
              </a:rPr>
              <a:t>Rimozione del disco e decompressione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A71FD382-74C2-EB0D-20A1-3E4320C3651D}"/>
              </a:ext>
            </a:extLst>
          </p:cNvPr>
          <p:cNvSpPr/>
          <p:nvPr/>
        </p:nvSpPr>
        <p:spPr>
          <a:xfrm>
            <a:off x="990429" y="4689061"/>
            <a:ext cx="1693350" cy="614597"/>
          </a:xfrm>
          <a:prstGeom prst="roundRect">
            <a:avLst/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/>
              <a:t>Fase 4</a:t>
            </a:r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5B16C47F-7AC2-19E5-046F-A203C3383F74}"/>
              </a:ext>
            </a:extLst>
          </p:cNvPr>
          <p:cNvSpPr/>
          <p:nvPr/>
        </p:nvSpPr>
        <p:spPr>
          <a:xfrm>
            <a:off x="1781988" y="5596421"/>
            <a:ext cx="9381226" cy="614597"/>
          </a:xfrm>
          <a:prstGeom prst="roundRect">
            <a:avLst/>
          </a:prstGeom>
          <a:gradFill flip="none" rotWithShape="1">
            <a:gsLst>
              <a:gs pos="0">
                <a:srgbClr val="154065">
                  <a:tint val="66000"/>
                  <a:satMod val="160000"/>
                </a:srgbClr>
              </a:gs>
              <a:gs pos="50000">
                <a:srgbClr val="154065">
                  <a:tint val="44500"/>
                  <a:satMod val="160000"/>
                </a:srgbClr>
              </a:gs>
              <a:gs pos="100000">
                <a:srgbClr val="154065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chemeClr val="tx1"/>
                </a:solidFill>
              </a:rPr>
              <a:t>Impianto e stabilizzazione</a:t>
            </a:r>
            <a:r>
              <a:rPr lang="it-IT" sz="2000" dirty="0"/>
              <a:t> 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71730343-95D9-41CF-4122-645216FC33AE}"/>
              </a:ext>
            </a:extLst>
          </p:cNvPr>
          <p:cNvSpPr/>
          <p:nvPr/>
        </p:nvSpPr>
        <p:spPr>
          <a:xfrm>
            <a:off x="990429" y="5596421"/>
            <a:ext cx="1693350" cy="614597"/>
          </a:xfrm>
          <a:prstGeom prst="roundRect">
            <a:avLst/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/>
              <a:t>Fase 5</a:t>
            </a:r>
          </a:p>
        </p:txBody>
      </p:sp>
    </p:spTree>
    <p:extLst>
      <p:ext uri="{BB962C8B-B14F-4D97-AF65-F5344CB8AC3E}">
        <p14:creationId xmlns:p14="http://schemas.microsoft.com/office/powerpoint/2010/main" val="294330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9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9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4" grpId="0" animBg="1"/>
      <p:bldP spid="24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un angolo arrotondato 1">
            <a:extLst>
              <a:ext uri="{FF2B5EF4-FFF2-40B4-BE49-F238E27FC236}">
                <a16:creationId xmlns:a16="http://schemas.microsoft.com/office/drawing/2014/main" id="{A0AD5255-29E2-D8FD-7C01-E77475A7E4AC}"/>
              </a:ext>
            </a:extLst>
          </p:cNvPr>
          <p:cNvSpPr/>
          <p:nvPr/>
        </p:nvSpPr>
        <p:spPr>
          <a:xfrm flipV="1">
            <a:off x="359764" y="358139"/>
            <a:ext cx="5404493" cy="841073"/>
          </a:xfrm>
          <a:prstGeom prst="round1Rect">
            <a:avLst>
              <a:gd name="adj" fmla="val 50000"/>
            </a:avLst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just">
              <a:lnSpc>
                <a:spcPct val="150000"/>
              </a:lnSpc>
            </a:pPr>
            <a:endParaRPr lang="en-US" b="1" dirty="0">
              <a:solidFill>
                <a:srgbClr val="FFFFFF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4437C82-CBC9-51F8-DD1E-A0057F66B3FA}"/>
              </a:ext>
            </a:extLst>
          </p:cNvPr>
          <p:cNvSpPr txBox="1"/>
          <p:nvPr/>
        </p:nvSpPr>
        <p:spPr>
          <a:xfrm>
            <a:off x="266344" y="517065"/>
            <a:ext cx="5591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</a:rPr>
              <a:t>Posizionamento  e  Preparazione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ABBBD80-59AA-822F-99FF-44183B46C603}"/>
              </a:ext>
            </a:extLst>
          </p:cNvPr>
          <p:cNvSpPr txBox="1"/>
          <p:nvPr/>
        </p:nvSpPr>
        <p:spPr>
          <a:xfrm>
            <a:off x="568739" y="1358138"/>
            <a:ext cx="67940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Per simulare l’intervento è necessario disporre in posizione supina il  </a:t>
            </a:r>
            <a:r>
              <a:rPr lang="it-IT" b="1" dirty="0" err="1"/>
              <a:t>phantom</a:t>
            </a:r>
            <a:r>
              <a:rPr lang="it-IT" b="1" dirty="0"/>
              <a:t> del collo.</a:t>
            </a:r>
          </a:p>
          <a:p>
            <a:endParaRPr lang="it-IT" b="1" dirty="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F2123625-0B4C-D225-AE89-62690142815F}"/>
              </a:ext>
            </a:extLst>
          </p:cNvPr>
          <p:cNvCxnSpPr>
            <a:cxnSpLocks/>
          </p:cNvCxnSpPr>
          <p:nvPr/>
        </p:nvCxnSpPr>
        <p:spPr>
          <a:xfrm>
            <a:off x="7255240" y="1588958"/>
            <a:ext cx="1304144" cy="0"/>
          </a:xfrm>
          <a:prstGeom prst="straightConnector1">
            <a:avLst/>
          </a:prstGeom>
          <a:ln w="571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" name="Immagine 12" descr="Immagine che contiene tutore&#10;&#10;Il contenuto generato dall'IA potrebbe non essere corretto.">
            <a:extLst>
              <a:ext uri="{FF2B5EF4-FFF2-40B4-BE49-F238E27FC236}">
                <a16:creationId xmlns:a16="http://schemas.microsoft.com/office/drawing/2014/main" id="{343191EA-D8B2-D31F-0C01-5BA1A66BC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625" y="336436"/>
            <a:ext cx="3134611" cy="3887248"/>
          </a:xfrm>
          <a:prstGeom prst="rect">
            <a:avLst/>
          </a:prstGeom>
        </p:spPr>
      </p:pic>
      <p:pic>
        <p:nvPicPr>
          <p:cNvPr id="20" name="Elemento grafico 19" descr="Segno di spunta con riempimento a tinta unita">
            <a:extLst>
              <a:ext uri="{FF2B5EF4-FFF2-40B4-BE49-F238E27FC236}">
                <a16:creationId xmlns:a16="http://schemas.microsoft.com/office/drawing/2014/main" id="{EC52FD8E-1D79-17F8-8E4A-68151940D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891" y="1358138"/>
            <a:ext cx="389746" cy="389746"/>
          </a:xfrm>
          <a:prstGeom prst="rect">
            <a:avLst/>
          </a:prstGeom>
        </p:spPr>
      </p:pic>
      <p:pic>
        <p:nvPicPr>
          <p:cNvPr id="21" name="Elemento grafico 20" descr="Segno di spunta con riempimento a tinta unita">
            <a:extLst>
              <a:ext uri="{FF2B5EF4-FFF2-40B4-BE49-F238E27FC236}">
                <a16:creationId xmlns:a16="http://schemas.microsoft.com/office/drawing/2014/main" id="{EA8B8203-CFCD-8098-ACF8-25958B5DB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5769" y="4816626"/>
            <a:ext cx="389746" cy="389746"/>
          </a:xfrm>
          <a:prstGeom prst="rect">
            <a:avLst/>
          </a:prstGeom>
        </p:spPr>
      </p:pic>
      <p:pic>
        <p:nvPicPr>
          <p:cNvPr id="29" name="Immagine 28" descr="Immagine che contiene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F57F8F8F-1806-2E9E-6823-74811796BC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956" y="2318975"/>
            <a:ext cx="3274794" cy="4143414"/>
          </a:xfrm>
          <a:prstGeom prst="rect">
            <a:avLst/>
          </a:prstGeom>
        </p:spPr>
      </p:pic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6953F5ED-0E10-1C65-C3D0-30914323D09D}"/>
              </a:ext>
            </a:extLst>
          </p:cNvPr>
          <p:cNvSpPr txBox="1"/>
          <p:nvPr/>
        </p:nvSpPr>
        <p:spPr>
          <a:xfrm>
            <a:off x="6835515" y="4816626"/>
            <a:ext cx="53564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Identificare e segnare con un colore  il livello vertebrale sul quale procedere l’operazione</a:t>
            </a:r>
            <a:r>
              <a:rPr lang="it-IT" dirty="0"/>
              <a:t>.</a:t>
            </a:r>
          </a:p>
          <a:p>
            <a:endParaRPr lang="it-IT" dirty="0"/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6060DDB0-4B5E-F471-B9F5-3A5AAAD9CB8B}"/>
              </a:ext>
            </a:extLst>
          </p:cNvPr>
          <p:cNvCxnSpPr>
            <a:cxnSpLocks/>
          </p:cNvCxnSpPr>
          <p:nvPr/>
        </p:nvCxnSpPr>
        <p:spPr>
          <a:xfrm flipH="1">
            <a:off x="4744812" y="5004973"/>
            <a:ext cx="1311640" cy="6526"/>
          </a:xfrm>
          <a:prstGeom prst="straightConnector1">
            <a:avLst/>
          </a:prstGeom>
          <a:ln w="571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29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un angolo arrotondato 1">
            <a:extLst>
              <a:ext uri="{FF2B5EF4-FFF2-40B4-BE49-F238E27FC236}">
                <a16:creationId xmlns:a16="http://schemas.microsoft.com/office/drawing/2014/main" id="{3D2B098B-3E87-47F7-9905-B22D06B58957}"/>
              </a:ext>
            </a:extLst>
          </p:cNvPr>
          <p:cNvSpPr/>
          <p:nvPr/>
        </p:nvSpPr>
        <p:spPr>
          <a:xfrm flipV="1">
            <a:off x="359764" y="358138"/>
            <a:ext cx="7060367" cy="841073"/>
          </a:xfrm>
          <a:prstGeom prst="round1Rect">
            <a:avLst>
              <a:gd name="adj" fmla="val 50000"/>
            </a:avLst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just">
              <a:lnSpc>
                <a:spcPct val="150000"/>
              </a:lnSpc>
            </a:pPr>
            <a:endParaRPr lang="en-US" b="1" dirty="0">
              <a:solidFill>
                <a:srgbClr val="FFFFFF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55901C-ECB4-8AF6-0731-864171D2FA0C}"/>
              </a:ext>
            </a:extLst>
          </p:cNvPr>
          <p:cNvSpPr txBox="1"/>
          <p:nvPr/>
        </p:nvSpPr>
        <p:spPr>
          <a:xfrm>
            <a:off x="427219" y="508041"/>
            <a:ext cx="692545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1"/>
                </a:solidFill>
              </a:rPr>
              <a:t>Dissezione profonda e accesso mediale</a:t>
            </a:r>
          </a:p>
          <a:p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EA55A2E-206A-46C7-0FC6-C7B4BAA7A1DA}"/>
              </a:ext>
            </a:extLst>
          </p:cNvPr>
          <p:cNvSpPr txBox="1"/>
          <p:nvPr/>
        </p:nvSpPr>
        <p:spPr>
          <a:xfrm>
            <a:off x="359764" y="1349114"/>
            <a:ext cx="7532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Nella seconda fase accediamo e spostiamo i muscoli a sinistra e destra per accedere alla colonna vertebrale:</a:t>
            </a:r>
          </a:p>
        </p:txBody>
      </p:sp>
      <p:pic>
        <p:nvPicPr>
          <p:cNvPr id="11" name="Elemento grafico 10" descr="Segno di spunta con riempimento a tinta unita">
            <a:extLst>
              <a:ext uri="{FF2B5EF4-FFF2-40B4-BE49-F238E27FC236}">
                <a16:creationId xmlns:a16="http://schemas.microsoft.com/office/drawing/2014/main" id="{C9428826-D572-B5B0-3618-F2FC44F93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7219" y="2087778"/>
            <a:ext cx="389746" cy="38974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8502C68-7F15-82F4-0B65-AEFE82FA9D55}"/>
              </a:ext>
            </a:extLst>
          </p:cNvPr>
          <p:cNvSpPr txBox="1"/>
          <p:nvPr/>
        </p:nvSpPr>
        <p:spPr>
          <a:xfrm>
            <a:off x="816965" y="2097985"/>
            <a:ext cx="8207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Identificare e retrarre il muscolo sternocleidomastoideo (SCM) </a:t>
            </a:r>
          </a:p>
          <a:p>
            <a:r>
              <a:rPr lang="it-IT" b="1" dirty="0"/>
              <a:t>lateralmente. </a:t>
            </a:r>
            <a:endParaRPr lang="it-IT" dirty="0"/>
          </a:p>
        </p:txBody>
      </p:sp>
      <p:pic>
        <p:nvPicPr>
          <p:cNvPr id="14" name="Immagine 13" descr="Immagine che contiene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09A7C329-434A-84B8-575F-A039FA6A23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350" y="2744316"/>
            <a:ext cx="2773181" cy="3741683"/>
          </a:xfrm>
          <a:prstGeom prst="rect">
            <a:avLst/>
          </a:prstGeom>
        </p:spPr>
      </p:pic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C8F0D772-72FE-2AB0-CB03-0181A8F4A421}"/>
              </a:ext>
            </a:extLst>
          </p:cNvPr>
          <p:cNvCxnSpPr>
            <a:cxnSpLocks/>
          </p:cNvCxnSpPr>
          <p:nvPr/>
        </p:nvCxnSpPr>
        <p:spPr>
          <a:xfrm>
            <a:off x="5336498" y="4585177"/>
            <a:ext cx="2555824" cy="0"/>
          </a:xfrm>
          <a:prstGeom prst="straightConnector1">
            <a:avLst/>
          </a:prstGeom>
          <a:ln w="571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0" name="Immagine 19" descr="Immagine che contiene cartone animato, scivolo, rosso&#10;&#10;Il contenuto generato dall'IA potrebbe non essere corretto.">
            <a:extLst>
              <a:ext uri="{FF2B5EF4-FFF2-40B4-BE49-F238E27FC236}">
                <a16:creationId xmlns:a16="http://schemas.microsoft.com/office/drawing/2014/main" id="{558B6529-6B5B-E53B-BA6A-2D2B8476B7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801" y="2677869"/>
            <a:ext cx="2367662" cy="380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11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5C753041-8209-75FD-7BA3-9DAF7AF192CE}"/>
              </a:ext>
            </a:extLst>
          </p:cNvPr>
          <p:cNvSpPr txBox="1"/>
          <p:nvPr/>
        </p:nvSpPr>
        <p:spPr>
          <a:xfrm>
            <a:off x="980420" y="404735"/>
            <a:ext cx="6970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Nonostante la loro rigidità è necessario retrarre con attenzione i muscoli </a:t>
            </a:r>
            <a:r>
              <a:rPr lang="it-IT" b="1" dirty="0" err="1"/>
              <a:t>infrahioidei</a:t>
            </a:r>
            <a:r>
              <a:rPr lang="it-IT" b="1" dirty="0"/>
              <a:t> (</a:t>
            </a:r>
            <a:r>
              <a:rPr lang="it-IT" b="1" dirty="0" err="1"/>
              <a:t>omoioidei</a:t>
            </a:r>
            <a:r>
              <a:rPr lang="it-IT" b="1" dirty="0"/>
              <a:t> )  se presenti nel campo per evitare collisioni con strumenti/mani del chirurgo.</a:t>
            </a:r>
          </a:p>
        </p:txBody>
      </p:sp>
      <p:pic>
        <p:nvPicPr>
          <p:cNvPr id="8" name="Elemento grafico 7" descr="Segno di spunta con riempimento a tinta unita">
            <a:extLst>
              <a:ext uri="{FF2B5EF4-FFF2-40B4-BE49-F238E27FC236}">
                <a16:creationId xmlns:a16="http://schemas.microsoft.com/office/drawing/2014/main" id="{E4EED52E-8F80-EDFC-2C96-DA6B29A8D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674" y="404735"/>
            <a:ext cx="389746" cy="389746"/>
          </a:xfrm>
          <a:prstGeom prst="rect">
            <a:avLst/>
          </a:prstGeom>
        </p:spPr>
      </p:pic>
      <p:pic>
        <p:nvPicPr>
          <p:cNvPr id="10" name="Immagine 9" descr="Immagine che contiene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1DFCB846-6536-201B-7272-F84CB59A5C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20" y="1549674"/>
            <a:ext cx="3176479" cy="4601967"/>
          </a:xfrm>
          <a:prstGeom prst="rect">
            <a:avLst/>
          </a:prstGeom>
        </p:spPr>
      </p:pic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D8AED7D8-430A-1E08-9301-8315666E7FED}"/>
              </a:ext>
            </a:extLst>
          </p:cNvPr>
          <p:cNvCxnSpPr>
            <a:cxnSpLocks/>
          </p:cNvCxnSpPr>
          <p:nvPr/>
        </p:nvCxnSpPr>
        <p:spPr>
          <a:xfrm>
            <a:off x="4465633" y="3850657"/>
            <a:ext cx="2133974" cy="0"/>
          </a:xfrm>
          <a:prstGeom prst="straightConnector1">
            <a:avLst/>
          </a:prstGeom>
          <a:ln w="571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4" name="Immagine 13" descr="Immagine che contiene cartone animato, arte&#10;&#10;Il contenuto generato dall'IA potrebbe non essere corretto.">
            <a:extLst>
              <a:ext uri="{FF2B5EF4-FFF2-40B4-BE49-F238E27FC236}">
                <a16:creationId xmlns:a16="http://schemas.microsoft.com/office/drawing/2014/main" id="{A4927D3B-59FB-6CFA-3CC3-DB0158DE39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948" y="1534043"/>
            <a:ext cx="3359303" cy="461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69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CA28BF27-ADB7-6D49-6530-179C1A23C872}"/>
              </a:ext>
            </a:extLst>
          </p:cNvPr>
          <p:cNvSpPr txBox="1"/>
          <p:nvPr/>
        </p:nvSpPr>
        <p:spPr>
          <a:xfrm>
            <a:off x="614598" y="115778"/>
            <a:ext cx="52415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Procedendo in profondità è necessario retrarre vasi del collo lateralmente: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Arteria carotide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Vena Giugulare.</a:t>
            </a:r>
          </a:p>
          <a:p>
            <a:endParaRPr lang="it-IT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B6E606B-45A6-E5B5-534E-9C8DC16F21BA}"/>
              </a:ext>
            </a:extLst>
          </p:cNvPr>
          <p:cNvSpPr txBox="1"/>
          <p:nvPr/>
        </p:nvSpPr>
        <p:spPr>
          <a:xfrm>
            <a:off x="6335843" y="182358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Nervo Laringeo deve essere protetto (lato destro è più vulnerabile.</a:t>
            </a:r>
          </a:p>
        </p:txBody>
      </p:sp>
      <p:pic>
        <p:nvPicPr>
          <p:cNvPr id="6" name="Elemento grafico 5" descr="Segno di spunta con riempimento a tinta unita">
            <a:extLst>
              <a:ext uri="{FF2B5EF4-FFF2-40B4-BE49-F238E27FC236}">
                <a16:creationId xmlns:a16="http://schemas.microsoft.com/office/drawing/2014/main" id="{C378C91D-0589-A9B9-A4C6-095B477A6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823" y="115778"/>
            <a:ext cx="389746" cy="389746"/>
          </a:xfrm>
          <a:prstGeom prst="rect">
            <a:avLst/>
          </a:prstGeom>
        </p:spPr>
      </p:pic>
      <p:pic>
        <p:nvPicPr>
          <p:cNvPr id="7" name="Elemento grafico 6" descr="Segno di spunta con riempimento a tinta unita">
            <a:extLst>
              <a:ext uri="{FF2B5EF4-FFF2-40B4-BE49-F238E27FC236}">
                <a16:creationId xmlns:a16="http://schemas.microsoft.com/office/drawing/2014/main" id="{38AD6ED9-A14E-4A64-64DF-8EAEF3379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6097" y="182358"/>
            <a:ext cx="389746" cy="389746"/>
          </a:xfrm>
          <a:prstGeom prst="rect">
            <a:avLst/>
          </a:prstGeom>
        </p:spPr>
      </p:pic>
      <p:pic>
        <p:nvPicPr>
          <p:cNvPr id="13" name="Immagine 12" descr="Immagine che contiene parco giochi, scivolo, arte&#10;&#10;Il contenuto generato dall'IA potrebbe non essere corretto.">
            <a:extLst>
              <a:ext uri="{FF2B5EF4-FFF2-40B4-BE49-F238E27FC236}">
                <a16:creationId xmlns:a16="http://schemas.microsoft.com/office/drawing/2014/main" id="{A6763137-A88D-4247-1BA3-84E770B9D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489" y="1593107"/>
            <a:ext cx="3402143" cy="4717752"/>
          </a:xfrm>
          <a:prstGeom prst="rect">
            <a:avLst/>
          </a:prstGeom>
        </p:spPr>
      </p:pic>
      <p:pic>
        <p:nvPicPr>
          <p:cNvPr id="23" name="Immagine 22" descr="Immagine che contiene scivolo, arte&#10;&#10;Il contenuto generato dall'IA potrebbe non essere corretto.">
            <a:extLst>
              <a:ext uri="{FF2B5EF4-FFF2-40B4-BE49-F238E27FC236}">
                <a16:creationId xmlns:a16="http://schemas.microsoft.com/office/drawing/2014/main" id="{36C0F2AA-5590-1C03-26A8-26689B3DFA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114" y="1593106"/>
            <a:ext cx="3402144" cy="4717753"/>
          </a:xfrm>
          <a:prstGeom prst="rect">
            <a:avLst/>
          </a:prstGeom>
        </p:spPr>
      </p:pic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38903DEE-026E-5DDD-2E98-4F0417AF0CB9}"/>
              </a:ext>
            </a:extLst>
          </p:cNvPr>
          <p:cNvCxnSpPr>
            <a:cxnSpLocks/>
          </p:cNvCxnSpPr>
          <p:nvPr/>
        </p:nvCxnSpPr>
        <p:spPr>
          <a:xfrm>
            <a:off x="5231567" y="4090501"/>
            <a:ext cx="1351612" cy="0"/>
          </a:xfrm>
          <a:prstGeom prst="straightConnector1">
            <a:avLst/>
          </a:prstGeom>
          <a:ln w="571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64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un angolo arrotondato 1">
            <a:extLst>
              <a:ext uri="{FF2B5EF4-FFF2-40B4-BE49-F238E27FC236}">
                <a16:creationId xmlns:a16="http://schemas.microsoft.com/office/drawing/2014/main" id="{2D19966E-CAA4-F53C-BB91-B530F210B784}"/>
              </a:ext>
            </a:extLst>
          </p:cNvPr>
          <p:cNvSpPr/>
          <p:nvPr/>
        </p:nvSpPr>
        <p:spPr>
          <a:xfrm flipV="1">
            <a:off x="359764" y="358139"/>
            <a:ext cx="5404493" cy="841073"/>
          </a:xfrm>
          <a:prstGeom prst="round1Rect">
            <a:avLst>
              <a:gd name="adj" fmla="val 50000"/>
            </a:avLst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just">
              <a:lnSpc>
                <a:spcPct val="150000"/>
              </a:lnSpc>
            </a:pPr>
            <a:endParaRPr lang="en-US" b="1" dirty="0">
              <a:solidFill>
                <a:srgbClr val="FFFFFF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B746C03-F245-421D-8BDF-4D05794FF968}"/>
              </a:ext>
            </a:extLst>
          </p:cNvPr>
          <p:cNvSpPr txBox="1"/>
          <p:nvPr/>
        </p:nvSpPr>
        <p:spPr>
          <a:xfrm>
            <a:off x="359764" y="517065"/>
            <a:ext cx="5849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1"/>
                </a:solidFill>
              </a:rPr>
              <a:t>Accesso alla colonna vertebrale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AFDDE47-BE82-5FCA-CDE3-7995E9F228B1}"/>
              </a:ext>
            </a:extLst>
          </p:cNvPr>
          <p:cNvSpPr txBox="1"/>
          <p:nvPr/>
        </p:nvSpPr>
        <p:spPr>
          <a:xfrm>
            <a:off x="2530705" y="1288565"/>
            <a:ext cx="7130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L’ultima fase preliminare prima di esportare l’ernia è esporre più possibile i corpi vertebrali  e il disco intervertebrale: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B3720DA-B756-7E51-A63F-1D236C614A4F}"/>
              </a:ext>
            </a:extLst>
          </p:cNvPr>
          <p:cNvSpPr txBox="1"/>
          <p:nvPr/>
        </p:nvSpPr>
        <p:spPr>
          <a:xfrm>
            <a:off x="2717507" y="2024249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Isolare e retrarre il flessori spinale destro e sinistro</a:t>
            </a:r>
          </a:p>
        </p:txBody>
      </p:sp>
      <p:pic>
        <p:nvPicPr>
          <p:cNvPr id="10" name="Elemento grafico 9" descr="Segno di spunta con riempimento a tinta unita">
            <a:extLst>
              <a:ext uri="{FF2B5EF4-FFF2-40B4-BE49-F238E27FC236}">
                <a16:creationId xmlns:a16="http://schemas.microsoft.com/office/drawing/2014/main" id="{6B7C0D96-7C8A-1B65-14ED-ACFAC6523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35832" y="2024249"/>
            <a:ext cx="389746" cy="389746"/>
          </a:xfrm>
          <a:prstGeom prst="rect">
            <a:avLst/>
          </a:prstGeom>
        </p:spPr>
      </p:pic>
      <p:pic>
        <p:nvPicPr>
          <p:cNvPr id="12" name="Immagine 11" descr="Immagine che contiene torta di compleanno, cartone animato, cibo, torta&#10;&#10;Il contenuto generato dall'IA potrebbe non essere corretto.">
            <a:extLst>
              <a:ext uri="{FF2B5EF4-FFF2-40B4-BE49-F238E27FC236}">
                <a16:creationId xmlns:a16="http://schemas.microsoft.com/office/drawing/2014/main" id="{62787272-D0F9-C9FC-A80D-62273FB0F2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618" y="2482934"/>
            <a:ext cx="2922783" cy="4251321"/>
          </a:xfrm>
          <a:prstGeom prst="rect">
            <a:avLst/>
          </a:prstGeom>
        </p:spPr>
      </p:pic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B88299DA-6F54-083E-EE82-027FCFCB32B3}"/>
              </a:ext>
            </a:extLst>
          </p:cNvPr>
          <p:cNvCxnSpPr>
            <a:cxnSpLocks/>
          </p:cNvCxnSpPr>
          <p:nvPr/>
        </p:nvCxnSpPr>
        <p:spPr>
          <a:xfrm>
            <a:off x="4962457" y="4540692"/>
            <a:ext cx="1921508" cy="0"/>
          </a:xfrm>
          <a:prstGeom prst="straightConnector1">
            <a:avLst/>
          </a:prstGeom>
          <a:ln w="571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6" name="Immagine 15" descr="Immagine che contiene torta di compleanno, torta&#10;&#10;Il contenuto generato dall'IA potrebbe non essere corretto.">
            <a:extLst>
              <a:ext uri="{FF2B5EF4-FFF2-40B4-BE49-F238E27FC236}">
                <a16:creationId xmlns:a16="http://schemas.microsoft.com/office/drawing/2014/main" id="{FA0812CA-F5CE-77AE-1460-055E77EE62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7003" y="2482938"/>
            <a:ext cx="3008007" cy="425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78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un angolo arrotondato 1">
            <a:extLst>
              <a:ext uri="{FF2B5EF4-FFF2-40B4-BE49-F238E27FC236}">
                <a16:creationId xmlns:a16="http://schemas.microsoft.com/office/drawing/2014/main" id="{F0B382F5-E3E5-BA06-4E1B-09BF16A51C8D}"/>
              </a:ext>
            </a:extLst>
          </p:cNvPr>
          <p:cNvSpPr/>
          <p:nvPr/>
        </p:nvSpPr>
        <p:spPr>
          <a:xfrm flipV="1">
            <a:off x="434716" y="388117"/>
            <a:ext cx="6700602" cy="841073"/>
          </a:xfrm>
          <a:prstGeom prst="round1Rect">
            <a:avLst>
              <a:gd name="adj" fmla="val 50000"/>
            </a:avLst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just">
              <a:lnSpc>
                <a:spcPct val="150000"/>
              </a:lnSpc>
            </a:pPr>
            <a:endParaRPr lang="en-US" b="1" dirty="0">
              <a:solidFill>
                <a:srgbClr val="FFFFFF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10FA0BC-4EB4-7ADA-85A7-A8F4F6D15378}"/>
              </a:ext>
            </a:extLst>
          </p:cNvPr>
          <p:cNvSpPr txBox="1"/>
          <p:nvPr/>
        </p:nvSpPr>
        <p:spPr>
          <a:xfrm>
            <a:off x="434716" y="547044"/>
            <a:ext cx="6700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1"/>
                </a:solidFill>
              </a:rPr>
              <a:t>Rimozione del disco e decompressione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C7132EE-BB2F-723F-3B73-94AB729F84E3}"/>
              </a:ext>
            </a:extLst>
          </p:cNvPr>
          <p:cNvSpPr txBox="1"/>
          <p:nvPr/>
        </p:nvSpPr>
        <p:spPr>
          <a:xfrm>
            <a:off x="1183574" y="1566264"/>
            <a:ext cx="9824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Siamo giunti alla fase core dell’intervento, in cui è necessario rimuovere il disco intervertebrale e il legamento longitudinale seguendo asportazione totale. 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867E7FA-6420-DB2F-DD60-7E3AC47C1BE5}"/>
              </a:ext>
            </a:extLst>
          </p:cNvPr>
          <p:cNvSpPr txBox="1"/>
          <p:nvPr/>
        </p:nvSpPr>
        <p:spPr>
          <a:xfrm>
            <a:off x="434716" y="3705796"/>
            <a:ext cx="2933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Gestione legamento longitudinale: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080317D-12B9-BC1A-098E-06C70F972C12}"/>
              </a:ext>
            </a:extLst>
          </p:cNvPr>
          <p:cNvSpPr/>
          <p:nvPr/>
        </p:nvSpPr>
        <p:spPr>
          <a:xfrm>
            <a:off x="3751291" y="3072720"/>
            <a:ext cx="2338465" cy="39199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u="sng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9BB8A5C-3D04-4DD9-F059-E634E50875E4}"/>
              </a:ext>
            </a:extLst>
          </p:cNvPr>
          <p:cNvSpPr txBox="1"/>
          <p:nvPr/>
        </p:nvSpPr>
        <p:spPr>
          <a:xfrm>
            <a:off x="3735051" y="3079254"/>
            <a:ext cx="2338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Asportazione Totale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CFAB8738-8972-CF5A-B8A1-EC53E626F0FC}"/>
              </a:ext>
            </a:extLst>
          </p:cNvPr>
          <p:cNvSpPr/>
          <p:nvPr/>
        </p:nvSpPr>
        <p:spPr>
          <a:xfrm>
            <a:off x="3757536" y="4493393"/>
            <a:ext cx="2403423" cy="39199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u="sng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9F3C97C-3529-E9E2-5272-FF8B45F56D92}"/>
              </a:ext>
            </a:extLst>
          </p:cNvPr>
          <p:cNvSpPr txBox="1"/>
          <p:nvPr/>
        </p:nvSpPr>
        <p:spPr>
          <a:xfrm>
            <a:off x="3735050" y="4492007"/>
            <a:ext cx="265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Asportazione Parziale</a:t>
            </a:r>
          </a:p>
        </p:txBody>
      </p:sp>
      <p:cxnSp>
        <p:nvCxnSpPr>
          <p:cNvPr id="26" name="Connettore a gomito 25">
            <a:extLst>
              <a:ext uri="{FF2B5EF4-FFF2-40B4-BE49-F238E27FC236}">
                <a16:creationId xmlns:a16="http://schemas.microsoft.com/office/drawing/2014/main" id="{0F96F36A-A196-05DC-5F26-D5FB3500716D}"/>
              </a:ext>
            </a:extLst>
          </p:cNvPr>
          <p:cNvCxnSpPr>
            <a:cxnSpLocks/>
            <a:stCxn id="3" idx="2"/>
            <a:endCxn id="16" idx="1"/>
          </p:cNvCxnSpPr>
          <p:nvPr/>
        </p:nvCxnSpPr>
        <p:spPr>
          <a:xfrm rot="16200000" flipH="1">
            <a:off x="2655879" y="3597502"/>
            <a:ext cx="324546" cy="1833795"/>
          </a:xfrm>
          <a:prstGeom prst="bentConnector2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a gomito 27">
            <a:extLst>
              <a:ext uri="{FF2B5EF4-FFF2-40B4-BE49-F238E27FC236}">
                <a16:creationId xmlns:a16="http://schemas.microsoft.com/office/drawing/2014/main" id="{4CBAC07C-CC64-FF83-A2AF-E230A886B314}"/>
              </a:ext>
            </a:extLst>
          </p:cNvPr>
          <p:cNvCxnSpPr>
            <a:cxnSpLocks/>
            <a:stCxn id="3" idx="0"/>
          </p:cNvCxnSpPr>
          <p:nvPr/>
        </p:nvCxnSpPr>
        <p:spPr>
          <a:xfrm rot="5400000" flipH="1" flipV="1">
            <a:off x="2596101" y="2558098"/>
            <a:ext cx="452852" cy="1842544"/>
          </a:xfrm>
          <a:prstGeom prst="bentConnector2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Elemento grafico 53" descr="Segno di spunta con riempimento a tinta unita">
            <a:extLst>
              <a:ext uri="{FF2B5EF4-FFF2-40B4-BE49-F238E27FC236}">
                <a16:creationId xmlns:a16="http://schemas.microsoft.com/office/drawing/2014/main" id="{E2452178-880B-A011-040E-75FDA29E6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828" y="1625351"/>
            <a:ext cx="389746" cy="389746"/>
          </a:xfrm>
          <a:prstGeom prst="rect">
            <a:avLst/>
          </a:prstGeom>
        </p:spPr>
      </p:pic>
      <p:graphicFrame>
        <p:nvGraphicFramePr>
          <p:cNvPr id="59" name="Diagramma 58">
            <a:extLst>
              <a:ext uri="{FF2B5EF4-FFF2-40B4-BE49-F238E27FC236}">
                <a16:creationId xmlns:a16="http://schemas.microsoft.com/office/drawing/2014/main" id="{68B9B562-94B5-D49E-27A9-54830454A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3290609"/>
              </p:ext>
            </p:extLst>
          </p:nvPr>
        </p:nvGraphicFramePr>
        <p:xfrm>
          <a:off x="6866693" y="2708596"/>
          <a:ext cx="5325307" cy="3287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12212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17" grpId="0" animBg="1"/>
      <p:bldP spid="15" grpId="0"/>
      <p:bldP spid="19" grpId="0" animBg="1"/>
      <p:bldP spid="16" grpId="0"/>
      <p:bldGraphic spid="59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ma 4">
            <a:extLst>
              <a:ext uri="{FF2B5EF4-FFF2-40B4-BE49-F238E27FC236}">
                <a16:creationId xmlns:a16="http://schemas.microsoft.com/office/drawing/2014/main" id="{A352E1AA-7B91-CD4A-4FAC-A942A498F9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1261894"/>
              </p:ext>
            </p:extLst>
          </p:nvPr>
        </p:nvGraphicFramePr>
        <p:xfrm>
          <a:off x="425439" y="231372"/>
          <a:ext cx="6465279" cy="40109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8" name="Diagramma 17">
            <a:extLst>
              <a:ext uri="{FF2B5EF4-FFF2-40B4-BE49-F238E27FC236}">
                <a16:creationId xmlns:a16="http://schemas.microsoft.com/office/drawing/2014/main" id="{FB3AF318-B78B-4744-8161-559427FD50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8512820"/>
              </p:ext>
            </p:extLst>
          </p:nvPr>
        </p:nvGraphicFramePr>
        <p:xfrm>
          <a:off x="425438" y="3636443"/>
          <a:ext cx="6465279" cy="40109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24" name="Immagine 23" descr="Immagine che contiene arte&#10;&#10;Il contenuto generato dall'IA potrebbe non essere corretto.">
            <a:extLst>
              <a:ext uri="{FF2B5EF4-FFF2-40B4-BE49-F238E27FC236}">
                <a16:creationId xmlns:a16="http://schemas.microsoft.com/office/drawing/2014/main" id="{DBE195C9-FF87-D55C-8B3E-80002978881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482" y="1218038"/>
            <a:ext cx="3519096" cy="4235370"/>
          </a:xfrm>
          <a:prstGeom prst="rect">
            <a:avLst/>
          </a:prstGeom>
        </p:spPr>
      </p:pic>
      <p:sp>
        <p:nvSpPr>
          <p:cNvPr id="37" name="Ovale 36">
            <a:extLst>
              <a:ext uri="{FF2B5EF4-FFF2-40B4-BE49-F238E27FC236}">
                <a16:creationId xmlns:a16="http://schemas.microsoft.com/office/drawing/2014/main" id="{38338C37-0D25-814C-EB26-963E430833DF}"/>
              </a:ext>
            </a:extLst>
          </p:cNvPr>
          <p:cNvSpPr/>
          <p:nvPr/>
        </p:nvSpPr>
        <p:spPr>
          <a:xfrm>
            <a:off x="6538448" y="3035003"/>
            <a:ext cx="704538" cy="60144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/>
              <a:t>+</a:t>
            </a:r>
          </a:p>
        </p:txBody>
      </p: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38201902-041C-A68D-2998-D5BD01D22A0E}"/>
              </a:ext>
            </a:extLst>
          </p:cNvPr>
          <p:cNvCxnSpPr>
            <a:cxnSpLocks/>
            <a:endCxn id="37" idx="4"/>
          </p:cNvCxnSpPr>
          <p:nvPr/>
        </p:nvCxnSpPr>
        <p:spPr>
          <a:xfrm flipV="1">
            <a:off x="6220918" y="3636443"/>
            <a:ext cx="669799" cy="1520173"/>
          </a:xfrm>
          <a:prstGeom prst="straightConnector1">
            <a:avLst/>
          </a:prstGeom>
          <a:ln w="57150">
            <a:solidFill>
              <a:schemeClr val="tx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5A18ECE1-7B96-FD5C-F28F-21368FB966E0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5706853" y="2053652"/>
            <a:ext cx="1183864" cy="981351"/>
          </a:xfrm>
          <a:prstGeom prst="straightConnector1">
            <a:avLst/>
          </a:prstGeom>
          <a:ln w="57150">
            <a:solidFill>
              <a:schemeClr val="tx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2 61">
            <a:extLst>
              <a:ext uri="{FF2B5EF4-FFF2-40B4-BE49-F238E27FC236}">
                <a16:creationId xmlns:a16="http://schemas.microsoft.com/office/drawing/2014/main" id="{1BA684E8-6BE8-BBD3-D54A-D1B6C4E30BFF}"/>
              </a:ext>
            </a:extLst>
          </p:cNvPr>
          <p:cNvCxnSpPr>
            <a:cxnSpLocks/>
          </p:cNvCxnSpPr>
          <p:nvPr/>
        </p:nvCxnSpPr>
        <p:spPr>
          <a:xfrm>
            <a:off x="7242986" y="3316804"/>
            <a:ext cx="1166496" cy="0"/>
          </a:xfrm>
          <a:prstGeom prst="straightConnector1">
            <a:avLst/>
          </a:prstGeom>
          <a:ln w="571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7" name="Fumetto: ovale 66">
            <a:extLst>
              <a:ext uri="{FF2B5EF4-FFF2-40B4-BE49-F238E27FC236}">
                <a16:creationId xmlns:a16="http://schemas.microsoft.com/office/drawing/2014/main" id="{EE20CEB9-15C5-6935-A8A6-C087879E888C}"/>
              </a:ext>
            </a:extLst>
          </p:cNvPr>
          <p:cNvSpPr/>
          <p:nvPr/>
        </p:nvSpPr>
        <p:spPr>
          <a:xfrm rot="7123336">
            <a:off x="9904641" y="-77456"/>
            <a:ext cx="1774074" cy="1777866"/>
          </a:xfrm>
          <a:prstGeom prst="wedgeEllipseCallout">
            <a:avLst>
              <a:gd name="adj1" fmla="val 149156"/>
              <a:gd name="adj2" fmla="val -18978"/>
            </a:avLst>
          </a:prstGeom>
          <a:solidFill>
            <a:schemeClr val="tx2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C25E6B1E-1EF0-0495-3497-1619CB5E5EA1}"/>
              </a:ext>
            </a:extLst>
          </p:cNvPr>
          <p:cNvSpPr txBox="1"/>
          <p:nvPr/>
        </p:nvSpPr>
        <p:spPr>
          <a:xfrm>
            <a:off x="9585841" y="294708"/>
            <a:ext cx="2411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Disco </a:t>
            </a:r>
          </a:p>
          <a:p>
            <a:pPr algn="ctr"/>
            <a:r>
              <a:rPr lang="it-IT" b="1" dirty="0">
                <a:solidFill>
                  <a:schemeClr val="bg1"/>
                </a:solidFill>
              </a:rPr>
              <a:t>Intervertebrale</a:t>
            </a:r>
          </a:p>
          <a:p>
            <a:pPr algn="ctr"/>
            <a:r>
              <a:rPr lang="it-IT" b="1" dirty="0">
                <a:solidFill>
                  <a:schemeClr val="bg1"/>
                </a:solidFill>
              </a:rPr>
              <a:t>rimosso al click</a:t>
            </a:r>
          </a:p>
        </p:txBody>
      </p:sp>
      <p:pic>
        <p:nvPicPr>
          <p:cNvPr id="2" name="Elemento grafico 1" descr="Segno di spunta con riempimento a tinta unita">
            <a:extLst>
              <a:ext uri="{FF2B5EF4-FFF2-40B4-BE49-F238E27FC236}">
                <a16:creationId xmlns:a16="http://schemas.microsoft.com/office/drawing/2014/main" id="{B65F61E7-0359-1A08-ED88-911BA47DED8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63204" y="1739035"/>
            <a:ext cx="389746" cy="389746"/>
          </a:xfrm>
          <a:prstGeom prst="rect">
            <a:avLst/>
          </a:prstGeom>
        </p:spPr>
      </p:pic>
      <p:pic>
        <p:nvPicPr>
          <p:cNvPr id="4" name="Elemento grafico 3" descr="Segno di spunta con riempimento a tinta unita">
            <a:extLst>
              <a:ext uri="{FF2B5EF4-FFF2-40B4-BE49-F238E27FC236}">
                <a16:creationId xmlns:a16="http://schemas.microsoft.com/office/drawing/2014/main" id="{C05189A2-D65D-C5BA-5518-9E0BE0413F9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63204" y="4648920"/>
            <a:ext cx="389746" cy="38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359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18" grpId="0">
        <p:bldAsOne/>
      </p:bldGraphic>
      <p:bldP spid="37" grpId="0" animBg="1"/>
      <p:bldP spid="6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un angolo arrotondato 1">
            <a:extLst>
              <a:ext uri="{FF2B5EF4-FFF2-40B4-BE49-F238E27FC236}">
                <a16:creationId xmlns:a16="http://schemas.microsoft.com/office/drawing/2014/main" id="{AC35B221-07BB-D0F6-6A23-2BA11844FF45}"/>
              </a:ext>
            </a:extLst>
          </p:cNvPr>
          <p:cNvSpPr/>
          <p:nvPr/>
        </p:nvSpPr>
        <p:spPr>
          <a:xfrm flipV="1">
            <a:off x="434716" y="388116"/>
            <a:ext cx="5081664" cy="841073"/>
          </a:xfrm>
          <a:prstGeom prst="round1Rect">
            <a:avLst>
              <a:gd name="adj" fmla="val 50000"/>
            </a:avLst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just">
              <a:lnSpc>
                <a:spcPct val="150000"/>
              </a:lnSpc>
            </a:pPr>
            <a:endParaRPr lang="en-US" b="1" dirty="0">
              <a:solidFill>
                <a:srgbClr val="FFFFFF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BBD9207-DC2B-0D47-A92E-DDD859FCD554}"/>
              </a:ext>
            </a:extLst>
          </p:cNvPr>
          <p:cNvSpPr txBox="1"/>
          <p:nvPr/>
        </p:nvSpPr>
        <p:spPr>
          <a:xfrm>
            <a:off x="532150" y="547042"/>
            <a:ext cx="4886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1"/>
                </a:solidFill>
              </a:rPr>
              <a:t>Impianto e stabilizzazione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28D4013-5849-8818-7FF2-19B6B6E1F726}"/>
              </a:ext>
            </a:extLst>
          </p:cNvPr>
          <p:cNvSpPr txBox="1"/>
          <p:nvPr/>
        </p:nvSpPr>
        <p:spPr>
          <a:xfrm>
            <a:off x="434716" y="1520113"/>
            <a:ext cx="6393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La sostituzione del disco intervertebrale è realizzata usando una gabbia </a:t>
            </a:r>
            <a:r>
              <a:rPr lang="it-IT" b="1" dirty="0" err="1"/>
              <a:t>intersomatica</a:t>
            </a:r>
            <a:r>
              <a:rPr lang="it-IT" b="1" dirty="0"/>
              <a:t> , tipicamente in titanio. </a:t>
            </a:r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39E4176A-D3CC-47D2-19FE-26390C473F97}"/>
              </a:ext>
            </a:extLst>
          </p:cNvPr>
          <p:cNvSpPr/>
          <p:nvPr/>
        </p:nvSpPr>
        <p:spPr>
          <a:xfrm>
            <a:off x="704538" y="2896653"/>
            <a:ext cx="5688767" cy="69774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2EBCF7A0-163D-E9B5-2DB7-A76230919A0B}"/>
              </a:ext>
            </a:extLst>
          </p:cNvPr>
          <p:cNvSpPr/>
          <p:nvPr/>
        </p:nvSpPr>
        <p:spPr>
          <a:xfrm>
            <a:off x="434717" y="2895117"/>
            <a:ext cx="704538" cy="69774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/>
              <a:t>1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A8F63333-68F0-35A2-C3F4-34B88E9ADBA3}"/>
              </a:ext>
            </a:extLst>
          </p:cNvPr>
          <p:cNvSpPr/>
          <p:nvPr/>
        </p:nvSpPr>
        <p:spPr>
          <a:xfrm>
            <a:off x="786986" y="4003825"/>
            <a:ext cx="5688767" cy="69774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E0D5E0E6-5637-EB92-DADC-14A7DE78175B}"/>
              </a:ext>
            </a:extLst>
          </p:cNvPr>
          <p:cNvSpPr/>
          <p:nvPr/>
        </p:nvSpPr>
        <p:spPr>
          <a:xfrm>
            <a:off x="434717" y="4003825"/>
            <a:ext cx="704538" cy="69774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/>
              <a:t>2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9890B4E-6800-C726-09CF-6A8759796C6B}"/>
              </a:ext>
            </a:extLst>
          </p:cNvPr>
          <p:cNvSpPr txBox="1"/>
          <p:nvPr/>
        </p:nvSpPr>
        <p:spPr>
          <a:xfrm>
            <a:off x="1079290" y="2932272"/>
            <a:ext cx="5583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Inserimento innesto osseo all’interno della gabbia usando un materiale sintetico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C39B9E4-5A1A-203E-FA5B-3013157846C0}"/>
              </a:ext>
            </a:extLst>
          </p:cNvPr>
          <p:cNvSpPr txBox="1"/>
          <p:nvPr/>
        </p:nvSpPr>
        <p:spPr>
          <a:xfrm>
            <a:off x="1139255" y="4168030"/>
            <a:ext cx="557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Fissaggio della gabbia tra le due vertebre coinvolte</a:t>
            </a:r>
          </a:p>
        </p:txBody>
      </p:sp>
      <p:pic>
        <p:nvPicPr>
          <p:cNvPr id="26" name="Immagine 25" descr="Immagine che contiene design&#10;&#10;Il contenuto generato dall'IA potrebbe non essere corretto.">
            <a:extLst>
              <a:ext uri="{FF2B5EF4-FFF2-40B4-BE49-F238E27FC236}">
                <a16:creationId xmlns:a16="http://schemas.microsoft.com/office/drawing/2014/main" id="{12D61253-8DAB-EFD4-2A93-DB6E4C948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022" y="1520113"/>
            <a:ext cx="5045522" cy="411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8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7" grpId="0" animBg="1"/>
      <p:bldP spid="14" grpId="0" animBg="1"/>
      <p:bldP spid="28" grpId="0" animBg="1"/>
      <p:bldP spid="15" grpId="0" animBg="1"/>
      <p:bldP spid="16" grpId="0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ma 4">
            <a:extLst>
              <a:ext uri="{FF2B5EF4-FFF2-40B4-BE49-F238E27FC236}">
                <a16:creationId xmlns:a16="http://schemas.microsoft.com/office/drawing/2014/main" id="{C78A0F83-6227-1349-F55E-EE11130900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8875300"/>
              </p:ext>
            </p:extLst>
          </p:nvPr>
        </p:nvGraphicFramePr>
        <p:xfrm>
          <a:off x="278149" y="254969"/>
          <a:ext cx="6497405" cy="41071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Elemento grafico 5" descr="Segno di spunta con riempimento a tinta unita">
            <a:extLst>
              <a:ext uri="{FF2B5EF4-FFF2-40B4-BE49-F238E27FC236}">
                <a16:creationId xmlns:a16="http://schemas.microsoft.com/office/drawing/2014/main" id="{581A14A2-8EE1-FA3D-BA78-809353DB4D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34259" y="1452239"/>
            <a:ext cx="389746" cy="389746"/>
          </a:xfrm>
          <a:prstGeom prst="rect">
            <a:avLst/>
          </a:prstGeom>
        </p:spPr>
      </p:pic>
      <p:graphicFrame>
        <p:nvGraphicFramePr>
          <p:cNvPr id="7" name="Diagramma 6">
            <a:extLst>
              <a:ext uri="{FF2B5EF4-FFF2-40B4-BE49-F238E27FC236}">
                <a16:creationId xmlns:a16="http://schemas.microsoft.com/office/drawing/2014/main" id="{F4EE749B-E84B-CD57-905A-D4364DDC38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6998431"/>
              </p:ext>
            </p:extLst>
          </p:nvPr>
        </p:nvGraphicFramePr>
        <p:xfrm>
          <a:off x="278149" y="3429000"/>
          <a:ext cx="6497405" cy="41071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8" name="Elemento grafico 7" descr="Segno di spunta con riempimento a tinta unita">
            <a:extLst>
              <a:ext uri="{FF2B5EF4-FFF2-40B4-BE49-F238E27FC236}">
                <a16:creationId xmlns:a16="http://schemas.microsoft.com/office/drawing/2014/main" id="{B2C4EFF3-A783-805D-3672-F401A77C5B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34259" y="4626270"/>
            <a:ext cx="389746" cy="389746"/>
          </a:xfrm>
          <a:prstGeom prst="rect">
            <a:avLst/>
          </a:prstGeom>
        </p:spPr>
      </p:pic>
      <p:pic>
        <p:nvPicPr>
          <p:cNvPr id="12" name="Immagine 11" descr="Immagine che contiene parco giochi&#10;&#10;Il contenuto generato dall'IA potrebbe non essere corretto.">
            <a:extLst>
              <a:ext uri="{FF2B5EF4-FFF2-40B4-BE49-F238E27FC236}">
                <a16:creationId xmlns:a16="http://schemas.microsoft.com/office/drawing/2014/main" id="{845E489B-832E-2512-E50C-BDC54A718D8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570" y="1841985"/>
            <a:ext cx="4445281" cy="2713082"/>
          </a:xfrm>
          <a:prstGeom prst="rect">
            <a:avLst/>
          </a:prstGeom>
        </p:spPr>
      </p:pic>
      <p:sp>
        <p:nvSpPr>
          <p:cNvPr id="14" name="Fumetto: ovale 13">
            <a:extLst>
              <a:ext uri="{FF2B5EF4-FFF2-40B4-BE49-F238E27FC236}">
                <a16:creationId xmlns:a16="http://schemas.microsoft.com/office/drawing/2014/main" id="{5AEF3B9F-9E76-1D71-1BB6-B7575D4B5EEA}"/>
              </a:ext>
            </a:extLst>
          </p:cNvPr>
          <p:cNvSpPr/>
          <p:nvPr/>
        </p:nvSpPr>
        <p:spPr>
          <a:xfrm rot="9292159">
            <a:off x="9404268" y="4564280"/>
            <a:ext cx="1955562" cy="2001735"/>
          </a:xfrm>
          <a:prstGeom prst="wedgeEllipseCallout">
            <a:avLst>
              <a:gd name="adj1" fmla="val 21646"/>
              <a:gd name="adj2" fmla="val 88824"/>
            </a:avLst>
          </a:prstGeom>
          <a:solidFill>
            <a:schemeClr val="tx2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9AFD555-7E61-C9DE-6927-2B713DC71F79}"/>
              </a:ext>
            </a:extLst>
          </p:cNvPr>
          <p:cNvSpPr txBox="1"/>
          <p:nvPr/>
        </p:nvSpPr>
        <p:spPr>
          <a:xfrm>
            <a:off x="9534890" y="5016016"/>
            <a:ext cx="1699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Disco ancorato al target corretto </a:t>
            </a:r>
          </a:p>
        </p:txBody>
      </p:sp>
    </p:spTree>
    <p:extLst>
      <p:ext uri="{BB962C8B-B14F-4D97-AF65-F5344CB8AC3E}">
        <p14:creationId xmlns:p14="http://schemas.microsoft.com/office/powerpoint/2010/main" val="72862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7" grpId="0">
        <p:bldAsOne/>
      </p:bldGraphic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FCF08-886C-4FC9-0AE2-6F094E5F2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tangolo 16">
            <a:extLst>
              <a:ext uri="{FF2B5EF4-FFF2-40B4-BE49-F238E27FC236}">
                <a16:creationId xmlns:a16="http://schemas.microsoft.com/office/drawing/2014/main" id="{AD29ED6E-4E3C-2D98-DBCE-88E0E99E8779}"/>
              </a:ext>
            </a:extLst>
          </p:cNvPr>
          <p:cNvSpPr/>
          <p:nvPr/>
        </p:nvSpPr>
        <p:spPr>
          <a:xfrm>
            <a:off x="0" y="0"/>
            <a:ext cx="12192000" cy="1046480"/>
          </a:xfrm>
          <a:prstGeom prst="rect">
            <a:avLst/>
          </a:prstGeom>
          <a:solidFill>
            <a:srgbClr val="0B3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13F81CA0-FA4E-2D77-0D5B-EC1A3714F06B}"/>
              </a:ext>
            </a:extLst>
          </p:cNvPr>
          <p:cNvSpPr/>
          <p:nvPr/>
        </p:nvSpPr>
        <p:spPr>
          <a:xfrm>
            <a:off x="382266" y="0"/>
            <a:ext cx="11427468" cy="916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Fonti</a:t>
            </a:r>
            <a:endParaRPr lang="en-US" sz="24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8838523-5CC8-553A-289B-9EDB8BAB9F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42" r="11946" b="16787"/>
          <a:stretch>
            <a:fillRect/>
          </a:stretch>
        </p:blipFill>
        <p:spPr bwMode="auto">
          <a:xfrm>
            <a:off x="368292" y="5870510"/>
            <a:ext cx="1758462" cy="974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29902C70-9007-D668-17EE-3CB449BF23AC}"/>
              </a:ext>
            </a:extLst>
          </p:cNvPr>
          <p:cNvSpPr txBox="1"/>
          <p:nvPr/>
        </p:nvSpPr>
        <p:spPr>
          <a:xfrm>
            <a:off x="162560" y="1229360"/>
            <a:ext cx="116471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Immagine slide 1</a:t>
            </a:r>
            <a:endParaRPr lang="it-IT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Immagine slide 7</a:t>
            </a:r>
            <a:endParaRPr lang="it-IT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accent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 slide 7</a:t>
            </a:r>
            <a:endParaRPr lang="it-IT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accent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Immagine slide 8</a:t>
            </a:r>
            <a:endParaRPr lang="it-IT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accent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StatPearls</a:t>
            </a:r>
            <a:r>
              <a:rPr lang="it-IT" dirty="0">
                <a:solidFill>
                  <a:schemeClr val="accent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it-IT" i="1" dirty="0" err="1">
                <a:solidFill>
                  <a:schemeClr val="accent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Cervical</a:t>
            </a:r>
            <a:r>
              <a:rPr lang="it-IT" i="1" dirty="0">
                <a:solidFill>
                  <a:schemeClr val="accent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Disc </a:t>
            </a:r>
            <a:r>
              <a:rPr lang="it-IT" i="1" dirty="0" err="1">
                <a:solidFill>
                  <a:schemeClr val="accent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Herniation</a:t>
            </a:r>
            <a:r>
              <a:rPr lang="it-IT" i="1" dirty="0">
                <a:solidFill>
                  <a:schemeClr val="accent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Medscape: </a:t>
            </a:r>
            <a:r>
              <a:rPr lang="en-US" i="1" dirty="0">
                <a:solidFill>
                  <a:schemeClr val="accent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Cervical Disc Disease – Pathophysiology</a:t>
            </a:r>
            <a:endParaRPr lang="en-US" i="1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Hammer C. et al., </a:t>
            </a:r>
            <a:r>
              <a:rPr lang="en-US" i="1" dirty="0">
                <a:solidFill>
                  <a:schemeClr val="accent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Epidemiology and pathophysiology of cervical disc herniation</a:t>
            </a:r>
            <a:endParaRPr lang="en-US" i="1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67886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Haso</a:t>
            </a:r>
            <a:r>
              <a:rPr lang="en-US" dirty="0">
                <a:solidFill>
                  <a:srgbClr val="467886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S., Adi Ah., Edin H., Mersad B., Mirsad M., </a:t>
            </a:r>
            <a:r>
              <a:rPr lang="en-US" i="1" dirty="0">
                <a:solidFill>
                  <a:schemeClr val="accent1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Surgical Treatment of the Patients with Cervical Disc Herniation at Clinical Center of University of Sarajevo, Bosnia and Herzegovina</a:t>
            </a:r>
            <a:endParaRPr lang="en-US" i="1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0932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8199</TotalTime>
  <Words>888</Words>
  <Application>Microsoft Office PowerPoint</Application>
  <PresentationFormat>Widescreen</PresentationFormat>
  <Paragraphs>159</Paragraphs>
  <Slides>20</Slides>
  <Notes>5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ui-sans-serif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Palazzoli</dc:creator>
  <cp:lastModifiedBy>Emilio Leo</cp:lastModifiedBy>
  <cp:revision>57</cp:revision>
  <dcterms:created xsi:type="dcterms:W3CDTF">2025-09-19T15:08:37Z</dcterms:created>
  <dcterms:modified xsi:type="dcterms:W3CDTF">2025-09-27T20:37:14Z</dcterms:modified>
</cp:coreProperties>
</file>