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8" r:id="rId3"/>
    <p:sldId id="264" r:id="rId4"/>
    <p:sldId id="267" r:id="rId5"/>
    <p:sldId id="266" r:id="rId6"/>
    <p:sldId id="265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259" r:id="rId17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3041"/>
    <a:srgbClr val="154065"/>
    <a:srgbClr val="FFFFFF"/>
    <a:srgbClr val="8409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52" autoAdjust="0"/>
    <p:restoredTop sz="94660"/>
  </p:normalViewPr>
  <p:slideViewPr>
    <p:cSldViewPr snapToGrid="0">
      <p:cViewPr varScale="1">
        <p:scale>
          <a:sx n="64" d="100"/>
          <a:sy n="64" d="100"/>
        </p:scale>
        <p:origin x="38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553585-C99B-4E73-8A8D-11B83B587ED7}" type="datetimeFigureOut">
              <a:rPr lang="it-IT" smtClean="0"/>
              <a:t>25/09/2025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8A6413-F47C-486C-ACDE-0F02AA9BC40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279217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FF1F3-7519-C67D-C767-ECFD620D8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15755EE-8312-85D6-95BD-81D7490CA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24F9F43-0545-C224-6593-BB8DC60C92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EA92E4F-2FCF-7A96-DD20-728C0A54DB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8A6413-F47C-486C-ACDE-0F02AA9BC403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582980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D4A21-4390-4749-F29E-DF5E6C51B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51AA89C-3A76-9D59-86BC-03DF80B51A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FB4D022-4EEE-60D2-F3DE-FC020C4134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BE2BE53-D04C-2872-5912-774851A77D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8A6413-F47C-486C-ACDE-0F02AA9BC403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303720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EC562-2FE1-776E-4092-1E280C69C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811CC2C-891F-54BF-4C72-52097E9708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6F1B194-94EC-DAF1-D5D6-B64E86A8ED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C363330-1CE6-E9D6-8AA0-19F7B8D544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8A6413-F47C-486C-ACDE-0F02AA9BC403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498861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26D12-9170-3A70-8ADA-E5D1B7EA4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2CA53F-9A40-5DED-AF25-24C98DE13A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CCE303-9EFF-9D0F-32C6-A711A1AB0B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06508-F77F-11E8-9489-FB28690EFD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4022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2D7BF9-295B-61F6-5BC7-0DAB5F5164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9FB44AF3-8836-6D32-55A7-4E0C71F31F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CB3D52B-9948-DB0F-4462-34374E76B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72DF27-69E3-4D74-B466-27DC19493DB0}" type="datetimeFigureOut">
              <a:rPr lang="it-IT" smtClean="0"/>
              <a:t>25/09/2025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2FA5537-DEC1-C620-8F7C-70783908D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B09D908-F427-E30F-9FC5-3B6DBD799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B2EF6-877F-4027-89DF-8A79733BA50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55967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44218DD-41DA-9A68-0E99-1277571C8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4E693C5-84E2-8E15-8935-0D80AFBC7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3A4038C-2B3E-867C-1A69-3BC7B3D53D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72DF27-69E3-4D74-B466-27DC19493DB0}" type="datetimeFigureOut">
              <a:rPr lang="it-IT" smtClean="0"/>
              <a:t>25/09/2025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F0063FE-3E0B-4830-EAEC-B8BB3FCC5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D590AA5-58F3-B3D1-489F-CF2D4084B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B2EF6-877F-4027-89DF-8A79733BA50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937475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6D694A6-306A-64AB-2C9B-18EE9CE4E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09324B1-8C1B-E972-B745-22277CD03C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3F574EA-7B81-56FB-8C58-A9EAC476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72DF27-69E3-4D74-B466-27DC19493DB0}" type="datetimeFigureOut">
              <a:rPr lang="it-IT" smtClean="0"/>
              <a:t>25/09/2025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4BD82D8-D0E3-F6BD-A569-A36D23C0D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FD7B6B5-5C24-FC29-1E6C-BC07D7634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B2EF6-877F-4027-89DF-8A79733BA50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197328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486EA81-9C8D-D96A-E34F-E347DF152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A97195E-D5F6-4BBC-5F66-7EBC6DDE81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F18F013-6B85-9649-83C5-BDEB39F02E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5600A0D-80F5-0A40-6A05-EE8A542F9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72DF27-69E3-4D74-B466-27DC19493DB0}" type="datetimeFigureOut">
              <a:rPr lang="it-IT" smtClean="0"/>
              <a:t>25/09/2025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3BF5FAA-57DC-6547-21EE-3FEB617500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05C5DA9-7453-441A-A9CE-E161CE9AA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B2EF6-877F-4027-89DF-8A79733BA50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56102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7C7668E-A09E-3801-B920-D1996BBE9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55B455C-EE6C-5780-88E3-D8F6BC6E8D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95CA26D-EFFC-CFCE-641A-B7186F55C9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AC5B5D20-634F-8459-118E-82AC7888A3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93CAFFA5-97CD-7593-74F3-C094B23ED2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D186D45-67D9-43F9-92B6-8D4225646B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72DF27-69E3-4D74-B466-27DC19493DB0}" type="datetimeFigureOut">
              <a:rPr lang="it-IT" smtClean="0"/>
              <a:t>25/09/2025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A6D29A7C-1095-3B26-F70C-EB049A14BF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6B76AE21-DEB4-76B1-F69B-916727B77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B2EF6-877F-4027-89DF-8A79733BA50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110114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7ACF617-D342-5D2C-5000-89CC8E0E5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6EF8C8AC-09FC-9AD8-CDCD-CAF8A196E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72DF27-69E3-4D74-B466-27DC19493DB0}" type="datetimeFigureOut">
              <a:rPr lang="it-IT" smtClean="0"/>
              <a:t>25/09/2025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EAB3A645-90DC-8EE5-2BEE-89FCB711E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A9211472-2891-A104-18BC-3777A4CD6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B2EF6-877F-4027-89DF-8A79733BA50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42149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9D46F77A-FD49-0EC1-1ABA-AF576FCDE6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72DF27-69E3-4D74-B466-27DC19493DB0}" type="datetimeFigureOut">
              <a:rPr lang="it-IT" smtClean="0"/>
              <a:t>25/09/2025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60135825-305B-808B-812E-1B0114CF0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0969FD4-87FA-88C7-2635-A1240EBFA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B2EF6-877F-4027-89DF-8A79733BA50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155917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AC59B4-1409-0965-58C1-F02CD7B634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1A9B79C-B545-0AF8-77CA-CDC691BE35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5647D578-01D0-A192-E593-E6CD35A5C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844E0D3-D7FD-BA24-FE40-B08AB8D7E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72DF27-69E3-4D74-B466-27DC19493DB0}" type="datetimeFigureOut">
              <a:rPr lang="it-IT" smtClean="0"/>
              <a:t>25/09/2025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C2090E21-CE23-F19C-3659-6480D261F5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5ED58F7-3467-4EE5-97BF-9F6B38E5AD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B2EF6-877F-4027-89DF-8A79733BA50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748793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4D301A7-7AF1-8E41-3E1F-99A10DEAA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48CAE3ED-3835-EF73-0F71-18A006C253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6497047-C9D8-F367-9FF9-55DFAB4180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DFFDAC0C-DE41-4D18-1C47-985242F07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72DF27-69E3-4D74-B466-27DC19493DB0}" type="datetimeFigureOut">
              <a:rPr lang="it-IT" smtClean="0"/>
              <a:t>25/09/2025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597A4B4-8426-EEEE-4F4B-F1959A7EB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919CE18-A0A5-46AB-1453-DC4F26EF9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B2EF6-877F-4027-89DF-8A79733BA50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43056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8D060CB-BC99-49E1-DF54-D1EFC1F03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1A5B38B3-78AC-91C7-4F5A-0C6714B333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8B2CD1C-8A3A-8BC1-11A2-260EBC114B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72DF27-69E3-4D74-B466-27DC19493DB0}" type="datetimeFigureOut">
              <a:rPr lang="it-IT" smtClean="0"/>
              <a:t>25/09/2025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10E9D5A-9C07-7723-4BA6-8DD7D9293C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62D9A80-454D-D169-A1A6-3EF3F6C44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B2EF6-877F-4027-89DF-8A79733BA50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224951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2CCC249-98AA-B018-F82B-DBA6E490DA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23EBAA0-0653-1D13-7D5B-B8DCF1241A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B2DCA87-F283-CAE2-C014-90A2F0CB1C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72DF27-69E3-4D74-B466-27DC19493DB0}" type="datetimeFigureOut">
              <a:rPr lang="it-IT" smtClean="0"/>
              <a:t>25/09/2025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691CE7D-80DA-BB08-F340-04EA5C360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B6562C0-5C73-DDCC-A75D-AEE34E386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B2EF6-877F-4027-89DF-8A79733BA50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574699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97026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65212F79-57EA-393C-5D09-149B0569F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B467716-0CCE-0836-55B1-A17AB0C74E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06C79F3-AAAD-7B53-8793-BD2CF90218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72DF27-69E3-4D74-B466-27DC19493DB0}" type="datetimeFigureOut">
              <a:rPr lang="it-IT" smtClean="0"/>
              <a:t>25/09/2025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EEC24C3-4F74-F3A2-81BF-046359FEE9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2028A83-261B-7E4D-4CE4-4C1FAFA562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BB2EF6-877F-4027-89DF-8A79733BA50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272806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.jpeg"/><Relationship Id="rId5" Type="http://schemas.openxmlformats.org/officeDocument/2006/relationships/image" Target="../media/image2.png"/><Relationship Id="rId4" Type="http://schemas.openxmlformats.org/officeDocument/2006/relationships/hyperlink" Target="https://physiopretoria.co.za/pain/neck/neck-disc-injury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10.png"/><Relationship Id="rId2" Type="http://schemas.microsoft.com/office/2007/relationships/media" Target="../media/media1.mp4"/><Relationship Id="rId1" Type="http://schemas.openxmlformats.org/officeDocument/2006/relationships/video" Target="NULL" TargetMode="External"/><Relationship Id="rId6" Type="http://schemas.openxmlformats.org/officeDocument/2006/relationships/image" Target="../media/image9.png"/><Relationship Id="rId5" Type="http://schemas.openxmlformats.org/officeDocument/2006/relationships/hyperlink" Target="https://www.progettosaluteglobale.com/dettaglio-articolo.asp?IDarticolo=22&amp;cat=7" TargetMode="External"/><Relationship Id="rId4" Type="http://schemas.openxmlformats.org/officeDocument/2006/relationships/notesSlide" Target="../notesSlides/notesSlide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hyperlink" Target="https://it.pinterest.com/pin/15199717490939264/" TargetMode="External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jpg"/><Relationship Id="rId9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ncbi.nlm.nih.gov/books/NBK546618/?utm_source=chatgpt.com" TargetMode="External"/><Relationship Id="rId3" Type="http://schemas.openxmlformats.org/officeDocument/2006/relationships/image" Target="../media/image3.jpeg"/><Relationship Id="rId7" Type="http://schemas.openxmlformats.org/officeDocument/2006/relationships/hyperlink" Target="https://it.pinterest.com/pin/15199717490939264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it.pinterest.com/pin/15833036183651969/" TargetMode="External"/><Relationship Id="rId11" Type="http://schemas.openxmlformats.org/officeDocument/2006/relationships/hyperlink" Target="https://www.ejmanager.com/mnstemps/10/10-1619802433.pdf" TargetMode="External"/><Relationship Id="rId5" Type="http://schemas.openxmlformats.org/officeDocument/2006/relationships/hyperlink" Target="https://www.progettosaluteglobale.com/dettaglio-articolo.asp?IDarticolo=22&amp;cat=7" TargetMode="External"/><Relationship Id="rId10" Type="http://schemas.openxmlformats.org/officeDocument/2006/relationships/hyperlink" Target="https://www.sciencedirect.com/science/article/abs/pii/S1040738315001306?utm_source=chatgpt.com" TargetMode="External"/><Relationship Id="rId4" Type="http://schemas.openxmlformats.org/officeDocument/2006/relationships/hyperlink" Target="https://physiopretoria.co.za/pain/neck/neck-disc-injury" TargetMode="External"/><Relationship Id="rId9" Type="http://schemas.openxmlformats.org/officeDocument/2006/relationships/hyperlink" Target="https://emedicine.medscape.com/article/305720-overview?utm_source=chatgpt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ttangolo 16">
            <a:extLst>
              <a:ext uri="{FF2B5EF4-FFF2-40B4-BE49-F238E27FC236}">
                <a16:creationId xmlns:a16="http://schemas.microsoft.com/office/drawing/2014/main" id="{348C201E-B52B-3B3B-E391-91DBB2B9BA8C}"/>
              </a:ext>
            </a:extLst>
          </p:cNvPr>
          <p:cNvSpPr/>
          <p:nvPr/>
        </p:nvSpPr>
        <p:spPr>
          <a:xfrm>
            <a:off x="0" y="0"/>
            <a:ext cx="12192000" cy="5781040"/>
          </a:xfrm>
          <a:prstGeom prst="rect">
            <a:avLst/>
          </a:prstGeom>
          <a:solidFill>
            <a:srgbClr val="0B30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" y="841310"/>
            <a:ext cx="4667250" cy="4187890"/>
          </a:xfrm>
          <a:prstGeom prst="rect">
            <a:avLst/>
          </a:prstGeom>
        </p:spPr>
      </p:pic>
      <p:sp>
        <p:nvSpPr>
          <p:cNvPr id="12" name="Text 0"/>
          <p:cNvSpPr/>
          <p:nvPr/>
        </p:nvSpPr>
        <p:spPr>
          <a:xfrm>
            <a:off x="6553200" y="609600"/>
            <a:ext cx="5334000" cy="17827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3158" b="1" dirty="0">
                <a:solidFill>
                  <a:srgbClr val="FFFFFF"/>
                </a:solidFill>
                <a:ea typeface="ui-sans-serif" pitchFamily="34" charset="-122"/>
                <a:cs typeface="ui-sans-serif" pitchFamily="34" charset="-120"/>
              </a:rPr>
              <a:t>Progetto AI.2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2400" b="1" dirty="0" err="1">
                <a:solidFill>
                  <a:srgbClr val="FFFFFF"/>
                </a:solidFill>
                <a:ea typeface="ui-sans-serif" pitchFamily="34" charset="-122"/>
              </a:rPr>
              <a:t>Interazione</a:t>
            </a:r>
            <a:r>
              <a:rPr lang="en-US" sz="2400" b="1" dirty="0">
                <a:solidFill>
                  <a:srgbClr val="FFFFFF"/>
                </a:solidFill>
                <a:ea typeface="ui-sans-serif" pitchFamily="34" charset="-122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a typeface="ui-sans-serif" pitchFamily="34" charset="-122"/>
              </a:rPr>
              <a:t>virtuale</a:t>
            </a:r>
            <a:r>
              <a:rPr lang="en-US" sz="2400" b="1" dirty="0">
                <a:solidFill>
                  <a:srgbClr val="FFFFFF"/>
                </a:solidFill>
                <a:ea typeface="ui-sans-serif" pitchFamily="34" charset="-122"/>
              </a:rPr>
              <a:t> con un phantom </a:t>
            </a:r>
            <a:r>
              <a:rPr lang="en-US" sz="2400" b="1" dirty="0" err="1">
                <a:solidFill>
                  <a:srgbClr val="FFFFFF"/>
                </a:solidFill>
                <a:ea typeface="ui-sans-serif" pitchFamily="34" charset="-122"/>
              </a:rPr>
              <a:t>digitale</a:t>
            </a:r>
            <a:r>
              <a:rPr lang="en-US" sz="2400" b="1" dirty="0">
                <a:solidFill>
                  <a:srgbClr val="FFFFFF"/>
                </a:solidFill>
                <a:ea typeface="ui-sans-serif" pitchFamily="34" charset="-122"/>
              </a:rPr>
              <a:t> per la </a:t>
            </a:r>
            <a:r>
              <a:rPr lang="en-US" sz="2400" b="1" dirty="0" err="1">
                <a:solidFill>
                  <a:srgbClr val="FFFFFF"/>
                </a:solidFill>
                <a:ea typeface="ui-sans-serif" pitchFamily="34" charset="-122"/>
              </a:rPr>
              <a:t>formazione</a:t>
            </a:r>
            <a:r>
              <a:rPr lang="en-US" sz="2400" b="1" dirty="0">
                <a:solidFill>
                  <a:srgbClr val="FFFFFF"/>
                </a:solidFill>
                <a:ea typeface="ui-sans-serif" pitchFamily="34" charset="-122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ea typeface="ui-sans-serif" pitchFamily="34" charset="-122"/>
              </a:rPr>
              <a:t>chirurgica</a:t>
            </a:r>
            <a:endParaRPr lang="en-US" sz="2400" dirty="0"/>
          </a:p>
        </p:txBody>
      </p:sp>
      <p:sp>
        <p:nvSpPr>
          <p:cNvPr id="13" name="Text 1"/>
          <p:cNvSpPr/>
          <p:nvPr/>
        </p:nvSpPr>
        <p:spPr>
          <a:xfrm>
            <a:off x="6553200" y="3445308"/>
            <a:ext cx="5181600" cy="12125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ts val="2400"/>
              </a:lnSpc>
              <a:buNone/>
            </a:pPr>
            <a:r>
              <a:rPr lang="en-US" sz="1646" dirty="0">
                <a:solidFill>
                  <a:srgbClr val="DBEAFE"/>
                </a:solidFill>
                <a:ea typeface="ui-sans-serif" pitchFamily="34" charset="-122"/>
                <a:cs typeface="ui-sans-serif" pitchFamily="34" charset="-120"/>
              </a:rPr>
              <a:t>Emilio Leo</a:t>
            </a:r>
          </a:p>
          <a:p>
            <a:pPr marL="0" indent="0">
              <a:lnSpc>
                <a:spcPts val="2400"/>
              </a:lnSpc>
              <a:buNone/>
            </a:pPr>
            <a:r>
              <a:rPr lang="en-US" sz="1646" dirty="0">
                <a:solidFill>
                  <a:srgbClr val="DBEAFE"/>
                </a:solidFill>
                <a:ea typeface="ui-sans-serif" pitchFamily="34" charset="-122"/>
              </a:rPr>
              <a:t>Veronica Mercurio</a:t>
            </a:r>
          </a:p>
          <a:p>
            <a:pPr marL="0" indent="0">
              <a:lnSpc>
                <a:spcPts val="2400"/>
              </a:lnSpc>
              <a:buNone/>
            </a:pPr>
            <a:r>
              <a:rPr lang="en-US" sz="1646" dirty="0">
                <a:solidFill>
                  <a:srgbClr val="DBEAFE"/>
                </a:solidFill>
                <a:ea typeface="ui-sans-serif" pitchFamily="34" charset="-122"/>
              </a:rPr>
              <a:t>Simona Pia </a:t>
            </a:r>
            <a:r>
              <a:rPr lang="en-US" sz="1646" dirty="0" err="1">
                <a:solidFill>
                  <a:srgbClr val="DBEAFE"/>
                </a:solidFill>
                <a:ea typeface="ui-sans-serif" pitchFamily="34" charset="-122"/>
              </a:rPr>
              <a:t>Vestita</a:t>
            </a:r>
            <a:endParaRPr lang="en-US" sz="1646" dirty="0">
              <a:solidFill>
                <a:srgbClr val="DBEAFE"/>
              </a:solidFill>
              <a:ea typeface="ui-sans-serif" pitchFamily="34" charset="-122"/>
            </a:endParaRPr>
          </a:p>
          <a:p>
            <a:pPr marL="0" indent="0">
              <a:lnSpc>
                <a:spcPts val="2400"/>
              </a:lnSpc>
              <a:buNone/>
            </a:pPr>
            <a:r>
              <a:rPr lang="en-US" sz="1646" dirty="0">
                <a:solidFill>
                  <a:srgbClr val="DBEAFE"/>
                </a:solidFill>
                <a:ea typeface="ui-sans-serif" pitchFamily="34" charset="-122"/>
              </a:rPr>
              <a:t>Marta Palazzoli</a:t>
            </a:r>
            <a:endParaRPr lang="en-US" sz="1646" dirty="0"/>
          </a:p>
        </p:txBody>
      </p:sp>
      <p:pic>
        <p:nvPicPr>
          <p:cNvPr id="23" name="Immagine 22">
            <a:hlinkClick r:id="rId4"/>
            <a:extLst>
              <a:ext uri="{FF2B5EF4-FFF2-40B4-BE49-F238E27FC236}">
                <a16:creationId xmlns:a16="http://schemas.microsoft.com/office/drawing/2014/main" id="{C375FF46-BA12-6408-F494-E7A16BC0C7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7523" y="475912"/>
            <a:ext cx="3600953" cy="4839375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7E856DAB-074E-AA80-99E4-CDDCDBC39C5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342" r="11946" b="16787"/>
          <a:stretch>
            <a:fillRect/>
          </a:stretch>
        </p:blipFill>
        <p:spPr bwMode="auto">
          <a:xfrm>
            <a:off x="368292" y="5870510"/>
            <a:ext cx="1758462" cy="9748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Rettangolo 3">
            <a:extLst>
              <a:ext uri="{FF2B5EF4-FFF2-40B4-BE49-F238E27FC236}">
                <a16:creationId xmlns:a16="http://schemas.microsoft.com/office/drawing/2014/main" id="{DFE40A83-2CDC-EA91-467D-C6EB24EE337C}"/>
              </a:ext>
            </a:extLst>
          </p:cNvPr>
          <p:cNvSpPr/>
          <p:nvPr/>
        </p:nvSpPr>
        <p:spPr>
          <a:xfrm>
            <a:off x="6553200" y="3081279"/>
            <a:ext cx="1354539" cy="68321"/>
          </a:xfrm>
          <a:prstGeom prst="rect">
            <a:avLst/>
          </a:prstGeom>
          <a:solidFill>
            <a:srgbClr val="15406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Text 0">
            <a:extLst>
              <a:ext uri="{FF2B5EF4-FFF2-40B4-BE49-F238E27FC236}">
                <a16:creationId xmlns:a16="http://schemas.microsoft.com/office/drawing/2014/main" id="{5D802079-DCFE-8D73-795D-103D1FB855B6}"/>
              </a:ext>
            </a:extLst>
          </p:cNvPr>
          <p:cNvSpPr/>
          <p:nvPr/>
        </p:nvSpPr>
        <p:spPr>
          <a:xfrm>
            <a:off x="5830252" y="5915168"/>
            <a:ext cx="6627496" cy="666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3200" b="1" dirty="0">
                <a:solidFill>
                  <a:srgbClr val="0B3041"/>
                </a:solidFill>
                <a:ea typeface="ui-sans-serif" pitchFamily="34" charset="-122"/>
                <a:cs typeface="ui-sans-serif" pitchFamily="34" charset="-120"/>
              </a:rPr>
              <a:t>Medical Robotics A.A. 2024/2025</a:t>
            </a:r>
            <a:endParaRPr lang="en-US" sz="2800" dirty="0">
              <a:solidFill>
                <a:srgbClr val="0B304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Image 3" descr="preencoded.png">
            <a:extLst>
              <a:ext uri="{FF2B5EF4-FFF2-40B4-BE49-F238E27FC236}">
                <a16:creationId xmlns:a16="http://schemas.microsoft.com/office/drawing/2014/main" id="{3654E5A7-F740-36CC-0D49-53E000A006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261" y="2520341"/>
            <a:ext cx="544250" cy="571500"/>
          </a:xfrm>
          <a:prstGeom prst="rect">
            <a:avLst/>
          </a:prstGeom>
        </p:spPr>
      </p:pic>
      <p:pic>
        <p:nvPicPr>
          <p:cNvPr id="29" name="Image 3" descr="preencoded.png">
            <a:extLst>
              <a:ext uri="{FF2B5EF4-FFF2-40B4-BE49-F238E27FC236}">
                <a16:creationId xmlns:a16="http://schemas.microsoft.com/office/drawing/2014/main" id="{70846FBA-C12F-3ABD-8F37-9B7736A64E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922" y="5594781"/>
            <a:ext cx="544250" cy="571500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A277303-EC1D-CEA4-5944-007B0540727D}"/>
              </a:ext>
            </a:extLst>
          </p:cNvPr>
          <p:cNvSpPr txBox="1"/>
          <p:nvPr/>
        </p:nvSpPr>
        <p:spPr>
          <a:xfrm>
            <a:off x="481263" y="1572126"/>
            <a:ext cx="112294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400" b="1" dirty="0">
                <a:solidFill>
                  <a:srgbClr val="154065"/>
                </a:solidFill>
              </a:rPr>
              <a:t>Simulazione del trattamento dell’ernia cervicale attraverso il software </a:t>
            </a:r>
            <a:r>
              <a:rPr lang="it-IT" sz="2400" b="1" dirty="0" err="1">
                <a:solidFill>
                  <a:srgbClr val="154065"/>
                </a:solidFill>
              </a:rPr>
              <a:t>Unity</a:t>
            </a:r>
            <a:endParaRPr lang="it-IT" sz="2400" b="1" dirty="0">
              <a:solidFill>
                <a:srgbClr val="154065"/>
              </a:solidFill>
            </a:endParaRP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464DD3A6-309B-4D3A-28EF-3B9B14C9408B}"/>
              </a:ext>
            </a:extLst>
          </p:cNvPr>
          <p:cNvSpPr txBox="1"/>
          <p:nvPr/>
        </p:nvSpPr>
        <p:spPr>
          <a:xfrm>
            <a:off x="1500608" y="2386717"/>
            <a:ext cx="9868432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0B3041"/>
              </a:buClr>
            </a:pPr>
            <a:r>
              <a:rPr lang="it-IT" sz="2400" dirty="0"/>
              <a:t>Realizzazione di una simulazione interattiva in </a:t>
            </a:r>
            <a:r>
              <a:rPr lang="it-IT" sz="2400" dirty="0" err="1"/>
              <a:t>Unity</a:t>
            </a:r>
            <a:r>
              <a:rPr lang="it-IT" sz="2400" dirty="0"/>
              <a:t> per rappresentare il trattamento chirurgico dell’ernia cervicale</a:t>
            </a:r>
          </a:p>
          <a:p>
            <a:pPr>
              <a:buClr>
                <a:srgbClr val="0B3041"/>
              </a:buClr>
            </a:pPr>
            <a:endParaRPr lang="it-IT" sz="2400" dirty="0"/>
          </a:p>
          <a:p>
            <a:pPr>
              <a:buClr>
                <a:srgbClr val="0B3041"/>
              </a:buClr>
            </a:pPr>
            <a:r>
              <a:rPr lang="it-IT" sz="2400" dirty="0"/>
              <a:t>Utilizzo di un </a:t>
            </a:r>
            <a:r>
              <a:rPr lang="it-IT" sz="2400" dirty="0" err="1"/>
              <a:t>phantom</a:t>
            </a:r>
            <a:r>
              <a:rPr lang="it-IT" sz="2400" dirty="0"/>
              <a:t> anatomico 3D che riproduce fedelmente le strutture del collo (ossa, dischi, nervi, vasi, muscoli)</a:t>
            </a:r>
          </a:p>
          <a:p>
            <a:pPr>
              <a:buClr>
                <a:srgbClr val="0B3041"/>
              </a:buClr>
            </a:pPr>
            <a:endParaRPr lang="it-IT" sz="2400" dirty="0"/>
          </a:p>
          <a:p>
            <a:pPr>
              <a:buClr>
                <a:srgbClr val="0B3041"/>
              </a:buClr>
            </a:pPr>
            <a:r>
              <a:rPr lang="it-IT" sz="2400" dirty="0"/>
              <a:t>Integrazione con interfaccia aptica per fornire feedback tattile durante le manovre chirurgiche</a:t>
            </a:r>
          </a:p>
          <a:p>
            <a:pPr>
              <a:buClr>
                <a:srgbClr val="0B3041"/>
              </a:buClr>
            </a:pPr>
            <a:endParaRPr lang="it-IT" sz="2400" dirty="0"/>
          </a:p>
          <a:p>
            <a:pPr>
              <a:buClr>
                <a:srgbClr val="0B3041"/>
              </a:buClr>
            </a:pPr>
            <a:r>
              <a:rPr lang="it-IT" sz="2400" dirty="0"/>
              <a:t>Uso del visore Meta per un’esperienza immersiva in realtà virtuale</a:t>
            </a:r>
          </a:p>
        </p:txBody>
      </p:sp>
      <p:sp>
        <p:nvSpPr>
          <p:cNvPr id="19" name="Rettangolo con un angolo arrotondato 18">
            <a:extLst>
              <a:ext uri="{FF2B5EF4-FFF2-40B4-BE49-F238E27FC236}">
                <a16:creationId xmlns:a16="http://schemas.microsoft.com/office/drawing/2014/main" id="{8A2B49A0-0023-720C-9D05-1EDFB1077EF9}"/>
              </a:ext>
            </a:extLst>
          </p:cNvPr>
          <p:cNvSpPr/>
          <p:nvPr/>
        </p:nvSpPr>
        <p:spPr>
          <a:xfrm flipV="1">
            <a:off x="481263" y="358140"/>
            <a:ext cx="4974657" cy="861060"/>
          </a:xfrm>
          <a:prstGeom prst="round1Rect">
            <a:avLst>
              <a:gd name="adj" fmla="val 50000"/>
            </a:avLst>
          </a:prstGeom>
          <a:solidFill>
            <a:srgbClr val="0B30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endParaRPr lang="en-US" b="1" dirty="0">
              <a:solidFill>
                <a:srgbClr val="FFFFFF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46EF8464-4B40-5575-088F-AA37FEB5BBB8}"/>
              </a:ext>
            </a:extLst>
          </p:cNvPr>
          <p:cNvSpPr txBox="1"/>
          <p:nvPr/>
        </p:nvSpPr>
        <p:spPr>
          <a:xfrm>
            <a:off x="1219801" y="387887"/>
            <a:ext cx="349758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800" b="1" dirty="0" err="1">
                <a:solidFill>
                  <a:srgbClr val="FFFFFF"/>
                </a:solidFill>
                <a:ea typeface="ui-sans-serif" pitchFamily="34" charset="-122"/>
                <a:cs typeface="ui-sans-serif" pitchFamily="34" charset="-120"/>
              </a:rPr>
              <a:t>Scopo</a:t>
            </a:r>
            <a:r>
              <a:rPr lang="en-US" sz="2800" b="1" dirty="0">
                <a:solidFill>
                  <a:srgbClr val="FFFFFF"/>
                </a:solidFill>
                <a:ea typeface="ui-sans-serif" pitchFamily="34" charset="-122"/>
                <a:cs typeface="ui-sans-serif" pitchFamily="34" charset="-120"/>
              </a:rPr>
              <a:t> del </a:t>
            </a:r>
            <a:r>
              <a:rPr lang="en-US" sz="2800" b="1" dirty="0" err="1">
                <a:solidFill>
                  <a:srgbClr val="FFFFFF"/>
                </a:solidFill>
                <a:ea typeface="ui-sans-serif" pitchFamily="34" charset="-122"/>
                <a:cs typeface="ui-sans-serif" pitchFamily="34" charset="-120"/>
              </a:rPr>
              <a:t>progetto</a:t>
            </a:r>
            <a:endParaRPr lang="en-US" sz="2800" b="1" dirty="0">
              <a:solidFill>
                <a:srgbClr val="FFFFFF"/>
              </a:solidFill>
              <a:ea typeface="ui-sans-serif" pitchFamily="34" charset="-122"/>
              <a:cs typeface="ui-sans-serif" pitchFamily="34" charset="-120"/>
            </a:endParaRPr>
          </a:p>
        </p:txBody>
      </p:sp>
      <p:pic>
        <p:nvPicPr>
          <p:cNvPr id="22" name="Image 6" descr="preencoded.png">
            <a:extLst>
              <a:ext uri="{FF2B5EF4-FFF2-40B4-BE49-F238E27FC236}">
                <a16:creationId xmlns:a16="http://schemas.microsoft.com/office/drawing/2014/main" id="{17DEE7CB-F692-69F5-3E42-B7857953EF0A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871590" y="5734605"/>
            <a:ext cx="319035" cy="317376"/>
          </a:xfrm>
          <a:prstGeom prst="rect">
            <a:avLst/>
          </a:prstGeom>
        </p:spPr>
      </p:pic>
      <p:pic>
        <p:nvPicPr>
          <p:cNvPr id="23" name="Image 3" descr="preencoded.png">
            <a:extLst>
              <a:ext uri="{FF2B5EF4-FFF2-40B4-BE49-F238E27FC236}">
                <a16:creationId xmlns:a16="http://schemas.microsoft.com/office/drawing/2014/main" id="{67145DB2-5479-0387-A163-673FDF5DE4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922" y="4618962"/>
            <a:ext cx="544250" cy="571500"/>
          </a:xfrm>
          <a:prstGeom prst="rect">
            <a:avLst/>
          </a:prstGeom>
        </p:spPr>
      </p:pic>
      <p:pic>
        <p:nvPicPr>
          <p:cNvPr id="24" name="Image 4" descr="preencoded.png">
            <a:extLst>
              <a:ext uri="{FF2B5EF4-FFF2-40B4-BE49-F238E27FC236}">
                <a16:creationId xmlns:a16="http://schemas.microsoft.com/office/drawing/2014/main" id="{5FA1E725-8D82-179F-CE1B-4EC5ED33475D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13905" y="4752312"/>
            <a:ext cx="223481" cy="304800"/>
          </a:xfrm>
          <a:prstGeom prst="rect">
            <a:avLst/>
          </a:prstGeom>
        </p:spPr>
      </p:pic>
      <p:pic>
        <p:nvPicPr>
          <p:cNvPr id="25" name="Image 17" descr="preencoded.png">
            <a:extLst>
              <a:ext uri="{FF2B5EF4-FFF2-40B4-BE49-F238E27FC236}">
                <a16:creationId xmlns:a16="http://schemas.microsoft.com/office/drawing/2014/main" id="{13513519-F453-FF1E-5EF3-5D96ED227703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00469" y="2653691"/>
            <a:ext cx="272125" cy="304800"/>
          </a:xfrm>
          <a:prstGeom prst="rect">
            <a:avLst/>
          </a:prstGeom>
        </p:spPr>
      </p:pic>
      <p:pic>
        <p:nvPicPr>
          <p:cNvPr id="28" name="Image 3" descr="preencoded.png">
            <a:extLst>
              <a:ext uri="{FF2B5EF4-FFF2-40B4-BE49-F238E27FC236}">
                <a16:creationId xmlns:a16="http://schemas.microsoft.com/office/drawing/2014/main" id="{7C506214-9A00-17CA-330E-B716265739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235" y="3569651"/>
            <a:ext cx="544250" cy="571500"/>
          </a:xfrm>
          <a:prstGeom prst="rect">
            <a:avLst/>
          </a:prstGeom>
        </p:spPr>
      </p:pic>
      <p:pic>
        <p:nvPicPr>
          <p:cNvPr id="35" name="Image 12" descr="preencoded.png">
            <a:extLst>
              <a:ext uri="{FF2B5EF4-FFF2-40B4-BE49-F238E27FC236}">
                <a16:creationId xmlns:a16="http://schemas.microsoft.com/office/drawing/2014/main" id="{B42F2007-A9FB-37FE-863E-EEF681AC301A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913905" y="3706492"/>
            <a:ext cx="244913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1689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192FE-D739-2694-7331-513BA5ABD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tangolo con un angolo arrotondato 18">
            <a:extLst>
              <a:ext uri="{FF2B5EF4-FFF2-40B4-BE49-F238E27FC236}">
                <a16:creationId xmlns:a16="http://schemas.microsoft.com/office/drawing/2014/main" id="{24EFCBB6-84DA-1F1E-8CE1-000463380011}"/>
              </a:ext>
            </a:extLst>
          </p:cNvPr>
          <p:cNvSpPr/>
          <p:nvPr/>
        </p:nvSpPr>
        <p:spPr>
          <a:xfrm flipV="1">
            <a:off x="481263" y="358140"/>
            <a:ext cx="4974657" cy="861060"/>
          </a:xfrm>
          <a:prstGeom prst="round1Rect">
            <a:avLst>
              <a:gd name="adj" fmla="val 50000"/>
            </a:avLst>
          </a:prstGeom>
          <a:solidFill>
            <a:srgbClr val="0B30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endParaRPr lang="en-US" b="1" dirty="0">
              <a:solidFill>
                <a:srgbClr val="FFFFFF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B6FA3321-007F-BFDB-FA0A-CC7FCB0BC17F}"/>
              </a:ext>
            </a:extLst>
          </p:cNvPr>
          <p:cNvSpPr txBox="1"/>
          <p:nvPr/>
        </p:nvSpPr>
        <p:spPr>
          <a:xfrm>
            <a:off x="1219801" y="387887"/>
            <a:ext cx="349758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800" b="1" dirty="0" err="1">
                <a:solidFill>
                  <a:srgbClr val="FFFFFF"/>
                </a:solidFill>
                <a:ea typeface="ui-sans-serif" pitchFamily="34" charset="-122"/>
                <a:cs typeface="ui-sans-serif" pitchFamily="34" charset="-120"/>
              </a:rPr>
              <a:t>Obiettivi</a:t>
            </a:r>
            <a:endParaRPr lang="en-US" sz="2800" b="1" dirty="0">
              <a:solidFill>
                <a:srgbClr val="FFFFFF"/>
              </a:solidFill>
              <a:ea typeface="ui-sans-serif" pitchFamily="34" charset="-122"/>
              <a:cs typeface="ui-sans-serif" pitchFamily="34" charset="-120"/>
            </a:endParaRPr>
          </a:p>
        </p:txBody>
      </p:sp>
      <p:grpSp>
        <p:nvGrpSpPr>
          <p:cNvPr id="17" name="Gruppo 16">
            <a:extLst>
              <a:ext uri="{FF2B5EF4-FFF2-40B4-BE49-F238E27FC236}">
                <a16:creationId xmlns:a16="http://schemas.microsoft.com/office/drawing/2014/main" id="{61427ADE-DECD-CEE7-8F90-3DF47A1E089F}"/>
              </a:ext>
            </a:extLst>
          </p:cNvPr>
          <p:cNvGrpSpPr/>
          <p:nvPr/>
        </p:nvGrpSpPr>
        <p:grpSpPr>
          <a:xfrm>
            <a:off x="2117256" y="1773706"/>
            <a:ext cx="1188720" cy="1158241"/>
            <a:chOff x="1747520" y="2599266"/>
            <a:chExt cx="1188720" cy="1158241"/>
          </a:xfrm>
          <a:solidFill>
            <a:srgbClr val="0B3041"/>
          </a:solidFill>
        </p:grpSpPr>
        <p:sp>
          <p:nvSpPr>
            <p:cNvPr id="18" name="Ovale 17">
              <a:extLst>
                <a:ext uri="{FF2B5EF4-FFF2-40B4-BE49-F238E27FC236}">
                  <a16:creationId xmlns:a16="http://schemas.microsoft.com/office/drawing/2014/main" id="{22D4E4F7-4B76-E591-4FEE-3BCC615DB75B}"/>
                </a:ext>
              </a:extLst>
            </p:cNvPr>
            <p:cNvSpPr/>
            <p:nvPr/>
          </p:nvSpPr>
          <p:spPr>
            <a:xfrm>
              <a:off x="1747520" y="2599266"/>
              <a:ext cx="1188720" cy="11582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0" name="CasellaDiTesto 19">
              <a:extLst>
                <a:ext uri="{FF2B5EF4-FFF2-40B4-BE49-F238E27FC236}">
                  <a16:creationId xmlns:a16="http://schemas.microsoft.com/office/drawing/2014/main" id="{AB2A08DE-076C-EAAF-DD88-7C44DC2F5795}"/>
                </a:ext>
              </a:extLst>
            </p:cNvPr>
            <p:cNvSpPr txBox="1"/>
            <p:nvPr/>
          </p:nvSpPr>
          <p:spPr>
            <a:xfrm>
              <a:off x="2135402" y="2885998"/>
              <a:ext cx="412955" cy="58477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it-IT" sz="3200" b="1" dirty="0">
                  <a:solidFill>
                    <a:schemeClr val="bg1"/>
                  </a:solidFill>
                </a:rPr>
                <a:t>1</a:t>
              </a:r>
            </a:p>
          </p:txBody>
        </p:sp>
      </p:grpSp>
      <p:grpSp>
        <p:nvGrpSpPr>
          <p:cNvPr id="29" name="Gruppo 28">
            <a:extLst>
              <a:ext uri="{FF2B5EF4-FFF2-40B4-BE49-F238E27FC236}">
                <a16:creationId xmlns:a16="http://schemas.microsoft.com/office/drawing/2014/main" id="{2E70243B-1D2D-AE4D-A758-77A262DCAB41}"/>
              </a:ext>
            </a:extLst>
          </p:cNvPr>
          <p:cNvGrpSpPr/>
          <p:nvPr/>
        </p:nvGrpSpPr>
        <p:grpSpPr>
          <a:xfrm>
            <a:off x="2117256" y="3486453"/>
            <a:ext cx="1188720" cy="1158241"/>
            <a:chOff x="1747520" y="2599266"/>
            <a:chExt cx="1188720" cy="1158241"/>
          </a:xfrm>
          <a:solidFill>
            <a:srgbClr val="0B3041"/>
          </a:solidFill>
        </p:grpSpPr>
        <p:sp>
          <p:nvSpPr>
            <p:cNvPr id="30" name="Ovale 29">
              <a:extLst>
                <a:ext uri="{FF2B5EF4-FFF2-40B4-BE49-F238E27FC236}">
                  <a16:creationId xmlns:a16="http://schemas.microsoft.com/office/drawing/2014/main" id="{9B73B83A-CA74-A359-A2AA-DD7C07414D78}"/>
                </a:ext>
              </a:extLst>
            </p:cNvPr>
            <p:cNvSpPr/>
            <p:nvPr/>
          </p:nvSpPr>
          <p:spPr>
            <a:xfrm>
              <a:off x="1747520" y="2599266"/>
              <a:ext cx="1188720" cy="11582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31" name="CasellaDiTesto 30">
              <a:extLst>
                <a:ext uri="{FF2B5EF4-FFF2-40B4-BE49-F238E27FC236}">
                  <a16:creationId xmlns:a16="http://schemas.microsoft.com/office/drawing/2014/main" id="{9882D2A9-12BC-26D7-C167-F2BC95F0D406}"/>
                </a:ext>
              </a:extLst>
            </p:cNvPr>
            <p:cNvSpPr txBox="1"/>
            <p:nvPr/>
          </p:nvSpPr>
          <p:spPr>
            <a:xfrm>
              <a:off x="2135402" y="2885998"/>
              <a:ext cx="412955" cy="58477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it-IT" sz="3200" b="1" dirty="0">
                  <a:solidFill>
                    <a:schemeClr val="bg1"/>
                  </a:solidFill>
                </a:rPr>
                <a:t>2</a:t>
              </a:r>
            </a:p>
          </p:txBody>
        </p:sp>
      </p:grpSp>
      <p:grpSp>
        <p:nvGrpSpPr>
          <p:cNvPr id="33" name="Gruppo 32">
            <a:extLst>
              <a:ext uri="{FF2B5EF4-FFF2-40B4-BE49-F238E27FC236}">
                <a16:creationId xmlns:a16="http://schemas.microsoft.com/office/drawing/2014/main" id="{CC9984A7-CF83-4C0F-6E88-C586DAB0529E}"/>
              </a:ext>
            </a:extLst>
          </p:cNvPr>
          <p:cNvGrpSpPr/>
          <p:nvPr/>
        </p:nvGrpSpPr>
        <p:grpSpPr>
          <a:xfrm>
            <a:off x="2117256" y="5210574"/>
            <a:ext cx="1188720" cy="1158241"/>
            <a:chOff x="1747520" y="2599266"/>
            <a:chExt cx="1188720" cy="1158241"/>
          </a:xfrm>
          <a:solidFill>
            <a:srgbClr val="0B3041"/>
          </a:solidFill>
        </p:grpSpPr>
        <p:sp>
          <p:nvSpPr>
            <p:cNvPr id="34" name="Ovale 33">
              <a:extLst>
                <a:ext uri="{FF2B5EF4-FFF2-40B4-BE49-F238E27FC236}">
                  <a16:creationId xmlns:a16="http://schemas.microsoft.com/office/drawing/2014/main" id="{E46D37DE-192B-67B6-639A-F69E4C3217BE}"/>
                </a:ext>
              </a:extLst>
            </p:cNvPr>
            <p:cNvSpPr/>
            <p:nvPr/>
          </p:nvSpPr>
          <p:spPr>
            <a:xfrm>
              <a:off x="1747520" y="2599266"/>
              <a:ext cx="1188720" cy="11582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35" name="CasellaDiTesto 34">
              <a:extLst>
                <a:ext uri="{FF2B5EF4-FFF2-40B4-BE49-F238E27FC236}">
                  <a16:creationId xmlns:a16="http://schemas.microsoft.com/office/drawing/2014/main" id="{1C0C5DEA-30CD-68BD-656C-1652777C5A6E}"/>
                </a:ext>
              </a:extLst>
            </p:cNvPr>
            <p:cNvSpPr txBox="1"/>
            <p:nvPr/>
          </p:nvSpPr>
          <p:spPr>
            <a:xfrm>
              <a:off x="2135402" y="2885998"/>
              <a:ext cx="412955" cy="58477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it-IT" sz="3200" b="1" dirty="0">
                  <a:solidFill>
                    <a:schemeClr val="bg1"/>
                  </a:solidFill>
                </a:rPr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50732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0E4D6-44D8-3DC8-2DD2-84918E9F3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tangolo con un angolo arrotondato 18">
            <a:extLst>
              <a:ext uri="{FF2B5EF4-FFF2-40B4-BE49-F238E27FC236}">
                <a16:creationId xmlns:a16="http://schemas.microsoft.com/office/drawing/2014/main" id="{5EADA1CC-E4BA-474D-424D-91A405892158}"/>
              </a:ext>
            </a:extLst>
          </p:cNvPr>
          <p:cNvSpPr/>
          <p:nvPr/>
        </p:nvSpPr>
        <p:spPr>
          <a:xfrm flipV="1">
            <a:off x="481263" y="358140"/>
            <a:ext cx="4974657" cy="861060"/>
          </a:xfrm>
          <a:prstGeom prst="round1Rect">
            <a:avLst>
              <a:gd name="adj" fmla="val 50000"/>
            </a:avLst>
          </a:prstGeom>
          <a:solidFill>
            <a:srgbClr val="0B30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endParaRPr lang="en-US" b="1" dirty="0">
              <a:solidFill>
                <a:srgbClr val="FFFFFF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655C8358-BC21-7B87-37DD-85EBC21BB727}"/>
              </a:ext>
            </a:extLst>
          </p:cNvPr>
          <p:cNvSpPr txBox="1"/>
          <p:nvPr/>
        </p:nvSpPr>
        <p:spPr>
          <a:xfrm>
            <a:off x="1219801" y="387887"/>
            <a:ext cx="349758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800" b="1" dirty="0" err="1">
                <a:solidFill>
                  <a:srgbClr val="FFFFFF"/>
                </a:solidFill>
                <a:ea typeface="ui-sans-serif" pitchFamily="34" charset="-122"/>
                <a:cs typeface="ui-sans-serif" pitchFamily="34" charset="-120"/>
              </a:rPr>
              <a:t>Obiettivi</a:t>
            </a:r>
            <a:endParaRPr lang="en-US" sz="2800" b="1" dirty="0">
              <a:solidFill>
                <a:srgbClr val="FFFFFF"/>
              </a:solidFill>
              <a:ea typeface="ui-sans-serif" pitchFamily="34" charset="-122"/>
              <a:cs typeface="ui-sans-serif" pitchFamily="34" charset="-120"/>
            </a:endParaRPr>
          </a:p>
        </p:txBody>
      </p:sp>
      <p:sp>
        <p:nvSpPr>
          <p:cNvPr id="13" name="Rettangolo con angoli arrotondati 12">
            <a:extLst>
              <a:ext uri="{FF2B5EF4-FFF2-40B4-BE49-F238E27FC236}">
                <a16:creationId xmlns:a16="http://schemas.microsoft.com/office/drawing/2014/main" id="{F3EF7B2A-CA5A-C55A-A382-EDB44470EB52}"/>
              </a:ext>
            </a:extLst>
          </p:cNvPr>
          <p:cNvSpPr/>
          <p:nvPr/>
        </p:nvSpPr>
        <p:spPr>
          <a:xfrm>
            <a:off x="1828387" y="1792666"/>
            <a:ext cx="9105084" cy="1127907"/>
          </a:xfrm>
          <a:prstGeom prst="roundRect">
            <a:avLst/>
          </a:prstGeom>
          <a:solidFill>
            <a:srgbClr val="154065">
              <a:alpha val="4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800" dirty="0">
                <a:solidFill>
                  <a:schemeClr val="tx1"/>
                </a:solidFill>
              </a:rPr>
              <a:t>      </a:t>
            </a:r>
          </a:p>
          <a:p>
            <a:pPr algn="ctr"/>
            <a:r>
              <a:rPr lang="it-IT" sz="2400" dirty="0">
                <a:solidFill>
                  <a:schemeClr val="tx1"/>
                </a:solidFill>
              </a:rPr>
              <a:t> </a:t>
            </a:r>
            <a:endParaRPr lang="it-IT" dirty="0"/>
          </a:p>
        </p:txBody>
      </p:sp>
      <p:grpSp>
        <p:nvGrpSpPr>
          <p:cNvPr id="17" name="Gruppo 16">
            <a:extLst>
              <a:ext uri="{FF2B5EF4-FFF2-40B4-BE49-F238E27FC236}">
                <a16:creationId xmlns:a16="http://schemas.microsoft.com/office/drawing/2014/main" id="{1EFBE1FD-736B-C692-1F5D-0CAE6908C68A}"/>
              </a:ext>
            </a:extLst>
          </p:cNvPr>
          <p:cNvGrpSpPr/>
          <p:nvPr/>
        </p:nvGrpSpPr>
        <p:grpSpPr>
          <a:xfrm>
            <a:off x="1392412" y="1777498"/>
            <a:ext cx="1188720" cy="1158241"/>
            <a:chOff x="1747520" y="2599266"/>
            <a:chExt cx="1188720" cy="1158241"/>
          </a:xfrm>
          <a:solidFill>
            <a:srgbClr val="0B3041"/>
          </a:solidFill>
        </p:grpSpPr>
        <p:sp>
          <p:nvSpPr>
            <p:cNvPr id="18" name="Ovale 17">
              <a:extLst>
                <a:ext uri="{FF2B5EF4-FFF2-40B4-BE49-F238E27FC236}">
                  <a16:creationId xmlns:a16="http://schemas.microsoft.com/office/drawing/2014/main" id="{2DF0DFC3-AEA9-E486-6164-1715E321FD97}"/>
                </a:ext>
              </a:extLst>
            </p:cNvPr>
            <p:cNvSpPr/>
            <p:nvPr/>
          </p:nvSpPr>
          <p:spPr>
            <a:xfrm>
              <a:off x="1747520" y="2599266"/>
              <a:ext cx="1188720" cy="11582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0" name="CasellaDiTesto 19">
              <a:extLst>
                <a:ext uri="{FF2B5EF4-FFF2-40B4-BE49-F238E27FC236}">
                  <a16:creationId xmlns:a16="http://schemas.microsoft.com/office/drawing/2014/main" id="{03D0E4AA-6530-22F2-5C88-B441EB28BD94}"/>
                </a:ext>
              </a:extLst>
            </p:cNvPr>
            <p:cNvSpPr txBox="1"/>
            <p:nvPr/>
          </p:nvSpPr>
          <p:spPr>
            <a:xfrm>
              <a:off x="2135402" y="2885998"/>
              <a:ext cx="412955" cy="58477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it-IT" sz="3200" b="1" dirty="0">
                  <a:solidFill>
                    <a:schemeClr val="bg1"/>
                  </a:solidFill>
                </a:rPr>
                <a:t>1</a:t>
              </a:r>
            </a:p>
          </p:txBody>
        </p:sp>
      </p:grpSp>
      <p:grpSp>
        <p:nvGrpSpPr>
          <p:cNvPr id="29" name="Gruppo 28">
            <a:extLst>
              <a:ext uri="{FF2B5EF4-FFF2-40B4-BE49-F238E27FC236}">
                <a16:creationId xmlns:a16="http://schemas.microsoft.com/office/drawing/2014/main" id="{B3CAB126-51A4-C818-16A4-1F29C99684F6}"/>
              </a:ext>
            </a:extLst>
          </p:cNvPr>
          <p:cNvGrpSpPr/>
          <p:nvPr/>
        </p:nvGrpSpPr>
        <p:grpSpPr>
          <a:xfrm>
            <a:off x="2117256" y="3486453"/>
            <a:ext cx="1188720" cy="1158241"/>
            <a:chOff x="1747520" y="2599266"/>
            <a:chExt cx="1188720" cy="1158241"/>
          </a:xfrm>
          <a:solidFill>
            <a:srgbClr val="0B3041"/>
          </a:solidFill>
        </p:grpSpPr>
        <p:sp>
          <p:nvSpPr>
            <p:cNvPr id="30" name="Ovale 29">
              <a:extLst>
                <a:ext uri="{FF2B5EF4-FFF2-40B4-BE49-F238E27FC236}">
                  <a16:creationId xmlns:a16="http://schemas.microsoft.com/office/drawing/2014/main" id="{716155AB-BF45-7B28-0504-F55A74641F85}"/>
                </a:ext>
              </a:extLst>
            </p:cNvPr>
            <p:cNvSpPr/>
            <p:nvPr/>
          </p:nvSpPr>
          <p:spPr>
            <a:xfrm>
              <a:off x="1747520" y="2599266"/>
              <a:ext cx="1188720" cy="11582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31" name="CasellaDiTesto 30">
              <a:extLst>
                <a:ext uri="{FF2B5EF4-FFF2-40B4-BE49-F238E27FC236}">
                  <a16:creationId xmlns:a16="http://schemas.microsoft.com/office/drawing/2014/main" id="{9AC6F476-A82F-218A-BA27-646F7DE3A2FF}"/>
                </a:ext>
              </a:extLst>
            </p:cNvPr>
            <p:cNvSpPr txBox="1"/>
            <p:nvPr/>
          </p:nvSpPr>
          <p:spPr>
            <a:xfrm>
              <a:off x="2135402" y="2885998"/>
              <a:ext cx="412955" cy="58477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it-IT" sz="3200" b="1" dirty="0">
                  <a:solidFill>
                    <a:schemeClr val="bg1"/>
                  </a:solidFill>
                </a:rPr>
                <a:t>2</a:t>
              </a:r>
            </a:p>
          </p:txBody>
        </p:sp>
      </p:grpSp>
      <p:grpSp>
        <p:nvGrpSpPr>
          <p:cNvPr id="33" name="Gruppo 32">
            <a:extLst>
              <a:ext uri="{FF2B5EF4-FFF2-40B4-BE49-F238E27FC236}">
                <a16:creationId xmlns:a16="http://schemas.microsoft.com/office/drawing/2014/main" id="{E7C4CA6D-CFD8-C6E5-7D5B-A7399BEBD9E1}"/>
              </a:ext>
            </a:extLst>
          </p:cNvPr>
          <p:cNvGrpSpPr/>
          <p:nvPr/>
        </p:nvGrpSpPr>
        <p:grpSpPr>
          <a:xfrm>
            <a:off x="2117256" y="5210574"/>
            <a:ext cx="1188720" cy="1158241"/>
            <a:chOff x="1747520" y="2599266"/>
            <a:chExt cx="1188720" cy="1158241"/>
          </a:xfrm>
          <a:solidFill>
            <a:srgbClr val="0B3041"/>
          </a:solidFill>
        </p:grpSpPr>
        <p:sp>
          <p:nvSpPr>
            <p:cNvPr id="34" name="Ovale 33">
              <a:extLst>
                <a:ext uri="{FF2B5EF4-FFF2-40B4-BE49-F238E27FC236}">
                  <a16:creationId xmlns:a16="http://schemas.microsoft.com/office/drawing/2014/main" id="{99EB1D73-B7A1-43E8-D6CA-FD525B0F92A7}"/>
                </a:ext>
              </a:extLst>
            </p:cNvPr>
            <p:cNvSpPr/>
            <p:nvPr/>
          </p:nvSpPr>
          <p:spPr>
            <a:xfrm>
              <a:off x="1747520" y="2599266"/>
              <a:ext cx="1188720" cy="11582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35" name="CasellaDiTesto 34">
              <a:extLst>
                <a:ext uri="{FF2B5EF4-FFF2-40B4-BE49-F238E27FC236}">
                  <a16:creationId xmlns:a16="http://schemas.microsoft.com/office/drawing/2014/main" id="{27D74893-03EE-C947-10FE-FE6E555B0DD3}"/>
                </a:ext>
              </a:extLst>
            </p:cNvPr>
            <p:cNvSpPr txBox="1"/>
            <p:nvPr/>
          </p:nvSpPr>
          <p:spPr>
            <a:xfrm>
              <a:off x="2135402" y="2885998"/>
              <a:ext cx="412955" cy="58477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it-IT" sz="3200" b="1" dirty="0">
                  <a:solidFill>
                    <a:schemeClr val="bg1"/>
                  </a:solidFill>
                </a:rPr>
                <a:t>3</a:t>
              </a:r>
            </a:p>
          </p:txBody>
        </p:sp>
      </p:grp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224B3A0E-D4CA-6DBD-E387-5570E355247D}"/>
              </a:ext>
            </a:extLst>
          </p:cNvPr>
          <p:cNvSpPr txBox="1"/>
          <p:nvPr/>
        </p:nvSpPr>
        <p:spPr>
          <a:xfrm>
            <a:off x="2711616" y="1894952"/>
            <a:ext cx="79344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chemeClr val="bg1"/>
                </a:solidFill>
              </a:rPr>
              <a:t>Obiettivi didattici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Fornire uno strumento formativo per studenti e specializzandi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Facilitare la comprensione dell’anatomia del collo e delle fasi chirurgiche</a:t>
            </a:r>
          </a:p>
        </p:txBody>
      </p:sp>
    </p:spTree>
    <p:extLst>
      <p:ext uri="{BB962C8B-B14F-4D97-AF65-F5344CB8AC3E}">
        <p14:creationId xmlns:p14="http://schemas.microsoft.com/office/powerpoint/2010/main" val="12437595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69823-8E52-2EDB-2066-ADC3365B3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tangolo con un angolo arrotondato 18">
            <a:extLst>
              <a:ext uri="{FF2B5EF4-FFF2-40B4-BE49-F238E27FC236}">
                <a16:creationId xmlns:a16="http://schemas.microsoft.com/office/drawing/2014/main" id="{1A5EC768-A12C-0623-4084-E4124AA718ED}"/>
              </a:ext>
            </a:extLst>
          </p:cNvPr>
          <p:cNvSpPr/>
          <p:nvPr/>
        </p:nvSpPr>
        <p:spPr>
          <a:xfrm flipV="1">
            <a:off x="481263" y="358140"/>
            <a:ext cx="4974657" cy="861060"/>
          </a:xfrm>
          <a:prstGeom prst="round1Rect">
            <a:avLst>
              <a:gd name="adj" fmla="val 50000"/>
            </a:avLst>
          </a:prstGeom>
          <a:solidFill>
            <a:srgbClr val="0B30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endParaRPr lang="en-US" b="1" dirty="0">
              <a:solidFill>
                <a:srgbClr val="FFFFFF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1F097BD7-6883-8410-7A14-7385C7C57B99}"/>
              </a:ext>
            </a:extLst>
          </p:cNvPr>
          <p:cNvSpPr txBox="1"/>
          <p:nvPr/>
        </p:nvSpPr>
        <p:spPr>
          <a:xfrm>
            <a:off x="1219801" y="387887"/>
            <a:ext cx="349758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800" b="1" dirty="0" err="1">
                <a:solidFill>
                  <a:srgbClr val="FFFFFF"/>
                </a:solidFill>
                <a:ea typeface="ui-sans-serif" pitchFamily="34" charset="-122"/>
                <a:cs typeface="ui-sans-serif" pitchFamily="34" charset="-120"/>
              </a:rPr>
              <a:t>Obiettivi</a:t>
            </a:r>
            <a:endParaRPr lang="en-US" sz="2800" b="1" dirty="0">
              <a:solidFill>
                <a:srgbClr val="FFFFFF"/>
              </a:solidFill>
              <a:ea typeface="ui-sans-serif" pitchFamily="34" charset="-122"/>
              <a:cs typeface="ui-sans-serif" pitchFamily="34" charset="-120"/>
            </a:endParaRPr>
          </a:p>
        </p:txBody>
      </p:sp>
      <p:sp>
        <p:nvSpPr>
          <p:cNvPr id="13" name="Rettangolo con angoli arrotondati 12">
            <a:extLst>
              <a:ext uri="{FF2B5EF4-FFF2-40B4-BE49-F238E27FC236}">
                <a16:creationId xmlns:a16="http://schemas.microsoft.com/office/drawing/2014/main" id="{D619AD57-6E60-BCD9-77DB-02A9DCF75C58}"/>
              </a:ext>
            </a:extLst>
          </p:cNvPr>
          <p:cNvSpPr/>
          <p:nvPr/>
        </p:nvSpPr>
        <p:spPr>
          <a:xfrm>
            <a:off x="1828387" y="1792666"/>
            <a:ext cx="9105084" cy="1127907"/>
          </a:xfrm>
          <a:prstGeom prst="roundRect">
            <a:avLst/>
          </a:prstGeom>
          <a:solidFill>
            <a:srgbClr val="154065">
              <a:alpha val="4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800" dirty="0">
                <a:solidFill>
                  <a:schemeClr val="tx1"/>
                </a:solidFill>
              </a:rPr>
              <a:t>      </a:t>
            </a:r>
          </a:p>
          <a:p>
            <a:pPr algn="ctr"/>
            <a:r>
              <a:rPr lang="it-IT" sz="2400" dirty="0">
                <a:solidFill>
                  <a:schemeClr val="tx1"/>
                </a:solidFill>
              </a:rPr>
              <a:t> </a:t>
            </a:r>
            <a:endParaRPr lang="it-IT" dirty="0"/>
          </a:p>
        </p:txBody>
      </p:sp>
      <p:grpSp>
        <p:nvGrpSpPr>
          <p:cNvPr id="17" name="Gruppo 16">
            <a:extLst>
              <a:ext uri="{FF2B5EF4-FFF2-40B4-BE49-F238E27FC236}">
                <a16:creationId xmlns:a16="http://schemas.microsoft.com/office/drawing/2014/main" id="{AAD4E442-392B-B142-CE3F-08ADBFD68280}"/>
              </a:ext>
            </a:extLst>
          </p:cNvPr>
          <p:cNvGrpSpPr/>
          <p:nvPr/>
        </p:nvGrpSpPr>
        <p:grpSpPr>
          <a:xfrm>
            <a:off x="1392412" y="1777498"/>
            <a:ext cx="1188720" cy="1158241"/>
            <a:chOff x="1747520" y="2599266"/>
            <a:chExt cx="1188720" cy="1158241"/>
          </a:xfrm>
          <a:solidFill>
            <a:srgbClr val="0B3041"/>
          </a:solidFill>
        </p:grpSpPr>
        <p:sp>
          <p:nvSpPr>
            <p:cNvPr id="18" name="Ovale 17">
              <a:extLst>
                <a:ext uri="{FF2B5EF4-FFF2-40B4-BE49-F238E27FC236}">
                  <a16:creationId xmlns:a16="http://schemas.microsoft.com/office/drawing/2014/main" id="{D097C15E-AD10-90FA-C39F-B39946EEDC1B}"/>
                </a:ext>
              </a:extLst>
            </p:cNvPr>
            <p:cNvSpPr/>
            <p:nvPr/>
          </p:nvSpPr>
          <p:spPr>
            <a:xfrm>
              <a:off x="1747520" y="2599266"/>
              <a:ext cx="1188720" cy="11582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dirty="0"/>
            </a:p>
          </p:txBody>
        </p:sp>
        <p:sp>
          <p:nvSpPr>
            <p:cNvPr id="20" name="CasellaDiTesto 19">
              <a:extLst>
                <a:ext uri="{FF2B5EF4-FFF2-40B4-BE49-F238E27FC236}">
                  <a16:creationId xmlns:a16="http://schemas.microsoft.com/office/drawing/2014/main" id="{BA6999AF-9EE0-C90D-F414-FDD174F4A72D}"/>
                </a:ext>
              </a:extLst>
            </p:cNvPr>
            <p:cNvSpPr txBox="1"/>
            <p:nvPr/>
          </p:nvSpPr>
          <p:spPr>
            <a:xfrm>
              <a:off x="2135402" y="2885998"/>
              <a:ext cx="412955" cy="58477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it-IT" sz="3200" b="1" dirty="0">
                  <a:solidFill>
                    <a:schemeClr val="bg1"/>
                  </a:solidFill>
                </a:rPr>
                <a:t>1</a:t>
              </a:r>
            </a:p>
          </p:txBody>
        </p:sp>
      </p:grpSp>
      <p:sp>
        <p:nvSpPr>
          <p:cNvPr id="28" name="Rettangolo con angoli arrotondati 27">
            <a:extLst>
              <a:ext uri="{FF2B5EF4-FFF2-40B4-BE49-F238E27FC236}">
                <a16:creationId xmlns:a16="http://schemas.microsoft.com/office/drawing/2014/main" id="{69CDA056-E5B0-EF0F-35EF-815D026FECEC}"/>
              </a:ext>
            </a:extLst>
          </p:cNvPr>
          <p:cNvSpPr/>
          <p:nvPr/>
        </p:nvSpPr>
        <p:spPr>
          <a:xfrm>
            <a:off x="1828387" y="3494037"/>
            <a:ext cx="9105084" cy="1127907"/>
          </a:xfrm>
          <a:prstGeom prst="roundRect">
            <a:avLst/>
          </a:prstGeom>
          <a:solidFill>
            <a:srgbClr val="154065">
              <a:alpha val="4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800" dirty="0">
                <a:solidFill>
                  <a:schemeClr val="tx1"/>
                </a:solidFill>
              </a:rPr>
              <a:t>      </a:t>
            </a:r>
          </a:p>
          <a:p>
            <a:pPr algn="ctr"/>
            <a:r>
              <a:rPr lang="it-IT" sz="2400" dirty="0">
                <a:solidFill>
                  <a:schemeClr val="tx1"/>
                </a:solidFill>
              </a:rPr>
              <a:t> </a:t>
            </a:r>
            <a:endParaRPr lang="it-IT" dirty="0"/>
          </a:p>
        </p:txBody>
      </p:sp>
      <p:grpSp>
        <p:nvGrpSpPr>
          <p:cNvPr id="29" name="Gruppo 28">
            <a:extLst>
              <a:ext uri="{FF2B5EF4-FFF2-40B4-BE49-F238E27FC236}">
                <a16:creationId xmlns:a16="http://schemas.microsoft.com/office/drawing/2014/main" id="{EFC8B019-F9CD-C068-F1DB-C8296B40510C}"/>
              </a:ext>
            </a:extLst>
          </p:cNvPr>
          <p:cNvGrpSpPr/>
          <p:nvPr/>
        </p:nvGrpSpPr>
        <p:grpSpPr>
          <a:xfrm>
            <a:off x="1392412" y="3478869"/>
            <a:ext cx="1188720" cy="1158241"/>
            <a:chOff x="1747520" y="2599266"/>
            <a:chExt cx="1188720" cy="1158241"/>
          </a:xfrm>
          <a:solidFill>
            <a:srgbClr val="0B3041"/>
          </a:solidFill>
        </p:grpSpPr>
        <p:sp>
          <p:nvSpPr>
            <p:cNvPr id="30" name="Ovale 29">
              <a:extLst>
                <a:ext uri="{FF2B5EF4-FFF2-40B4-BE49-F238E27FC236}">
                  <a16:creationId xmlns:a16="http://schemas.microsoft.com/office/drawing/2014/main" id="{98A4E450-0F0B-11FC-798C-91BCB376D031}"/>
                </a:ext>
              </a:extLst>
            </p:cNvPr>
            <p:cNvSpPr/>
            <p:nvPr/>
          </p:nvSpPr>
          <p:spPr>
            <a:xfrm>
              <a:off x="1747520" y="2599266"/>
              <a:ext cx="1188720" cy="11582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31" name="CasellaDiTesto 30">
              <a:extLst>
                <a:ext uri="{FF2B5EF4-FFF2-40B4-BE49-F238E27FC236}">
                  <a16:creationId xmlns:a16="http://schemas.microsoft.com/office/drawing/2014/main" id="{B9BB4075-20F1-8D23-4E8F-6186806F7AA2}"/>
                </a:ext>
              </a:extLst>
            </p:cNvPr>
            <p:cNvSpPr txBox="1"/>
            <p:nvPr/>
          </p:nvSpPr>
          <p:spPr>
            <a:xfrm>
              <a:off x="2135402" y="2885998"/>
              <a:ext cx="412955" cy="58477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it-IT" sz="3200" b="1" dirty="0">
                  <a:solidFill>
                    <a:schemeClr val="bg1"/>
                  </a:solidFill>
                </a:rPr>
                <a:t>2</a:t>
              </a:r>
            </a:p>
          </p:txBody>
        </p:sp>
      </p:grpSp>
      <p:grpSp>
        <p:nvGrpSpPr>
          <p:cNvPr id="33" name="Gruppo 32">
            <a:extLst>
              <a:ext uri="{FF2B5EF4-FFF2-40B4-BE49-F238E27FC236}">
                <a16:creationId xmlns:a16="http://schemas.microsoft.com/office/drawing/2014/main" id="{D69B4F2F-1103-8820-312F-E97D550E85DF}"/>
              </a:ext>
            </a:extLst>
          </p:cNvPr>
          <p:cNvGrpSpPr/>
          <p:nvPr/>
        </p:nvGrpSpPr>
        <p:grpSpPr>
          <a:xfrm>
            <a:off x="2117256" y="5210574"/>
            <a:ext cx="1188720" cy="1158241"/>
            <a:chOff x="1747520" y="2599266"/>
            <a:chExt cx="1188720" cy="1158241"/>
          </a:xfrm>
          <a:solidFill>
            <a:srgbClr val="0B3041"/>
          </a:solidFill>
        </p:grpSpPr>
        <p:sp>
          <p:nvSpPr>
            <p:cNvPr id="34" name="Ovale 33">
              <a:extLst>
                <a:ext uri="{FF2B5EF4-FFF2-40B4-BE49-F238E27FC236}">
                  <a16:creationId xmlns:a16="http://schemas.microsoft.com/office/drawing/2014/main" id="{4DD032E1-2458-E77E-7E29-3B12DD7F0DDF}"/>
                </a:ext>
              </a:extLst>
            </p:cNvPr>
            <p:cNvSpPr/>
            <p:nvPr/>
          </p:nvSpPr>
          <p:spPr>
            <a:xfrm>
              <a:off x="1747520" y="2599266"/>
              <a:ext cx="1188720" cy="11582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35" name="CasellaDiTesto 34">
              <a:extLst>
                <a:ext uri="{FF2B5EF4-FFF2-40B4-BE49-F238E27FC236}">
                  <a16:creationId xmlns:a16="http://schemas.microsoft.com/office/drawing/2014/main" id="{FC90B176-69AB-9C9F-7143-5894889FD1CD}"/>
                </a:ext>
              </a:extLst>
            </p:cNvPr>
            <p:cNvSpPr txBox="1"/>
            <p:nvPr/>
          </p:nvSpPr>
          <p:spPr>
            <a:xfrm>
              <a:off x="2135402" y="2885998"/>
              <a:ext cx="412955" cy="58477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it-IT" sz="3200" b="1" dirty="0">
                  <a:solidFill>
                    <a:schemeClr val="bg1"/>
                  </a:solidFill>
                </a:rPr>
                <a:t>3</a:t>
              </a:r>
            </a:p>
          </p:txBody>
        </p:sp>
      </p:grp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3F18E11C-AAA8-5A4F-3823-88DD07A6B7EC}"/>
              </a:ext>
            </a:extLst>
          </p:cNvPr>
          <p:cNvSpPr txBox="1"/>
          <p:nvPr/>
        </p:nvSpPr>
        <p:spPr>
          <a:xfrm>
            <a:off x="2711616" y="1894952"/>
            <a:ext cx="79344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chemeClr val="bg1"/>
                </a:solidFill>
              </a:rPr>
              <a:t>Obiettivi didattici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Fornire uno strumento formativo per studenti e specializzandi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Facilitare la comprensione dell’anatomia del collo e delle fasi chirurgiche</a:t>
            </a:r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10449E89-7655-1C1B-AC45-221537AFB9F9}"/>
              </a:ext>
            </a:extLst>
          </p:cNvPr>
          <p:cNvSpPr txBox="1"/>
          <p:nvPr/>
        </p:nvSpPr>
        <p:spPr>
          <a:xfrm>
            <a:off x="2711616" y="3596323"/>
            <a:ext cx="859548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chemeClr val="bg1"/>
                </a:solidFill>
              </a:rPr>
              <a:t>Obiettivi clinici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Riprodurre fedelmente le principali fasi dell’intervento di </a:t>
            </a:r>
            <a:r>
              <a:rPr lang="it-IT" dirty="0" err="1">
                <a:solidFill>
                  <a:schemeClr val="bg1"/>
                </a:solidFill>
              </a:rPr>
              <a:t>disectomia</a:t>
            </a:r>
            <a:r>
              <a:rPr lang="it-IT" dirty="0">
                <a:solidFill>
                  <a:schemeClr val="bg1"/>
                </a:solidFill>
              </a:rPr>
              <a:t> cervicale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Supporto alla pianificazione chirurgica e riduzione del rischio operatorio</a:t>
            </a:r>
          </a:p>
        </p:txBody>
      </p:sp>
    </p:spTree>
    <p:extLst>
      <p:ext uri="{BB962C8B-B14F-4D97-AF65-F5344CB8AC3E}">
        <p14:creationId xmlns:p14="http://schemas.microsoft.com/office/powerpoint/2010/main" val="26862374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82645-4719-3923-1BB0-4F3F3E32F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tangolo con un angolo arrotondato 18">
            <a:extLst>
              <a:ext uri="{FF2B5EF4-FFF2-40B4-BE49-F238E27FC236}">
                <a16:creationId xmlns:a16="http://schemas.microsoft.com/office/drawing/2014/main" id="{EC403480-22A9-7B4F-3D44-D9EB06231335}"/>
              </a:ext>
            </a:extLst>
          </p:cNvPr>
          <p:cNvSpPr/>
          <p:nvPr/>
        </p:nvSpPr>
        <p:spPr>
          <a:xfrm flipV="1">
            <a:off x="481263" y="358140"/>
            <a:ext cx="4974657" cy="861060"/>
          </a:xfrm>
          <a:prstGeom prst="round1Rect">
            <a:avLst>
              <a:gd name="adj" fmla="val 50000"/>
            </a:avLst>
          </a:prstGeom>
          <a:solidFill>
            <a:srgbClr val="0B30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endParaRPr lang="en-US" b="1" dirty="0">
              <a:solidFill>
                <a:srgbClr val="FFFFFF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3318ADE7-6123-B6E8-B0FD-8B2A8453498B}"/>
              </a:ext>
            </a:extLst>
          </p:cNvPr>
          <p:cNvSpPr txBox="1"/>
          <p:nvPr/>
        </p:nvSpPr>
        <p:spPr>
          <a:xfrm>
            <a:off x="1219801" y="387887"/>
            <a:ext cx="349758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800" b="1" dirty="0" err="1">
                <a:solidFill>
                  <a:srgbClr val="FFFFFF"/>
                </a:solidFill>
                <a:ea typeface="ui-sans-serif" pitchFamily="34" charset="-122"/>
                <a:cs typeface="ui-sans-serif" pitchFamily="34" charset="-120"/>
              </a:rPr>
              <a:t>Obiettivi</a:t>
            </a:r>
            <a:endParaRPr lang="en-US" sz="2800" b="1" dirty="0">
              <a:solidFill>
                <a:srgbClr val="FFFFFF"/>
              </a:solidFill>
              <a:ea typeface="ui-sans-serif" pitchFamily="34" charset="-122"/>
              <a:cs typeface="ui-sans-serif" pitchFamily="34" charset="-120"/>
            </a:endParaRPr>
          </a:p>
        </p:txBody>
      </p:sp>
      <p:sp>
        <p:nvSpPr>
          <p:cNvPr id="13" name="Rettangolo con angoli arrotondati 12">
            <a:extLst>
              <a:ext uri="{FF2B5EF4-FFF2-40B4-BE49-F238E27FC236}">
                <a16:creationId xmlns:a16="http://schemas.microsoft.com/office/drawing/2014/main" id="{0FF9C5DE-7781-2AE7-29FB-0C7E1BBE6E3A}"/>
              </a:ext>
            </a:extLst>
          </p:cNvPr>
          <p:cNvSpPr/>
          <p:nvPr/>
        </p:nvSpPr>
        <p:spPr>
          <a:xfrm>
            <a:off x="1828387" y="1792666"/>
            <a:ext cx="9105084" cy="1127907"/>
          </a:xfrm>
          <a:prstGeom prst="roundRect">
            <a:avLst/>
          </a:prstGeom>
          <a:solidFill>
            <a:srgbClr val="154065">
              <a:alpha val="4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800" dirty="0">
                <a:solidFill>
                  <a:schemeClr val="tx1"/>
                </a:solidFill>
              </a:rPr>
              <a:t>      </a:t>
            </a:r>
          </a:p>
          <a:p>
            <a:pPr algn="ctr"/>
            <a:r>
              <a:rPr lang="it-IT" sz="2400" dirty="0">
                <a:solidFill>
                  <a:schemeClr val="tx1"/>
                </a:solidFill>
              </a:rPr>
              <a:t> </a:t>
            </a:r>
            <a:endParaRPr lang="it-IT" dirty="0"/>
          </a:p>
        </p:txBody>
      </p:sp>
      <p:grpSp>
        <p:nvGrpSpPr>
          <p:cNvPr id="17" name="Gruppo 16">
            <a:extLst>
              <a:ext uri="{FF2B5EF4-FFF2-40B4-BE49-F238E27FC236}">
                <a16:creationId xmlns:a16="http://schemas.microsoft.com/office/drawing/2014/main" id="{865398D4-8AC4-5C60-9102-32F940FAC4FF}"/>
              </a:ext>
            </a:extLst>
          </p:cNvPr>
          <p:cNvGrpSpPr/>
          <p:nvPr/>
        </p:nvGrpSpPr>
        <p:grpSpPr>
          <a:xfrm>
            <a:off x="1392412" y="1777498"/>
            <a:ext cx="1188720" cy="1158241"/>
            <a:chOff x="1747520" y="2599266"/>
            <a:chExt cx="1188720" cy="1158241"/>
          </a:xfrm>
          <a:solidFill>
            <a:srgbClr val="0B3041"/>
          </a:solidFill>
        </p:grpSpPr>
        <p:sp>
          <p:nvSpPr>
            <p:cNvPr id="18" name="Ovale 17">
              <a:extLst>
                <a:ext uri="{FF2B5EF4-FFF2-40B4-BE49-F238E27FC236}">
                  <a16:creationId xmlns:a16="http://schemas.microsoft.com/office/drawing/2014/main" id="{D8E03E6A-63C1-E9CD-B337-FDBBB04B1EEE}"/>
                </a:ext>
              </a:extLst>
            </p:cNvPr>
            <p:cNvSpPr/>
            <p:nvPr/>
          </p:nvSpPr>
          <p:spPr>
            <a:xfrm>
              <a:off x="1747520" y="2599266"/>
              <a:ext cx="1188720" cy="11582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0" name="CasellaDiTesto 19">
              <a:extLst>
                <a:ext uri="{FF2B5EF4-FFF2-40B4-BE49-F238E27FC236}">
                  <a16:creationId xmlns:a16="http://schemas.microsoft.com/office/drawing/2014/main" id="{B61722D0-8EF1-46B5-0148-01913DE5C7C0}"/>
                </a:ext>
              </a:extLst>
            </p:cNvPr>
            <p:cNvSpPr txBox="1"/>
            <p:nvPr/>
          </p:nvSpPr>
          <p:spPr>
            <a:xfrm>
              <a:off x="2135402" y="2885998"/>
              <a:ext cx="412955" cy="58477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it-IT" sz="3200" b="1" dirty="0">
                  <a:solidFill>
                    <a:schemeClr val="bg1"/>
                  </a:solidFill>
                </a:rPr>
                <a:t>1</a:t>
              </a:r>
            </a:p>
          </p:txBody>
        </p:sp>
      </p:grpSp>
      <p:sp>
        <p:nvSpPr>
          <p:cNvPr id="28" name="Rettangolo con angoli arrotondati 27">
            <a:extLst>
              <a:ext uri="{FF2B5EF4-FFF2-40B4-BE49-F238E27FC236}">
                <a16:creationId xmlns:a16="http://schemas.microsoft.com/office/drawing/2014/main" id="{1F4612E0-68A9-D09A-22A6-D96D051B1079}"/>
              </a:ext>
            </a:extLst>
          </p:cNvPr>
          <p:cNvSpPr/>
          <p:nvPr/>
        </p:nvSpPr>
        <p:spPr>
          <a:xfrm>
            <a:off x="1828387" y="3494037"/>
            <a:ext cx="9105084" cy="1127907"/>
          </a:xfrm>
          <a:prstGeom prst="roundRect">
            <a:avLst/>
          </a:prstGeom>
          <a:solidFill>
            <a:srgbClr val="154065">
              <a:alpha val="4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800" dirty="0">
                <a:solidFill>
                  <a:schemeClr val="tx1"/>
                </a:solidFill>
              </a:rPr>
              <a:t>      </a:t>
            </a:r>
          </a:p>
          <a:p>
            <a:pPr algn="ctr"/>
            <a:r>
              <a:rPr lang="it-IT" sz="2400" dirty="0">
                <a:solidFill>
                  <a:schemeClr val="tx1"/>
                </a:solidFill>
              </a:rPr>
              <a:t> </a:t>
            </a:r>
            <a:endParaRPr lang="it-IT" dirty="0"/>
          </a:p>
        </p:txBody>
      </p:sp>
      <p:grpSp>
        <p:nvGrpSpPr>
          <p:cNvPr id="29" name="Gruppo 28">
            <a:extLst>
              <a:ext uri="{FF2B5EF4-FFF2-40B4-BE49-F238E27FC236}">
                <a16:creationId xmlns:a16="http://schemas.microsoft.com/office/drawing/2014/main" id="{26E39C87-B9A1-EB01-01A5-CF18472BE431}"/>
              </a:ext>
            </a:extLst>
          </p:cNvPr>
          <p:cNvGrpSpPr/>
          <p:nvPr/>
        </p:nvGrpSpPr>
        <p:grpSpPr>
          <a:xfrm>
            <a:off x="1392412" y="3478869"/>
            <a:ext cx="1188720" cy="1158241"/>
            <a:chOff x="1747520" y="2599266"/>
            <a:chExt cx="1188720" cy="1158241"/>
          </a:xfrm>
          <a:solidFill>
            <a:srgbClr val="0B3041"/>
          </a:solidFill>
        </p:grpSpPr>
        <p:sp>
          <p:nvSpPr>
            <p:cNvPr id="30" name="Ovale 29">
              <a:extLst>
                <a:ext uri="{FF2B5EF4-FFF2-40B4-BE49-F238E27FC236}">
                  <a16:creationId xmlns:a16="http://schemas.microsoft.com/office/drawing/2014/main" id="{CFAAACC3-F087-D78F-D0E8-991AA5F23EB5}"/>
                </a:ext>
              </a:extLst>
            </p:cNvPr>
            <p:cNvSpPr/>
            <p:nvPr/>
          </p:nvSpPr>
          <p:spPr>
            <a:xfrm>
              <a:off x="1747520" y="2599266"/>
              <a:ext cx="1188720" cy="11582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31" name="CasellaDiTesto 30">
              <a:extLst>
                <a:ext uri="{FF2B5EF4-FFF2-40B4-BE49-F238E27FC236}">
                  <a16:creationId xmlns:a16="http://schemas.microsoft.com/office/drawing/2014/main" id="{039E4EC6-5D49-CE45-9BE0-17170C779E64}"/>
                </a:ext>
              </a:extLst>
            </p:cNvPr>
            <p:cNvSpPr txBox="1"/>
            <p:nvPr/>
          </p:nvSpPr>
          <p:spPr>
            <a:xfrm>
              <a:off x="2135402" y="2885998"/>
              <a:ext cx="412955" cy="58477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it-IT" sz="3200" b="1" dirty="0">
                  <a:solidFill>
                    <a:schemeClr val="bg1"/>
                  </a:solidFill>
                </a:rPr>
                <a:t>2</a:t>
              </a:r>
            </a:p>
          </p:txBody>
        </p:sp>
      </p:grpSp>
      <p:sp>
        <p:nvSpPr>
          <p:cNvPr id="32" name="Rettangolo con angoli arrotondati 31">
            <a:extLst>
              <a:ext uri="{FF2B5EF4-FFF2-40B4-BE49-F238E27FC236}">
                <a16:creationId xmlns:a16="http://schemas.microsoft.com/office/drawing/2014/main" id="{76431482-3DFE-5A30-9449-742E7CF0D7B5}"/>
              </a:ext>
            </a:extLst>
          </p:cNvPr>
          <p:cNvSpPr/>
          <p:nvPr/>
        </p:nvSpPr>
        <p:spPr>
          <a:xfrm>
            <a:off x="1828387" y="5225742"/>
            <a:ext cx="9105084" cy="1127907"/>
          </a:xfrm>
          <a:prstGeom prst="roundRect">
            <a:avLst/>
          </a:prstGeom>
          <a:solidFill>
            <a:srgbClr val="154065">
              <a:alpha val="4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800" u="sng" dirty="0">
                <a:solidFill>
                  <a:schemeClr val="tx1"/>
                </a:solidFill>
              </a:rPr>
              <a:t>      </a:t>
            </a:r>
          </a:p>
          <a:p>
            <a:pPr algn="ctr"/>
            <a:r>
              <a:rPr lang="it-IT" sz="2400" u="sng" dirty="0">
                <a:solidFill>
                  <a:schemeClr val="tx1"/>
                </a:solidFill>
              </a:rPr>
              <a:t> </a:t>
            </a:r>
            <a:endParaRPr lang="it-IT" u="sng" dirty="0"/>
          </a:p>
        </p:txBody>
      </p:sp>
      <p:grpSp>
        <p:nvGrpSpPr>
          <p:cNvPr id="33" name="Gruppo 32">
            <a:extLst>
              <a:ext uri="{FF2B5EF4-FFF2-40B4-BE49-F238E27FC236}">
                <a16:creationId xmlns:a16="http://schemas.microsoft.com/office/drawing/2014/main" id="{65A9EE92-3E39-062D-62A1-6301507A207C}"/>
              </a:ext>
            </a:extLst>
          </p:cNvPr>
          <p:cNvGrpSpPr/>
          <p:nvPr/>
        </p:nvGrpSpPr>
        <p:grpSpPr>
          <a:xfrm>
            <a:off x="1392412" y="5210574"/>
            <a:ext cx="1188720" cy="1158241"/>
            <a:chOff x="1747520" y="2599266"/>
            <a:chExt cx="1188720" cy="1158241"/>
          </a:xfrm>
          <a:solidFill>
            <a:srgbClr val="0B3041"/>
          </a:solidFill>
        </p:grpSpPr>
        <p:sp>
          <p:nvSpPr>
            <p:cNvPr id="34" name="Ovale 33">
              <a:extLst>
                <a:ext uri="{FF2B5EF4-FFF2-40B4-BE49-F238E27FC236}">
                  <a16:creationId xmlns:a16="http://schemas.microsoft.com/office/drawing/2014/main" id="{D7B67D85-F99C-8B50-4BC6-2294B476FA62}"/>
                </a:ext>
              </a:extLst>
            </p:cNvPr>
            <p:cNvSpPr/>
            <p:nvPr/>
          </p:nvSpPr>
          <p:spPr>
            <a:xfrm>
              <a:off x="1747520" y="2599266"/>
              <a:ext cx="1188720" cy="1158241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35" name="CasellaDiTesto 34">
              <a:extLst>
                <a:ext uri="{FF2B5EF4-FFF2-40B4-BE49-F238E27FC236}">
                  <a16:creationId xmlns:a16="http://schemas.microsoft.com/office/drawing/2014/main" id="{B81F5EB6-5BD9-1487-B086-4654CCF6D9C2}"/>
                </a:ext>
              </a:extLst>
            </p:cNvPr>
            <p:cNvSpPr txBox="1"/>
            <p:nvPr/>
          </p:nvSpPr>
          <p:spPr>
            <a:xfrm>
              <a:off x="2135402" y="2885998"/>
              <a:ext cx="412955" cy="58477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it-IT" sz="3200" b="1" dirty="0">
                  <a:solidFill>
                    <a:schemeClr val="bg1"/>
                  </a:solidFill>
                </a:rPr>
                <a:t>3</a:t>
              </a:r>
            </a:p>
          </p:txBody>
        </p:sp>
      </p:grp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2EC5F509-4ED0-BEAD-619B-F36BA56B4BCD}"/>
              </a:ext>
            </a:extLst>
          </p:cNvPr>
          <p:cNvSpPr txBox="1"/>
          <p:nvPr/>
        </p:nvSpPr>
        <p:spPr>
          <a:xfrm>
            <a:off x="2711616" y="1894952"/>
            <a:ext cx="79344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chemeClr val="bg1"/>
                </a:solidFill>
              </a:rPr>
              <a:t>Obiettivi didattici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Fornire uno strumento formativo per studenti e specializzandi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Facilitare la comprensione dell’anatomia del collo e delle fasi chirurgiche</a:t>
            </a:r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48D9C218-6610-DBED-384D-11006302DB3C}"/>
              </a:ext>
            </a:extLst>
          </p:cNvPr>
          <p:cNvSpPr txBox="1"/>
          <p:nvPr/>
        </p:nvSpPr>
        <p:spPr>
          <a:xfrm>
            <a:off x="2711616" y="3596323"/>
            <a:ext cx="859548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chemeClr val="bg1"/>
                </a:solidFill>
              </a:rPr>
              <a:t>Obiettivi clinici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Riprodurre fedelmente le principali fasi dell’intervento di </a:t>
            </a:r>
            <a:r>
              <a:rPr lang="it-IT" dirty="0" err="1">
                <a:solidFill>
                  <a:schemeClr val="bg1"/>
                </a:solidFill>
              </a:rPr>
              <a:t>disectomia</a:t>
            </a:r>
            <a:r>
              <a:rPr lang="it-IT" dirty="0">
                <a:solidFill>
                  <a:schemeClr val="bg1"/>
                </a:solidFill>
              </a:rPr>
              <a:t> cervicale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Supporto alla pianificazione chirurgica e riduzione del rischio operatorio</a:t>
            </a:r>
          </a:p>
        </p:txBody>
      </p:sp>
      <p:sp>
        <p:nvSpPr>
          <p:cNvPr id="38" name="CasellaDiTesto 37">
            <a:extLst>
              <a:ext uri="{FF2B5EF4-FFF2-40B4-BE49-F238E27FC236}">
                <a16:creationId xmlns:a16="http://schemas.microsoft.com/office/drawing/2014/main" id="{847A25C2-B302-EAE7-B189-0ED59FD493E2}"/>
              </a:ext>
            </a:extLst>
          </p:cNvPr>
          <p:cNvSpPr txBox="1"/>
          <p:nvPr/>
        </p:nvSpPr>
        <p:spPr>
          <a:xfrm>
            <a:off x="2711616" y="5328028"/>
            <a:ext cx="79344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chemeClr val="bg1"/>
                </a:solidFill>
              </a:rPr>
              <a:t>Obiettivi tecnologici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Sviluppare la simulazione in </a:t>
            </a:r>
            <a:r>
              <a:rPr lang="it-IT" dirty="0" err="1">
                <a:solidFill>
                  <a:schemeClr val="bg1"/>
                </a:solidFill>
              </a:rPr>
              <a:t>Unity</a:t>
            </a:r>
            <a:r>
              <a:rPr lang="it-IT" dirty="0">
                <a:solidFill>
                  <a:schemeClr val="bg1"/>
                </a:solidFill>
              </a:rPr>
              <a:t> tramite l’utilizzo del </a:t>
            </a:r>
            <a:r>
              <a:rPr lang="it-IT" dirty="0" err="1">
                <a:solidFill>
                  <a:schemeClr val="bg1"/>
                </a:solidFill>
              </a:rPr>
              <a:t>phantom</a:t>
            </a:r>
            <a:r>
              <a:rPr lang="it-IT" dirty="0">
                <a:solidFill>
                  <a:schemeClr val="bg1"/>
                </a:solidFill>
              </a:rPr>
              <a:t> del collo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bg1"/>
                </a:solidFill>
              </a:rPr>
              <a:t>Rendere </a:t>
            </a:r>
            <a:r>
              <a:rPr lang="it-IT" dirty="0" err="1">
                <a:solidFill>
                  <a:schemeClr val="bg1"/>
                </a:solidFill>
              </a:rPr>
              <a:t>interagibile</a:t>
            </a:r>
            <a:r>
              <a:rPr lang="it-IT" dirty="0">
                <a:solidFill>
                  <a:schemeClr val="bg1"/>
                </a:solidFill>
              </a:rPr>
              <a:t> con interfacce aptiche e visore la scena chirurgica</a:t>
            </a:r>
          </a:p>
        </p:txBody>
      </p:sp>
    </p:spTree>
    <p:extLst>
      <p:ext uri="{BB962C8B-B14F-4D97-AF65-F5344CB8AC3E}">
        <p14:creationId xmlns:p14="http://schemas.microsoft.com/office/powerpoint/2010/main" val="14386255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84F70-789A-4028-72AF-470E56230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tangolo con un angolo arrotondato 18">
            <a:extLst>
              <a:ext uri="{FF2B5EF4-FFF2-40B4-BE49-F238E27FC236}">
                <a16:creationId xmlns:a16="http://schemas.microsoft.com/office/drawing/2014/main" id="{2B8BF28D-06E8-D1D5-9F8F-2945124F40ED}"/>
              </a:ext>
            </a:extLst>
          </p:cNvPr>
          <p:cNvSpPr/>
          <p:nvPr/>
        </p:nvSpPr>
        <p:spPr>
          <a:xfrm flipV="1">
            <a:off x="481263" y="358140"/>
            <a:ext cx="4974657" cy="861060"/>
          </a:xfrm>
          <a:prstGeom prst="round1Rect">
            <a:avLst>
              <a:gd name="adj" fmla="val 50000"/>
            </a:avLst>
          </a:prstGeom>
          <a:solidFill>
            <a:srgbClr val="0B30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endParaRPr lang="en-US" b="1" dirty="0">
              <a:solidFill>
                <a:srgbClr val="FFFFFF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385BC48F-8C73-7CA1-2DCE-7FC14347A942}"/>
              </a:ext>
            </a:extLst>
          </p:cNvPr>
          <p:cNvSpPr txBox="1"/>
          <p:nvPr/>
        </p:nvSpPr>
        <p:spPr>
          <a:xfrm>
            <a:off x="1219801" y="387887"/>
            <a:ext cx="349758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800" b="1" dirty="0" err="1">
                <a:solidFill>
                  <a:srgbClr val="FFFFFF"/>
                </a:solidFill>
                <a:ea typeface="ui-sans-serif" pitchFamily="34" charset="-122"/>
                <a:cs typeface="ui-sans-serif" pitchFamily="34" charset="-120"/>
              </a:rPr>
              <a:t>L’ernia</a:t>
            </a:r>
            <a:r>
              <a:rPr lang="en-US" sz="2800" b="1" dirty="0">
                <a:solidFill>
                  <a:srgbClr val="FFFFFF"/>
                </a:solidFill>
                <a:ea typeface="ui-sans-serif" pitchFamily="34" charset="-122"/>
                <a:cs typeface="ui-sans-serif" pitchFamily="34" charset="-120"/>
              </a:rPr>
              <a:t> cervicale</a:t>
            </a:r>
          </a:p>
        </p:txBody>
      </p:sp>
      <p:pic>
        <p:nvPicPr>
          <p:cNvPr id="3" name="Immagine 2" descr="Immagine che contiene diagramma&#10;&#10;Il contenuto generato dall'IA potrebbe non essere corretto.">
            <a:hlinkClick r:id="rId5"/>
            <a:extLst>
              <a:ext uri="{FF2B5EF4-FFF2-40B4-BE49-F238E27FC236}">
                <a16:creationId xmlns:a16="http://schemas.microsoft.com/office/drawing/2014/main" id="{E3183DFD-B2F7-336D-97C1-B647A91B5C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648" y="2797499"/>
            <a:ext cx="5850137" cy="2755415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30C2AD22-2D15-E724-D675-90383B169D06}"/>
              </a:ext>
            </a:extLst>
          </p:cNvPr>
          <p:cNvSpPr txBox="1"/>
          <p:nvPr/>
        </p:nvSpPr>
        <p:spPr>
          <a:xfrm>
            <a:off x="756648" y="1511584"/>
            <a:ext cx="5850136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L’ernia cervicale è una condizione in cui parte del disco intervertebrale situato tra due vertebre del collo fuoriesce dalla sua sede naturale</a:t>
            </a:r>
          </a:p>
          <a:p>
            <a:endParaRPr lang="it-IT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Il disco è composto da un nucleo gelatinoso (nucleo polposo) e da un anello esterno rigido (</a:t>
            </a:r>
            <a:r>
              <a:rPr lang="it-IT" sz="1400" dirty="0" err="1"/>
              <a:t>anulus</a:t>
            </a:r>
            <a:r>
              <a:rPr lang="it-IT" sz="1400" dirty="0"/>
              <a:t> fibroso)</a:t>
            </a:r>
          </a:p>
          <a:p>
            <a:endParaRPr lang="it-IT" sz="1400" dirty="0"/>
          </a:p>
        </p:txBody>
      </p:sp>
      <p:pic>
        <p:nvPicPr>
          <p:cNvPr id="6" name="From KlickPin CF Pin by Jorge Luis on ejercicios de reabilitacion _ Human skeleton anatomy Human body anatomy Body anatomy">
            <a:hlinkClick r:id="" action="ppaction://media"/>
            <a:extLst>
              <a:ext uri="{FF2B5EF4-FFF2-40B4-BE49-F238E27FC236}">
                <a16:creationId xmlns:a16="http://schemas.microsoft.com/office/drawing/2014/main" id="{C162F3FF-348E-3F75-16EE-B3988D6E3520}"/>
              </a:ext>
            </a:extLst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>
                  <p14:trim st="12765"/>
                </p14:media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757652" y="240646"/>
            <a:ext cx="3352265" cy="5860135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276BE4B8-C9AB-4968-09E1-53D2E1173104}"/>
              </a:ext>
            </a:extLst>
          </p:cNvPr>
          <p:cNvSpPr txBox="1"/>
          <p:nvPr/>
        </p:nvSpPr>
        <p:spPr>
          <a:xfrm>
            <a:off x="1012040" y="5933390"/>
            <a:ext cx="533935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B3041"/>
              </a:buClr>
              <a:buFont typeface="Wingdings" panose="05000000000000000000" pitchFamily="2" charset="2"/>
              <a:buChar char=""/>
            </a:pPr>
            <a:r>
              <a:rPr lang="it-IT" sz="1400" dirty="0"/>
              <a:t>Un'ernia del disco si verifica quando lo strato esterno del disco si rompe e parte del nucleo polposo fuoriesce al suo interno</a:t>
            </a:r>
          </a:p>
          <a:p>
            <a:endParaRPr lang="it-IT" sz="1400" dirty="0"/>
          </a:p>
        </p:txBody>
      </p:sp>
    </p:spTree>
    <p:extLst>
      <p:ext uri="{BB962C8B-B14F-4D97-AF65-F5344CB8AC3E}">
        <p14:creationId xmlns:p14="http://schemas.microsoft.com/office/powerpoint/2010/main" val="144642231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90909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DA817-235A-0DE5-AE37-94B6FDC6D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tangolo con un angolo arrotondato 18">
            <a:extLst>
              <a:ext uri="{FF2B5EF4-FFF2-40B4-BE49-F238E27FC236}">
                <a16:creationId xmlns:a16="http://schemas.microsoft.com/office/drawing/2014/main" id="{4C0B76FA-586A-8E90-3421-13EBF785880A}"/>
              </a:ext>
            </a:extLst>
          </p:cNvPr>
          <p:cNvSpPr/>
          <p:nvPr/>
        </p:nvSpPr>
        <p:spPr>
          <a:xfrm flipV="1">
            <a:off x="481263" y="358140"/>
            <a:ext cx="4974657" cy="861060"/>
          </a:xfrm>
          <a:prstGeom prst="round1Rect">
            <a:avLst>
              <a:gd name="adj" fmla="val 50000"/>
            </a:avLst>
          </a:prstGeom>
          <a:solidFill>
            <a:srgbClr val="0B30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endParaRPr lang="en-US" b="1" dirty="0">
              <a:solidFill>
                <a:srgbClr val="FFFFFF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0A50C3F7-E352-5932-B8A6-D1B9032609EB}"/>
              </a:ext>
            </a:extLst>
          </p:cNvPr>
          <p:cNvSpPr txBox="1"/>
          <p:nvPr/>
        </p:nvSpPr>
        <p:spPr>
          <a:xfrm>
            <a:off x="1219801" y="387887"/>
            <a:ext cx="349758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800" b="1" dirty="0" err="1">
                <a:solidFill>
                  <a:srgbClr val="FFFFFF"/>
                </a:solidFill>
                <a:ea typeface="ui-sans-serif" pitchFamily="34" charset="-122"/>
                <a:cs typeface="ui-sans-serif" pitchFamily="34" charset="-120"/>
              </a:rPr>
              <a:t>L’ernia</a:t>
            </a:r>
            <a:r>
              <a:rPr lang="en-US" sz="2800" b="1" dirty="0">
                <a:solidFill>
                  <a:srgbClr val="FFFFFF"/>
                </a:solidFill>
                <a:ea typeface="ui-sans-serif" pitchFamily="34" charset="-122"/>
                <a:cs typeface="ui-sans-serif" pitchFamily="34" charset="-120"/>
              </a:rPr>
              <a:t> cervicale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417799A0-C632-DD66-A63C-1D758249A84B}"/>
              </a:ext>
            </a:extLst>
          </p:cNvPr>
          <p:cNvSpPr txBox="1"/>
          <p:nvPr/>
        </p:nvSpPr>
        <p:spPr>
          <a:xfrm>
            <a:off x="756648" y="1511584"/>
            <a:ext cx="7312531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Il nucleo polposo (contiene proteine infiammatorie) che fuoriesce dal disco intervertebrale può provocare una pressione diretta su radici nervose e midollo spinale</a:t>
            </a:r>
          </a:p>
          <a:p>
            <a:endParaRPr lang="it-IT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sz="1400" dirty="0"/>
              <a:t>Compressione + infiammazione possono ridurre il flusso sanguigno locale </a:t>
            </a:r>
            <a:r>
              <a:rPr lang="it-IT" sz="1400" b="1" dirty="0">
                <a:solidFill>
                  <a:srgbClr val="0B3041"/>
                </a:solidFill>
                <a:sym typeface="Wingdings" panose="05000000000000000000" pitchFamily="2" charset="2"/>
              </a:rPr>
              <a:t></a:t>
            </a:r>
            <a:r>
              <a:rPr lang="it-IT" sz="1400" dirty="0">
                <a:sym typeface="Wingdings" panose="05000000000000000000" pitchFamily="2" charset="2"/>
              </a:rPr>
              <a:t> ischemia del nervo </a:t>
            </a:r>
            <a:r>
              <a:rPr lang="it-IT" sz="1400" b="1" dirty="0">
                <a:solidFill>
                  <a:srgbClr val="0B3041"/>
                </a:solidFill>
                <a:sym typeface="Wingdings" panose="05000000000000000000" pitchFamily="2" charset="2"/>
              </a:rPr>
              <a:t></a:t>
            </a:r>
            <a:r>
              <a:rPr lang="it-IT" sz="1400" dirty="0">
                <a:sym typeface="Wingdings" panose="05000000000000000000" pitchFamily="2" charset="2"/>
              </a:rPr>
              <a:t> aumento della sensibilità al dolore</a:t>
            </a:r>
            <a:endParaRPr lang="it-IT" sz="1400" dirty="0"/>
          </a:p>
          <a:p>
            <a:endParaRPr lang="it-IT" sz="1400" dirty="0"/>
          </a:p>
        </p:txBody>
      </p:sp>
      <p:pic>
        <p:nvPicPr>
          <p:cNvPr id="7" name="Immagine 6" descr="Immagine che contiene vestiti, Guanto di protezione, guanto, guanti&#10;&#10;Il contenuto generato dall'IA potrebbe non essere corretto.">
            <a:hlinkClick r:id="rId3"/>
            <a:extLst>
              <a:ext uri="{FF2B5EF4-FFF2-40B4-BE49-F238E27FC236}">
                <a16:creationId xmlns:a16="http://schemas.microsoft.com/office/drawing/2014/main" id="{D69CE987-B6E2-3DF8-BAEE-0E6A4DE8BC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9179" y="1059738"/>
            <a:ext cx="3795963" cy="5061284"/>
          </a:xfrm>
          <a:prstGeom prst="rect">
            <a:avLst/>
          </a:prstGeom>
        </p:spPr>
      </p:pic>
      <p:sp>
        <p:nvSpPr>
          <p:cNvPr id="8" name="Rettangolo 7">
            <a:extLst>
              <a:ext uri="{FF2B5EF4-FFF2-40B4-BE49-F238E27FC236}">
                <a16:creationId xmlns:a16="http://schemas.microsoft.com/office/drawing/2014/main" id="{9B16A11B-901B-1FE0-C905-0111B2450833}"/>
              </a:ext>
            </a:extLst>
          </p:cNvPr>
          <p:cNvSpPr/>
          <p:nvPr/>
        </p:nvSpPr>
        <p:spPr>
          <a:xfrm>
            <a:off x="756648" y="2896579"/>
            <a:ext cx="6959605" cy="3087126"/>
          </a:xfrm>
          <a:prstGeom prst="rect">
            <a:avLst/>
          </a:prstGeom>
          <a:solidFill>
            <a:srgbClr val="0B3041">
              <a:alpha val="35000"/>
            </a:srgbClr>
          </a:solidFill>
          <a:ln>
            <a:solidFill>
              <a:srgbClr val="0B304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BFB441A2-E619-D2C5-E125-DD288CCE76D3}"/>
              </a:ext>
            </a:extLst>
          </p:cNvPr>
          <p:cNvSpPr txBox="1"/>
          <p:nvPr/>
        </p:nvSpPr>
        <p:spPr>
          <a:xfrm>
            <a:off x="914400" y="3080084"/>
            <a:ext cx="664143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>
                <a:solidFill>
                  <a:srgbClr val="0B3041"/>
                </a:solidFill>
              </a:rPr>
              <a:t>Sintomatologia associata</a:t>
            </a:r>
          </a:p>
          <a:p>
            <a:endParaRPr lang="it-IT" b="1" dirty="0">
              <a:solidFill>
                <a:srgbClr val="0B3041"/>
              </a:solidFill>
            </a:endParaRPr>
          </a:p>
          <a:p>
            <a:r>
              <a:rPr lang="it-IT" b="1" dirty="0">
                <a:solidFill>
                  <a:srgbClr val="0B3041"/>
                </a:solidFill>
              </a:rPr>
              <a:t>         </a:t>
            </a:r>
            <a:r>
              <a:rPr lang="it-IT" sz="1600" b="1" dirty="0">
                <a:solidFill>
                  <a:srgbClr val="0B3041"/>
                </a:solidFill>
              </a:rPr>
              <a:t>Cervicalgia                                                   Brachialgia</a:t>
            </a:r>
          </a:p>
          <a:p>
            <a:r>
              <a:rPr lang="it-IT" sz="1600" b="1" dirty="0">
                <a:solidFill>
                  <a:srgbClr val="0B3041"/>
                </a:solidFill>
              </a:rPr>
              <a:t>          </a:t>
            </a:r>
            <a:r>
              <a:rPr lang="it-IT" sz="1400" dirty="0">
                <a:solidFill>
                  <a:srgbClr val="0B3041"/>
                </a:solidFill>
              </a:rPr>
              <a:t>Dolore al collo                                                        Dolore irradiato al braccio</a:t>
            </a:r>
          </a:p>
          <a:p>
            <a:endParaRPr lang="it-IT" sz="1600" b="1" dirty="0">
              <a:solidFill>
                <a:srgbClr val="0B3041"/>
              </a:solidFill>
            </a:endParaRPr>
          </a:p>
          <a:p>
            <a:r>
              <a:rPr lang="it-IT" sz="1600" b="1" dirty="0">
                <a:solidFill>
                  <a:srgbClr val="0B3041"/>
                </a:solidFill>
              </a:rPr>
              <a:t>          Intorpidimento                                           Debolezza</a:t>
            </a:r>
          </a:p>
          <a:p>
            <a:r>
              <a:rPr lang="it-IT" sz="1600" b="1" dirty="0">
                <a:solidFill>
                  <a:srgbClr val="0B3041"/>
                </a:solidFill>
              </a:rPr>
              <a:t>        </a:t>
            </a:r>
            <a:r>
              <a:rPr lang="it-IT" sz="1400" b="1" dirty="0">
                <a:solidFill>
                  <a:srgbClr val="0B3041"/>
                </a:solidFill>
              </a:rPr>
              <a:t>  </a:t>
            </a:r>
            <a:r>
              <a:rPr lang="it-IT" sz="1400" dirty="0">
                <a:solidFill>
                  <a:srgbClr val="0B3041"/>
                </a:solidFill>
              </a:rPr>
              <a:t>Sensazione di formicolio                                    Ridotta forza nei muscoli </a:t>
            </a:r>
          </a:p>
          <a:p>
            <a:endParaRPr lang="it-IT" sz="1600" b="1" dirty="0">
              <a:solidFill>
                <a:srgbClr val="0B3041"/>
              </a:solidFill>
            </a:endParaRPr>
          </a:p>
          <a:p>
            <a:r>
              <a:rPr lang="it-IT" sz="1600" b="1" dirty="0">
                <a:solidFill>
                  <a:srgbClr val="0B3041"/>
                </a:solidFill>
              </a:rPr>
              <a:t>          Mielopatia cervicale</a:t>
            </a:r>
          </a:p>
          <a:p>
            <a:r>
              <a:rPr lang="it-IT" sz="1600" b="1" dirty="0">
                <a:solidFill>
                  <a:srgbClr val="0B3041"/>
                </a:solidFill>
              </a:rPr>
              <a:t>     </a:t>
            </a:r>
            <a:r>
              <a:rPr lang="it-IT" b="1" dirty="0">
                <a:solidFill>
                  <a:srgbClr val="0B3041"/>
                </a:solidFill>
              </a:rPr>
              <a:t>     </a:t>
            </a:r>
            <a:r>
              <a:rPr lang="it-IT" sz="1400" dirty="0">
                <a:solidFill>
                  <a:srgbClr val="0B3041"/>
                </a:solidFill>
              </a:rPr>
              <a:t>Deficit neurologici come problemi di equilibrio, riflessi e sensibilità alterati</a:t>
            </a:r>
            <a:endParaRPr lang="it-IT" dirty="0">
              <a:solidFill>
                <a:srgbClr val="0B3041"/>
              </a:solidFill>
            </a:endParaRPr>
          </a:p>
        </p:txBody>
      </p:sp>
      <p:pic>
        <p:nvPicPr>
          <p:cNvPr id="10" name="Image 14" descr="preencoded.png">
            <a:extLst>
              <a:ext uri="{FF2B5EF4-FFF2-40B4-BE49-F238E27FC236}">
                <a16:creationId xmlns:a16="http://schemas.microsoft.com/office/drawing/2014/main" id="{C12E26E5-5DEE-B342-4E3A-FF14667358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541" y="3662770"/>
            <a:ext cx="228600" cy="304800"/>
          </a:xfrm>
          <a:prstGeom prst="rect">
            <a:avLst/>
          </a:prstGeom>
        </p:spPr>
      </p:pic>
      <p:pic>
        <p:nvPicPr>
          <p:cNvPr id="11" name="Image 16" descr="preencoded.png">
            <a:extLst>
              <a:ext uri="{FF2B5EF4-FFF2-40B4-BE49-F238E27FC236}">
                <a16:creationId xmlns:a16="http://schemas.microsoft.com/office/drawing/2014/main" id="{0111E7EA-4FB6-9E57-2343-E1AAA2E5F2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4314" y="3662770"/>
            <a:ext cx="228600" cy="304800"/>
          </a:xfrm>
          <a:prstGeom prst="rect">
            <a:avLst/>
          </a:prstGeom>
        </p:spPr>
      </p:pic>
      <p:pic>
        <p:nvPicPr>
          <p:cNvPr id="12" name="Image 20" descr="preencoded.png">
            <a:extLst>
              <a:ext uri="{FF2B5EF4-FFF2-40B4-BE49-F238E27FC236}">
                <a16:creationId xmlns:a16="http://schemas.microsoft.com/office/drawing/2014/main" id="{932DE238-FD2D-5ED7-68D2-999F0197B23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55739" y="4440142"/>
            <a:ext cx="285750" cy="304800"/>
          </a:xfrm>
          <a:prstGeom prst="rect">
            <a:avLst/>
          </a:prstGeom>
        </p:spPr>
      </p:pic>
      <p:pic>
        <p:nvPicPr>
          <p:cNvPr id="13" name="Image 18" descr="preencoded.png">
            <a:extLst>
              <a:ext uri="{FF2B5EF4-FFF2-40B4-BE49-F238E27FC236}">
                <a16:creationId xmlns:a16="http://schemas.microsoft.com/office/drawing/2014/main" id="{48528EB6-810B-CDE3-CDE3-73314FE7A55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1396" y="4418912"/>
            <a:ext cx="228600" cy="304800"/>
          </a:xfrm>
          <a:prstGeom prst="rect">
            <a:avLst/>
          </a:prstGeom>
        </p:spPr>
      </p:pic>
      <p:pic>
        <p:nvPicPr>
          <p:cNvPr id="15" name="Image 22" descr="preencoded.png">
            <a:extLst>
              <a:ext uri="{FF2B5EF4-FFF2-40B4-BE49-F238E27FC236}">
                <a16:creationId xmlns:a16="http://schemas.microsoft.com/office/drawing/2014/main" id="{D26070F9-1B8C-3DF6-C6D6-6CB4C9F0E7D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396" y="5153998"/>
            <a:ext cx="2286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305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DCB37-BC1D-32A6-291C-50E858F0E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tangolo con un angolo arrotondato 18">
            <a:extLst>
              <a:ext uri="{FF2B5EF4-FFF2-40B4-BE49-F238E27FC236}">
                <a16:creationId xmlns:a16="http://schemas.microsoft.com/office/drawing/2014/main" id="{DF8B4A94-8EBF-0EB1-0E50-6F6E3C2903D0}"/>
              </a:ext>
            </a:extLst>
          </p:cNvPr>
          <p:cNvSpPr/>
          <p:nvPr/>
        </p:nvSpPr>
        <p:spPr>
          <a:xfrm flipV="1">
            <a:off x="481263" y="358140"/>
            <a:ext cx="4974657" cy="861060"/>
          </a:xfrm>
          <a:prstGeom prst="round1Rect">
            <a:avLst>
              <a:gd name="adj" fmla="val 50000"/>
            </a:avLst>
          </a:prstGeom>
          <a:solidFill>
            <a:srgbClr val="0B30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endParaRPr lang="en-US" b="1" dirty="0">
              <a:solidFill>
                <a:srgbClr val="FFFFFF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0F9D4F83-9643-AD87-AD77-9E3558DA06E6}"/>
              </a:ext>
            </a:extLst>
          </p:cNvPr>
          <p:cNvSpPr txBox="1"/>
          <p:nvPr/>
        </p:nvSpPr>
        <p:spPr>
          <a:xfrm>
            <a:off x="921418" y="387887"/>
            <a:ext cx="3795963" cy="1322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800" b="1" dirty="0" err="1">
                <a:solidFill>
                  <a:srgbClr val="FFFFFF"/>
                </a:solidFill>
                <a:ea typeface="ui-sans-serif" pitchFamily="34" charset="-122"/>
                <a:cs typeface="ui-sans-serif" pitchFamily="34" charset="-120"/>
              </a:rPr>
              <a:t>Trattamento</a:t>
            </a:r>
            <a:r>
              <a:rPr lang="en-US" sz="2800" b="1" dirty="0">
                <a:solidFill>
                  <a:srgbClr val="FFFFFF"/>
                </a:solidFill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ea typeface="ui-sans-serif" pitchFamily="34" charset="-122"/>
                <a:cs typeface="ui-sans-serif" pitchFamily="34" charset="-120"/>
              </a:rPr>
              <a:t>dell’ernia</a:t>
            </a:r>
            <a:r>
              <a:rPr lang="en-US" sz="2800" b="1" dirty="0">
                <a:solidFill>
                  <a:srgbClr val="FFFFFF"/>
                </a:solidFill>
                <a:ea typeface="ui-sans-serif" pitchFamily="34" charset="-122"/>
                <a:cs typeface="ui-sans-serif" pitchFamily="34" charset="-120"/>
              </a:rPr>
              <a:t> cervicale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69972146-E1A4-2B1D-6646-051AFF8631E5}"/>
              </a:ext>
            </a:extLst>
          </p:cNvPr>
          <p:cNvSpPr/>
          <p:nvPr/>
        </p:nvSpPr>
        <p:spPr>
          <a:xfrm>
            <a:off x="802722" y="1597307"/>
            <a:ext cx="3541032" cy="1685627"/>
          </a:xfrm>
          <a:prstGeom prst="rect">
            <a:avLst/>
          </a:prstGeom>
          <a:solidFill>
            <a:srgbClr val="0B3041">
              <a:alpha val="35000"/>
            </a:srgbClr>
          </a:solidFill>
          <a:ln>
            <a:solidFill>
              <a:srgbClr val="0B304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83C04E8C-15A0-424D-99F6-491E2456D8E5}"/>
              </a:ext>
            </a:extLst>
          </p:cNvPr>
          <p:cNvSpPr txBox="1"/>
          <p:nvPr/>
        </p:nvSpPr>
        <p:spPr>
          <a:xfrm>
            <a:off x="935907" y="1661387"/>
            <a:ext cx="3274662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/>
              <a:t>Approccio conservativo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Farmaci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Fisioterapia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Collare cervicale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Infiltrazioni epidurali </a:t>
            </a:r>
          </a:p>
        </p:txBody>
      </p:sp>
      <p:cxnSp>
        <p:nvCxnSpPr>
          <p:cNvPr id="6" name="Connettore a gomito 5">
            <a:extLst>
              <a:ext uri="{FF2B5EF4-FFF2-40B4-BE49-F238E27FC236}">
                <a16:creationId xmlns:a16="http://schemas.microsoft.com/office/drawing/2014/main" id="{6A45384A-AE7E-0BE4-9AD6-EACAD6A9FC1C}"/>
              </a:ext>
            </a:extLst>
          </p:cNvPr>
          <p:cNvCxnSpPr>
            <a:cxnSpLocks/>
          </p:cNvCxnSpPr>
          <p:nvPr/>
        </p:nvCxnSpPr>
        <p:spPr>
          <a:xfrm>
            <a:off x="4717381" y="2350790"/>
            <a:ext cx="2072640" cy="799703"/>
          </a:xfrm>
          <a:prstGeom prst="bentConnector3">
            <a:avLst>
              <a:gd name="adj1" fmla="val 100000"/>
            </a:avLst>
          </a:prstGeom>
          <a:ln w="57150"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EA38D9B1-38CE-1148-51F1-80EA52B2F721}"/>
              </a:ext>
            </a:extLst>
          </p:cNvPr>
          <p:cNvSpPr txBox="1"/>
          <p:nvPr/>
        </p:nvSpPr>
        <p:spPr>
          <a:xfrm>
            <a:off x="6790021" y="1793789"/>
            <a:ext cx="47481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Se il dolore è persistente ( &gt; 6-12 settimane nonostante la terapia conservativa)</a:t>
            </a:r>
            <a:endParaRPr lang="it-IT" sz="1600" dirty="0"/>
          </a:p>
        </p:txBody>
      </p:sp>
      <p:sp>
        <p:nvSpPr>
          <p:cNvPr id="20" name="Rettangolo 19">
            <a:extLst>
              <a:ext uri="{FF2B5EF4-FFF2-40B4-BE49-F238E27FC236}">
                <a16:creationId xmlns:a16="http://schemas.microsoft.com/office/drawing/2014/main" id="{47A96F34-71C0-94D6-B5BB-A503B7FF3A10}"/>
              </a:ext>
            </a:extLst>
          </p:cNvPr>
          <p:cNvSpPr/>
          <p:nvPr/>
        </p:nvSpPr>
        <p:spPr>
          <a:xfrm>
            <a:off x="802722" y="3661042"/>
            <a:ext cx="10632193" cy="2809071"/>
          </a:xfrm>
          <a:prstGeom prst="rect">
            <a:avLst/>
          </a:prstGeom>
          <a:solidFill>
            <a:srgbClr val="0B3041">
              <a:alpha val="35000"/>
            </a:srgbClr>
          </a:solidFill>
          <a:ln>
            <a:solidFill>
              <a:srgbClr val="0B304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38832786-DF86-9E27-A025-B09DA0F1AAEC}"/>
              </a:ext>
            </a:extLst>
          </p:cNvPr>
          <p:cNvSpPr txBox="1"/>
          <p:nvPr/>
        </p:nvSpPr>
        <p:spPr>
          <a:xfrm>
            <a:off x="926853" y="3896026"/>
            <a:ext cx="10801150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b="1" dirty="0"/>
              <a:t>Approccio chirurgico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it-IT" b="1" dirty="0">
                <a:sym typeface="Wingdings" panose="05000000000000000000" pitchFamily="2" charset="2"/>
              </a:rPr>
              <a:t>ACDF (</a:t>
            </a:r>
            <a:r>
              <a:rPr lang="it-IT" b="1" dirty="0" err="1">
                <a:sym typeface="Wingdings" panose="05000000000000000000" pitchFamily="2" charset="2"/>
              </a:rPr>
              <a:t>Anterior</a:t>
            </a:r>
            <a:r>
              <a:rPr lang="it-IT" b="1" dirty="0">
                <a:sym typeface="Wingdings" panose="05000000000000000000" pitchFamily="2" charset="2"/>
              </a:rPr>
              <a:t> </a:t>
            </a:r>
            <a:r>
              <a:rPr lang="it-IT" b="1" dirty="0" err="1">
                <a:sym typeface="Wingdings" panose="05000000000000000000" pitchFamily="2" charset="2"/>
              </a:rPr>
              <a:t>Cervical</a:t>
            </a:r>
            <a:r>
              <a:rPr lang="it-IT" b="1" dirty="0">
                <a:sym typeface="Wingdings" panose="05000000000000000000" pitchFamily="2" charset="2"/>
              </a:rPr>
              <a:t> </a:t>
            </a:r>
            <a:r>
              <a:rPr lang="it-IT" b="1" dirty="0" err="1">
                <a:sym typeface="Wingdings" panose="05000000000000000000" pitchFamily="2" charset="2"/>
              </a:rPr>
              <a:t>Discectomy</a:t>
            </a:r>
            <a:r>
              <a:rPr lang="it-IT" b="1" dirty="0">
                <a:sym typeface="Wingdings" panose="05000000000000000000" pitchFamily="2" charset="2"/>
              </a:rPr>
              <a:t> and Fusion)</a:t>
            </a:r>
          </a:p>
          <a:p>
            <a:r>
              <a:rPr lang="it-IT" dirty="0">
                <a:sym typeface="Wingdings" panose="05000000000000000000" pitchFamily="2" charset="2"/>
              </a:rPr>
              <a:t>       - Rimozione disco erniato</a:t>
            </a:r>
          </a:p>
          <a:p>
            <a:r>
              <a:rPr lang="it-IT" dirty="0">
                <a:sym typeface="Wingdings" panose="05000000000000000000" pitchFamily="2" charset="2"/>
              </a:rPr>
              <a:t>       - Decompressione nervosa</a:t>
            </a:r>
          </a:p>
          <a:p>
            <a:r>
              <a:rPr lang="it-IT" dirty="0">
                <a:sym typeface="Wingdings" panose="05000000000000000000" pitchFamily="2" charset="2"/>
              </a:rPr>
              <a:t>       - Stabilizzazione con gabbia </a:t>
            </a:r>
            <a:r>
              <a:rPr lang="it-IT" dirty="0" err="1">
                <a:sym typeface="Wingdings" panose="05000000000000000000" pitchFamily="2" charset="2"/>
              </a:rPr>
              <a:t>intersomatica</a:t>
            </a:r>
            <a:r>
              <a:rPr lang="it-IT" dirty="0">
                <a:sym typeface="Wingdings" panose="05000000000000000000" pitchFamily="2" charset="2"/>
              </a:rPr>
              <a:t> e, se necessario, si inserisce una placca anteriore con viti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it-IT" b="1" dirty="0">
                <a:sym typeface="Wingdings" panose="05000000000000000000" pitchFamily="2" charset="2"/>
              </a:rPr>
              <a:t>Protesi discale cervicale</a:t>
            </a:r>
          </a:p>
          <a:p>
            <a:r>
              <a:rPr lang="it-IT" dirty="0">
                <a:sym typeface="Wingdings" panose="05000000000000000000" pitchFamily="2" charset="2"/>
              </a:rPr>
              <a:t>       - Alternativa alla fusione</a:t>
            </a:r>
          </a:p>
          <a:p>
            <a:r>
              <a:rPr lang="it-IT" dirty="0">
                <a:sym typeface="Wingdings" panose="05000000000000000000" pitchFamily="2" charset="2"/>
              </a:rPr>
              <a:t>       - Si impianta una protesi discale artificiale che mantiene la mobilità del segmento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175712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con un angolo arrotondato 1">
            <a:extLst>
              <a:ext uri="{FF2B5EF4-FFF2-40B4-BE49-F238E27FC236}">
                <a16:creationId xmlns:a16="http://schemas.microsoft.com/office/drawing/2014/main" id="{9E133A15-2612-C5F1-22A3-06F9E251B534}"/>
              </a:ext>
            </a:extLst>
          </p:cNvPr>
          <p:cNvSpPr/>
          <p:nvPr/>
        </p:nvSpPr>
        <p:spPr>
          <a:xfrm flipV="1">
            <a:off x="481260" y="358140"/>
            <a:ext cx="4974657" cy="861060"/>
          </a:xfrm>
          <a:prstGeom prst="round1Rect">
            <a:avLst>
              <a:gd name="adj" fmla="val 50000"/>
            </a:avLst>
          </a:prstGeom>
          <a:solidFill>
            <a:srgbClr val="0B30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just">
              <a:lnSpc>
                <a:spcPct val="150000"/>
              </a:lnSpc>
            </a:pPr>
            <a:endParaRPr lang="en-US" b="1" dirty="0">
              <a:solidFill>
                <a:srgbClr val="FFFFFF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E8FB1ABD-7EDF-7AC3-8295-68243FC7015B}"/>
              </a:ext>
            </a:extLst>
          </p:cNvPr>
          <p:cNvSpPr txBox="1"/>
          <p:nvPr/>
        </p:nvSpPr>
        <p:spPr>
          <a:xfrm>
            <a:off x="1342155" y="527060"/>
            <a:ext cx="32528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b="1" dirty="0">
                <a:solidFill>
                  <a:schemeClr val="bg1"/>
                </a:solidFill>
              </a:rPr>
              <a:t>ACDF steps</a:t>
            </a:r>
          </a:p>
        </p:txBody>
      </p:sp>
      <p:sp>
        <p:nvSpPr>
          <p:cNvPr id="15" name="Rettangolo con angoli arrotondati 14">
            <a:extLst>
              <a:ext uri="{FF2B5EF4-FFF2-40B4-BE49-F238E27FC236}">
                <a16:creationId xmlns:a16="http://schemas.microsoft.com/office/drawing/2014/main" id="{92758462-8872-F119-2BD0-765E8E101F9B}"/>
              </a:ext>
            </a:extLst>
          </p:cNvPr>
          <p:cNvSpPr/>
          <p:nvPr/>
        </p:nvSpPr>
        <p:spPr>
          <a:xfrm>
            <a:off x="2059879" y="1770891"/>
            <a:ext cx="9103335" cy="614597"/>
          </a:xfrm>
          <a:prstGeom prst="roundRect">
            <a:avLst/>
          </a:prstGeom>
          <a:gradFill flip="none" rotWithShape="1">
            <a:gsLst>
              <a:gs pos="0">
                <a:srgbClr val="154065">
                  <a:tint val="66000"/>
                  <a:satMod val="160000"/>
                </a:srgbClr>
              </a:gs>
              <a:gs pos="50000">
                <a:srgbClr val="154065">
                  <a:tint val="44500"/>
                  <a:satMod val="160000"/>
                </a:srgbClr>
              </a:gs>
              <a:gs pos="100000">
                <a:srgbClr val="154065">
                  <a:tint val="23500"/>
                  <a:satMod val="160000"/>
                </a:srgbClr>
              </a:gs>
            </a:gsLst>
            <a:lin ang="18900000" scaled="1"/>
            <a:tileRect/>
          </a:gra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000" b="1" dirty="0">
                <a:solidFill>
                  <a:schemeClr val="tx1"/>
                </a:solidFill>
              </a:rPr>
              <a:t>Posizionamento e Preparazione</a:t>
            </a:r>
          </a:p>
        </p:txBody>
      </p: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7754C555-3A81-223F-DA28-25C979F1C8F7}"/>
              </a:ext>
            </a:extLst>
          </p:cNvPr>
          <p:cNvSpPr/>
          <p:nvPr/>
        </p:nvSpPr>
        <p:spPr>
          <a:xfrm>
            <a:off x="990429" y="1773529"/>
            <a:ext cx="1693350" cy="609319"/>
          </a:xfrm>
          <a:prstGeom prst="roundRect">
            <a:avLst/>
          </a:prstGeom>
          <a:solidFill>
            <a:srgbClr val="0B30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800" b="1" dirty="0"/>
              <a:t>Fase 1</a:t>
            </a:r>
          </a:p>
        </p:txBody>
      </p:sp>
      <p:sp>
        <p:nvSpPr>
          <p:cNvPr id="24" name="Rettangolo con angoli arrotondati 23">
            <a:extLst>
              <a:ext uri="{FF2B5EF4-FFF2-40B4-BE49-F238E27FC236}">
                <a16:creationId xmlns:a16="http://schemas.microsoft.com/office/drawing/2014/main" id="{E83EE601-6F13-EC9D-702B-455EAE1413EE}"/>
              </a:ext>
            </a:extLst>
          </p:cNvPr>
          <p:cNvSpPr/>
          <p:nvPr/>
        </p:nvSpPr>
        <p:spPr>
          <a:xfrm>
            <a:off x="1781988" y="2740255"/>
            <a:ext cx="9381226" cy="614597"/>
          </a:xfrm>
          <a:prstGeom prst="roundRect">
            <a:avLst/>
          </a:prstGeom>
          <a:gradFill flip="none" rotWithShape="1">
            <a:gsLst>
              <a:gs pos="0">
                <a:srgbClr val="154065">
                  <a:tint val="66000"/>
                  <a:satMod val="160000"/>
                </a:srgbClr>
              </a:gs>
              <a:gs pos="50000">
                <a:srgbClr val="154065">
                  <a:tint val="44500"/>
                  <a:satMod val="160000"/>
                </a:srgbClr>
              </a:gs>
              <a:gs pos="100000">
                <a:srgbClr val="154065">
                  <a:tint val="23500"/>
                  <a:satMod val="160000"/>
                </a:srgbClr>
              </a:gs>
            </a:gsLst>
            <a:lin ang="18900000" scaled="1"/>
            <a:tileRect/>
          </a:gra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000" b="1" dirty="0">
                <a:solidFill>
                  <a:schemeClr val="tx1"/>
                </a:solidFill>
              </a:rPr>
              <a:t>Dissezione profonda e accesso mediale</a:t>
            </a:r>
          </a:p>
        </p:txBody>
      </p:sp>
      <p:sp>
        <p:nvSpPr>
          <p:cNvPr id="23" name="Rettangolo con angoli arrotondati 22">
            <a:extLst>
              <a:ext uri="{FF2B5EF4-FFF2-40B4-BE49-F238E27FC236}">
                <a16:creationId xmlns:a16="http://schemas.microsoft.com/office/drawing/2014/main" id="{CDA72335-E67F-584F-0BDA-4EF8239E34B8}"/>
              </a:ext>
            </a:extLst>
          </p:cNvPr>
          <p:cNvSpPr/>
          <p:nvPr/>
        </p:nvSpPr>
        <p:spPr>
          <a:xfrm>
            <a:off x="990429" y="2740255"/>
            <a:ext cx="1693350" cy="614597"/>
          </a:xfrm>
          <a:prstGeom prst="roundRect">
            <a:avLst/>
          </a:prstGeom>
          <a:solidFill>
            <a:srgbClr val="0B30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800" b="1" dirty="0"/>
              <a:t>Fase 2</a:t>
            </a:r>
          </a:p>
        </p:txBody>
      </p:sp>
      <p:sp>
        <p:nvSpPr>
          <p:cNvPr id="25" name="Rettangolo con angoli arrotondati 24">
            <a:extLst>
              <a:ext uri="{FF2B5EF4-FFF2-40B4-BE49-F238E27FC236}">
                <a16:creationId xmlns:a16="http://schemas.microsoft.com/office/drawing/2014/main" id="{C0911984-450D-659F-4345-5B696CF71F26}"/>
              </a:ext>
            </a:extLst>
          </p:cNvPr>
          <p:cNvSpPr/>
          <p:nvPr/>
        </p:nvSpPr>
        <p:spPr>
          <a:xfrm>
            <a:off x="1781988" y="3709619"/>
            <a:ext cx="9381226" cy="614597"/>
          </a:xfrm>
          <a:prstGeom prst="roundRect">
            <a:avLst/>
          </a:prstGeom>
          <a:gradFill flip="none" rotWithShape="1">
            <a:gsLst>
              <a:gs pos="0">
                <a:srgbClr val="154065">
                  <a:tint val="66000"/>
                  <a:satMod val="160000"/>
                </a:srgbClr>
              </a:gs>
              <a:gs pos="50000">
                <a:srgbClr val="154065">
                  <a:tint val="44500"/>
                  <a:satMod val="160000"/>
                </a:srgbClr>
              </a:gs>
              <a:gs pos="100000">
                <a:srgbClr val="154065">
                  <a:tint val="23500"/>
                  <a:satMod val="160000"/>
                </a:srgbClr>
              </a:gs>
            </a:gsLst>
            <a:lin ang="18900000" scaled="1"/>
            <a:tileRect/>
          </a:gra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000" b="1" dirty="0">
                <a:solidFill>
                  <a:schemeClr val="tx1"/>
                </a:solidFill>
              </a:rPr>
              <a:t>Accesso alla colonna vertebrale</a:t>
            </a:r>
          </a:p>
        </p:txBody>
      </p:sp>
      <p:sp>
        <p:nvSpPr>
          <p:cNvPr id="26" name="Rettangolo con angoli arrotondati 25">
            <a:extLst>
              <a:ext uri="{FF2B5EF4-FFF2-40B4-BE49-F238E27FC236}">
                <a16:creationId xmlns:a16="http://schemas.microsoft.com/office/drawing/2014/main" id="{005E5A10-4B01-E079-DB18-9AC8E2CBF3D0}"/>
              </a:ext>
            </a:extLst>
          </p:cNvPr>
          <p:cNvSpPr/>
          <p:nvPr/>
        </p:nvSpPr>
        <p:spPr>
          <a:xfrm>
            <a:off x="990429" y="3714658"/>
            <a:ext cx="1693350" cy="614597"/>
          </a:xfrm>
          <a:prstGeom prst="roundRect">
            <a:avLst/>
          </a:prstGeom>
          <a:solidFill>
            <a:srgbClr val="0B30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800" b="1" dirty="0"/>
              <a:t>Fase 3</a:t>
            </a:r>
          </a:p>
        </p:txBody>
      </p:sp>
      <p:sp>
        <p:nvSpPr>
          <p:cNvPr id="27" name="Rettangolo con angoli arrotondati 26">
            <a:extLst>
              <a:ext uri="{FF2B5EF4-FFF2-40B4-BE49-F238E27FC236}">
                <a16:creationId xmlns:a16="http://schemas.microsoft.com/office/drawing/2014/main" id="{9498D62C-9E88-483D-7AF0-97633E85D19E}"/>
              </a:ext>
            </a:extLst>
          </p:cNvPr>
          <p:cNvSpPr/>
          <p:nvPr/>
        </p:nvSpPr>
        <p:spPr>
          <a:xfrm>
            <a:off x="1781988" y="4689061"/>
            <a:ext cx="9381226" cy="614597"/>
          </a:xfrm>
          <a:prstGeom prst="roundRect">
            <a:avLst/>
          </a:prstGeom>
          <a:gradFill flip="none" rotWithShape="1">
            <a:gsLst>
              <a:gs pos="0">
                <a:srgbClr val="154065">
                  <a:tint val="66000"/>
                  <a:satMod val="160000"/>
                </a:srgbClr>
              </a:gs>
              <a:gs pos="50000">
                <a:srgbClr val="154065">
                  <a:tint val="44500"/>
                  <a:satMod val="160000"/>
                </a:srgbClr>
              </a:gs>
              <a:gs pos="100000">
                <a:srgbClr val="154065">
                  <a:tint val="23500"/>
                  <a:satMod val="160000"/>
                </a:srgbClr>
              </a:gs>
            </a:gsLst>
            <a:lin ang="18900000" scaled="1"/>
            <a:tileRect/>
          </a:gra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000" b="1" dirty="0">
                <a:solidFill>
                  <a:schemeClr val="tx1"/>
                </a:solidFill>
              </a:rPr>
              <a:t>Rimozione del disco e decompressione</a:t>
            </a:r>
          </a:p>
        </p:txBody>
      </p:sp>
      <p:sp>
        <p:nvSpPr>
          <p:cNvPr id="28" name="Rettangolo con angoli arrotondati 27">
            <a:extLst>
              <a:ext uri="{FF2B5EF4-FFF2-40B4-BE49-F238E27FC236}">
                <a16:creationId xmlns:a16="http://schemas.microsoft.com/office/drawing/2014/main" id="{A71FD382-74C2-EB0D-20A1-3E4320C3651D}"/>
              </a:ext>
            </a:extLst>
          </p:cNvPr>
          <p:cNvSpPr/>
          <p:nvPr/>
        </p:nvSpPr>
        <p:spPr>
          <a:xfrm>
            <a:off x="990429" y="4689061"/>
            <a:ext cx="1693350" cy="614597"/>
          </a:xfrm>
          <a:prstGeom prst="roundRect">
            <a:avLst/>
          </a:prstGeom>
          <a:solidFill>
            <a:srgbClr val="0B30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800" b="1" dirty="0"/>
              <a:t>Fase 4</a:t>
            </a:r>
          </a:p>
        </p:txBody>
      </p:sp>
      <p:sp>
        <p:nvSpPr>
          <p:cNvPr id="29" name="Rettangolo con angoli arrotondati 28">
            <a:extLst>
              <a:ext uri="{FF2B5EF4-FFF2-40B4-BE49-F238E27FC236}">
                <a16:creationId xmlns:a16="http://schemas.microsoft.com/office/drawing/2014/main" id="{5B16C47F-7AC2-19E5-046F-A203C3383F74}"/>
              </a:ext>
            </a:extLst>
          </p:cNvPr>
          <p:cNvSpPr/>
          <p:nvPr/>
        </p:nvSpPr>
        <p:spPr>
          <a:xfrm>
            <a:off x="1781988" y="5596421"/>
            <a:ext cx="9381226" cy="614597"/>
          </a:xfrm>
          <a:prstGeom prst="roundRect">
            <a:avLst/>
          </a:prstGeom>
          <a:gradFill flip="none" rotWithShape="1">
            <a:gsLst>
              <a:gs pos="0">
                <a:srgbClr val="154065">
                  <a:tint val="66000"/>
                  <a:satMod val="160000"/>
                </a:srgbClr>
              </a:gs>
              <a:gs pos="50000">
                <a:srgbClr val="154065">
                  <a:tint val="44500"/>
                  <a:satMod val="160000"/>
                </a:srgbClr>
              </a:gs>
              <a:gs pos="100000">
                <a:srgbClr val="154065">
                  <a:tint val="23500"/>
                  <a:satMod val="160000"/>
                </a:srgbClr>
              </a:gs>
            </a:gsLst>
            <a:lin ang="18900000" scaled="1"/>
            <a:tileRect/>
          </a:gra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000" b="1" dirty="0">
                <a:solidFill>
                  <a:schemeClr val="tx1"/>
                </a:solidFill>
              </a:rPr>
              <a:t>Impianto e stabilizzazione</a:t>
            </a:r>
            <a:r>
              <a:rPr lang="it-IT" sz="2000" dirty="0"/>
              <a:t> </a:t>
            </a:r>
          </a:p>
        </p:txBody>
      </p:sp>
      <p:sp>
        <p:nvSpPr>
          <p:cNvPr id="30" name="Rettangolo con angoli arrotondati 29">
            <a:extLst>
              <a:ext uri="{FF2B5EF4-FFF2-40B4-BE49-F238E27FC236}">
                <a16:creationId xmlns:a16="http://schemas.microsoft.com/office/drawing/2014/main" id="{71730343-95D9-41CF-4122-645216FC33AE}"/>
              </a:ext>
            </a:extLst>
          </p:cNvPr>
          <p:cNvSpPr/>
          <p:nvPr/>
        </p:nvSpPr>
        <p:spPr>
          <a:xfrm>
            <a:off x="990429" y="5596421"/>
            <a:ext cx="1693350" cy="614597"/>
          </a:xfrm>
          <a:prstGeom prst="roundRect">
            <a:avLst/>
          </a:prstGeom>
          <a:solidFill>
            <a:srgbClr val="0B30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2800" b="1" dirty="0"/>
              <a:t>Fase 5</a:t>
            </a:r>
          </a:p>
        </p:txBody>
      </p:sp>
    </p:spTree>
    <p:extLst>
      <p:ext uri="{BB962C8B-B14F-4D97-AF65-F5344CB8AC3E}">
        <p14:creationId xmlns:p14="http://schemas.microsoft.com/office/powerpoint/2010/main" val="2943303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9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3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9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9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3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9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9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3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9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9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3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9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9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3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9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4" grpId="0" animBg="1"/>
      <p:bldP spid="24" grpId="0" animBg="1"/>
      <p:bldP spid="23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con un angolo arrotondato 1">
            <a:extLst>
              <a:ext uri="{FF2B5EF4-FFF2-40B4-BE49-F238E27FC236}">
                <a16:creationId xmlns:a16="http://schemas.microsoft.com/office/drawing/2014/main" id="{A0AD5255-29E2-D8FD-7C01-E77475A7E4AC}"/>
              </a:ext>
            </a:extLst>
          </p:cNvPr>
          <p:cNvSpPr/>
          <p:nvPr/>
        </p:nvSpPr>
        <p:spPr>
          <a:xfrm flipV="1">
            <a:off x="359764" y="358139"/>
            <a:ext cx="5404493" cy="841073"/>
          </a:xfrm>
          <a:prstGeom prst="round1Rect">
            <a:avLst>
              <a:gd name="adj" fmla="val 50000"/>
            </a:avLst>
          </a:prstGeom>
          <a:solidFill>
            <a:srgbClr val="0B30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just">
              <a:lnSpc>
                <a:spcPct val="150000"/>
              </a:lnSpc>
            </a:pPr>
            <a:endParaRPr lang="en-US" b="1" dirty="0">
              <a:solidFill>
                <a:srgbClr val="FFFFFF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04437C82-CBC9-51F8-DD1E-A0057F66B3FA}"/>
              </a:ext>
            </a:extLst>
          </p:cNvPr>
          <p:cNvSpPr txBox="1"/>
          <p:nvPr/>
        </p:nvSpPr>
        <p:spPr>
          <a:xfrm>
            <a:off x="266344" y="517065"/>
            <a:ext cx="55913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b="1" dirty="0">
                <a:solidFill>
                  <a:schemeClr val="bg1"/>
                </a:solidFill>
              </a:rPr>
              <a:t>Posizionamento  e  Preparazione 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0ABBBD80-59AA-822F-99FF-44183B46C603}"/>
              </a:ext>
            </a:extLst>
          </p:cNvPr>
          <p:cNvSpPr txBox="1"/>
          <p:nvPr/>
        </p:nvSpPr>
        <p:spPr>
          <a:xfrm>
            <a:off x="568739" y="1358138"/>
            <a:ext cx="67940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Per simulare l’intervento è necessario disporre in posizione supina il  </a:t>
            </a:r>
            <a:r>
              <a:rPr lang="it-IT" b="1" dirty="0" err="1"/>
              <a:t>phantom</a:t>
            </a:r>
            <a:r>
              <a:rPr lang="it-IT" b="1" dirty="0"/>
              <a:t> del collo.</a:t>
            </a:r>
          </a:p>
          <a:p>
            <a:endParaRPr lang="it-IT" b="1" dirty="0"/>
          </a:p>
        </p:txBody>
      </p:sp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F2123625-0B4C-D225-AE89-62690142815F}"/>
              </a:ext>
            </a:extLst>
          </p:cNvPr>
          <p:cNvCxnSpPr>
            <a:cxnSpLocks/>
          </p:cNvCxnSpPr>
          <p:nvPr/>
        </p:nvCxnSpPr>
        <p:spPr>
          <a:xfrm>
            <a:off x="7255240" y="1588958"/>
            <a:ext cx="1304144" cy="0"/>
          </a:xfrm>
          <a:prstGeom prst="straightConnector1">
            <a:avLst/>
          </a:prstGeom>
          <a:ln w="57150" cap="flat" cmpd="sng" algn="ctr">
            <a:solidFill>
              <a:schemeClr val="tx2"/>
            </a:solidFill>
            <a:prstDash val="solid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3" name="Immagine 12" descr="Immagine che contiene tutore&#10;&#10;Il contenuto generato dall'IA potrebbe non essere corretto.">
            <a:extLst>
              <a:ext uri="{FF2B5EF4-FFF2-40B4-BE49-F238E27FC236}">
                <a16:creationId xmlns:a16="http://schemas.microsoft.com/office/drawing/2014/main" id="{343191EA-D8B2-D31F-0C01-5BA1A66BCC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7625" y="336436"/>
            <a:ext cx="3134611" cy="3887248"/>
          </a:xfrm>
          <a:prstGeom prst="rect">
            <a:avLst/>
          </a:prstGeom>
        </p:spPr>
      </p:pic>
      <p:pic>
        <p:nvPicPr>
          <p:cNvPr id="20" name="Elemento grafico 19" descr="Segno di spunta con riempimento a tinta unita">
            <a:extLst>
              <a:ext uri="{FF2B5EF4-FFF2-40B4-BE49-F238E27FC236}">
                <a16:creationId xmlns:a16="http://schemas.microsoft.com/office/drawing/2014/main" id="{EC52FD8E-1D79-17F8-8E4A-68151940D2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4891" y="1358138"/>
            <a:ext cx="389746" cy="389746"/>
          </a:xfrm>
          <a:prstGeom prst="rect">
            <a:avLst/>
          </a:prstGeom>
        </p:spPr>
      </p:pic>
      <p:pic>
        <p:nvPicPr>
          <p:cNvPr id="21" name="Elemento grafico 20" descr="Segno di spunta con riempimento a tinta unita">
            <a:extLst>
              <a:ext uri="{FF2B5EF4-FFF2-40B4-BE49-F238E27FC236}">
                <a16:creationId xmlns:a16="http://schemas.microsoft.com/office/drawing/2014/main" id="{EA8B8203-CFCD-8098-ACF8-25958B5DB7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45769" y="4816626"/>
            <a:ext cx="389746" cy="389746"/>
          </a:xfrm>
          <a:prstGeom prst="rect">
            <a:avLst/>
          </a:prstGeom>
        </p:spPr>
      </p:pic>
      <p:pic>
        <p:nvPicPr>
          <p:cNvPr id="29" name="Immagine 28" descr="Immagine che contiene cartone animato&#10;&#10;Il contenuto generato dall'IA potrebbe non essere corretto.">
            <a:extLst>
              <a:ext uri="{FF2B5EF4-FFF2-40B4-BE49-F238E27FC236}">
                <a16:creationId xmlns:a16="http://schemas.microsoft.com/office/drawing/2014/main" id="{F57F8F8F-1806-2E9E-6823-74811796BC1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956" y="2318975"/>
            <a:ext cx="3274794" cy="4143414"/>
          </a:xfrm>
          <a:prstGeom prst="rect">
            <a:avLst/>
          </a:prstGeom>
        </p:spPr>
      </p:pic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6953F5ED-0E10-1C65-C3D0-30914323D09D}"/>
              </a:ext>
            </a:extLst>
          </p:cNvPr>
          <p:cNvSpPr txBox="1"/>
          <p:nvPr/>
        </p:nvSpPr>
        <p:spPr>
          <a:xfrm>
            <a:off x="6835515" y="4816626"/>
            <a:ext cx="53564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Identificare e segnare con un colore  il livello vertebrale sul quale procedere l’operazione</a:t>
            </a:r>
            <a:r>
              <a:rPr lang="it-IT" dirty="0"/>
              <a:t>.</a:t>
            </a:r>
          </a:p>
          <a:p>
            <a:endParaRPr lang="it-IT" dirty="0"/>
          </a:p>
        </p:txBody>
      </p:sp>
      <p:cxnSp>
        <p:nvCxnSpPr>
          <p:cNvPr id="37" name="Connettore 2 36">
            <a:extLst>
              <a:ext uri="{FF2B5EF4-FFF2-40B4-BE49-F238E27FC236}">
                <a16:creationId xmlns:a16="http://schemas.microsoft.com/office/drawing/2014/main" id="{6060DDB0-4B5E-F471-B9F5-3A5AAAD9CB8B}"/>
              </a:ext>
            </a:extLst>
          </p:cNvPr>
          <p:cNvCxnSpPr>
            <a:cxnSpLocks/>
          </p:cNvCxnSpPr>
          <p:nvPr/>
        </p:nvCxnSpPr>
        <p:spPr>
          <a:xfrm flipH="1">
            <a:off x="4744812" y="5004973"/>
            <a:ext cx="1311640" cy="6526"/>
          </a:xfrm>
          <a:prstGeom prst="straightConnector1">
            <a:avLst/>
          </a:prstGeom>
          <a:ln w="57150" cap="flat" cmpd="sng" algn="ctr">
            <a:solidFill>
              <a:schemeClr val="tx2"/>
            </a:solidFill>
            <a:prstDash val="solid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1297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900" decel="100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3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9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3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9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3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9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con un angolo arrotondato 1">
            <a:extLst>
              <a:ext uri="{FF2B5EF4-FFF2-40B4-BE49-F238E27FC236}">
                <a16:creationId xmlns:a16="http://schemas.microsoft.com/office/drawing/2014/main" id="{3D2B098B-3E87-47F7-9905-B22D06B58957}"/>
              </a:ext>
            </a:extLst>
          </p:cNvPr>
          <p:cNvSpPr/>
          <p:nvPr/>
        </p:nvSpPr>
        <p:spPr>
          <a:xfrm flipV="1">
            <a:off x="359764" y="358138"/>
            <a:ext cx="7060367" cy="841073"/>
          </a:xfrm>
          <a:prstGeom prst="round1Rect">
            <a:avLst>
              <a:gd name="adj" fmla="val 50000"/>
            </a:avLst>
          </a:prstGeom>
          <a:solidFill>
            <a:srgbClr val="0B30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just">
              <a:lnSpc>
                <a:spcPct val="150000"/>
              </a:lnSpc>
            </a:pPr>
            <a:endParaRPr lang="en-US" b="1" dirty="0">
              <a:solidFill>
                <a:srgbClr val="FFFFFF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255901C-ECB4-8AF6-0731-864171D2FA0C}"/>
              </a:ext>
            </a:extLst>
          </p:cNvPr>
          <p:cNvSpPr txBox="1"/>
          <p:nvPr/>
        </p:nvSpPr>
        <p:spPr>
          <a:xfrm>
            <a:off x="427219" y="508041"/>
            <a:ext cx="6925456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b="1" dirty="0">
                <a:solidFill>
                  <a:schemeClr val="bg1"/>
                </a:solidFill>
              </a:rPr>
              <a:t>Dissezione profonda e accesso mediale</a:t>
            </a:r>
          </a:p>
          <a:p>
            <a:endParaRPr lang="it-IT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0EA55A2E-206A-46C7-0FC6-C7B4BAA7A1DA}"/>
              </a:ext>
            </a:extLst>
          </p:cNvPr>
          <p:cNvSpPr txBox="1"/>
          <p:nvPr/>
        </p:nvSpPr>
        <p:spPr>
          <a:xfrm>
            <a:off x="359764" y="1349114"/>
            <a:ext cx="75325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/>
              <a:t>Nella seconda fase accediamo e spostiamo i muscoli a sinistra e destra per accedere alla colonna vertebrale:</a:t>
            </a:r>
          </a:p>
        </p:txBody>
      </p:sp>
      <p:pic>
        <p:nvPicPr>
          <p:cNvPr id="11" name="Elemento grafico 10" descr="Segno di spunta con riempimento a tinta unita">
            <a:extLst>
              <a:ext uri="{FF2B5EF4-FFF2-40B4-BE49-F238E27FC236}">
                <a16:creationId xmlns:a16="http://schemas.microsoft.com/office/drawing/2014/main" id="{C9428826-D572-B5B0-3618-F2FC44F934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7219" y="2087778"/>
            <a:ext cx="389746" cy="389746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8502C68-7F15-82F4-0B65-AEFE82FA9D55}"/>
              </a:ext>
            </a:extLst>
          </p:cNvPr>
          <p:cNvSpPr txBox="1"/>
          <p:nvPr/>
        </p:nvSpPr>
        <p:spPr>
          <a:xfrm>
            <a:off x="816965" y="2097985"/>
            <a:ext cx="82071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Identificare e retrarre il muscolo sternocleidomastoideo (SCM) </a:t>
            </a:r>
          </a:p>
          <a:p>
            <a:r>
              <a:rPr lang="it-IT" b="1" dirty="0"/>
              <a:t>lateralmente. </a:t>
            </a:r>
            <a:endParaRPr lang="it-IT" dirty="0"/>
          </a:p>
        </p:txBody>
      </p:sp>
      <p:pic>
        <p:nvPicPr>
          <p:cNvPr id="14" name="Immagine 13" descr="Immagine che contiene cartone animato&#10;&#10;Il contenuto generato dall'IA potrebbe non essere corretto.">
            <a:extLst>
              <a:ext uri="{FF2B5EF4-FFF2-40B4-BE49-F238E27FC236}">
                <a16:creationId xmlns:a16="http://schemas.microsoft.com/office/drawing/2014/main" id="{09A7C329-434A-84B8-575F-A039FA6A23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350" y="2744316"/>
            <a:ext cx="2773181" cy="3741683"/>
          </a:xfrm>
          <a:prstGeom prst="rect">
            <a:avLst/>
          </a:prstGeom>
        </p:spPr>
      </p:pic>
      <p:cxnSp>
        <p:nvCxnSpPr>
          <p:cNvPr id="17" name="Connettore 2 16">
            <a:extLst>
              <a:ext uri="{FF2B5EF4-FFF2-40B4-BE49-F238E27FC236}">
                <a16:creationId xmlns:a16="http://schemas.microsoft.com/office/drawing/2014/main" id="{C8F0D772-72FE-2AB0-CB03-0181A8F4A421}"/>
              </a:ext>
            </a:extLst>
          </p:cNvPr>
          <p:cNvCxnSpPr>
            <a:cxnSpLocks/>
          </p:cNvCxnSpPr>
          <p:nvPr/>
        </p:nvCxnSpPr>
        <p:spPr>
          <a:xfrm>
            <a:off x="5336498" y="4585177"/>
            <a:ext cx="2555824" cy="0"/>
          </a:xfrm>
          <a:prstGeom prst="straightConnector1">
            <a:avLst/>
          </a:prstGeom>
          <a:ln w="57150" cap="flat" cmpd="sng" algn="ctr">
            <a:solidFill>
              <a:schemeClr val="tx2"/>
            </a:solidFill>
            <a:prstDash val="solid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0" name="Immagine 19" descr="Immagine che contiene cartone animato, scivolo, rosso&#10;&#10;Il contenuto generato dall'IA potrebbe non essere corretto.">
            <a:extLst>
              <a:ext uri="{FF2B5EF4-FFF2-40B4-BE49-F238E27FC236}">
                <a16:creationId xmlns:a16="http://schemas.microsoft.com/office/drawing/2014/main" id="{558B6529-6B5B-E53B-BA6A-2D2B8476B7D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3801" y="2677869"/>
            <a:ext cx="2367662" cy="3808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113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3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9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3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9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000"/>
                            </p:stCondLst>
                            <p:childTnLst>
                              <p:par>
                                <p:cTn id="2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5C753041-8209-75FD-7BA3-9DAF7AF192CE}"/>
              </a:ext>
            </a:extLst>
          </p:cNvPr>
          <p:cNvSpPr txBox="1"/>
          <p:nvPr/>
        </p:nvSpPr>
        <p:spPr>
          <a:xfrm>
            <a:off x="980420" y="404735"/>
            <a:ext cx="697042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Nonostante la loro rigidità è necessario retrarre con attenzione i muscoli </a:t>
            </a:r>
            <a:r>
              <a:rPr lang="it-IT" b="1" dirty="0" err="1"/>
              <a:t>infrahioidei</a:t>
            </a:r>
            <a:r>
              <a:rPr lang="it-IT" b="1" dirty="0"/>
              <a:t> (</a:t>
            </a:r>
            <a:r>
              <a:rPr lang="it-IT" b="1" dirty="0" err="1"/>
              <a:t>omoioidei</a:t>
            </a:r>
            <a:r>
              <a:rPr lang="it-IT" b="1" dirty="0"/>
              <a:t> )  se presenti nel campo per evitare collisioni con strumenti/mani del chirurgo.</a:t>
            </a:r>
          </a:p>
        </p:txBody>
      </p:sp>
      <p:pic>
        <p:nvPicPr>
          <p:cNvPr id="8" name="Elemento grafico 7" descr="Segno di spunta con riempimento a tinta unita">
            <a:extLst>
              <a:ext uri="{FF2B5EF4-FFF2-40B4-BE49-F238E27FC236}">
                <a16:creationId xmlns:a16="http://schemas.microsoft.com/office/drawing/2014/main" id="{E4EED52E-8F80-EDFC-2C96-DA6B29A8DD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0674" y="404735"/>
            <a:ext cx="389746" cy="389746"/>
          </a:xfrm>
          <a:prstGeom prst="rect">
            <a:avLst/>
          </a:prstGeom>
        </p:spPr>
      </p:pic>
      <p:pic>
        <p:nvPicPr>
          <p:cNvPr id="10" name="Immagine 9" descr="Immagine che contiene cartone animato&#10;&#10;Il contenuto generato dall'IA potrebbe non essere corretto.">
            <a:extLst>
              <a:ext uri="{FF2B5EF4-FFF2-40B4-BE49-F238E27FC236}">
                <a16:creationId xmlns:a16="http://schemas.microsoft.com/office/drawing/2014/main" id="{1DFCB846-6536-201B-7272-F84CB59A5C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420" y="1549674"/>
            <a:ext cx="3176479" cy="4601967"/>
          </a:xfrm>
          <a:prstGeom prst="rect">
            <a:avLst/>
          </a:prstGeom>
        </p:spPr>
      </p:pic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D8AED7D8-430A-1E08-9301-8315666E7FED}"/>
              </a:ext>
            </a:extLst>
          </p:cNvPr>
          <p:cNvCxnSpPr>
            <a:cxnSpLocks/>
          </p:cNvCxnSpPr>
          <p:nvPr/>
        </p:nvCxnSpPr>
        <p:spPr>
          <a:xfrm>
            <a:off x="4465633" y="3850657"/>
            <a:ext cx="2133974" cy="0"/>
          </a:xfrm>
          <a:prstGeom prst="straightConnector1">
            <a:avLst/>
          </a:prstGeom>
          <a:ln w="57150" cap="flat" cmpd="sng" algn="ctr">
            <a:solidFill>
              <a:schemeClr val="tx2"/>
            </a:solidFill>
            <a:prstDash val="solid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4" name="Immagine 13" descr="Immagine che contiene cartone animato, arte&#10;&#10;Il contenuto generato dall'IA potrebbe non essere corretto.">
            <a:extLst>
              <a:ext uri="{FF2B5EF4-FFF2-40B4-BE49-F238E27FC236}">
                <a16:creationId xmlns:a16="http://schemas.microsoft.com/office/drawing/2014/main" id="{A4927D3B-59FB-6CFA-3CC3-DB0158DE392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0948" y="1534043"/>
            <a:ext cx="3359303" cy="4617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694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9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3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9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CA28BF27-ADB7-6D49-6530-179C1A23C872}"/>
              </a:ext>
            </a:extLst>
          </p:cNvPr>
          <p:cNvSpPr txBox="1"/>
          <p:nvPr/>
        </p:nvSpPr>
        <p:spPr>
          <a:xfrm>
            <a:off x="614598" y="115778"/>
            <a:ext cx="5241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Procedendo in profondità è necessario retrarre vasi del collo lateralmente: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b="1" dirty="0"/>
              <a:t>Arteria carotide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b="1" dirty="0"/>
              <a:t>Vena Giugulare.</a:t>
            </a:r>
          </a:p>
          <a:p>
            <a:endParaRPr lang="it-IT" b="1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4B6E606B-45A6-E5B5-534E-9C8DC16F21BA}"/>
              </a:ext>
            </a:extLst>
          </p:cNvPr>
          <p:cNvSpPr txBox="1"/>
          <p:nvPr/>
        </p:nvSpPr>
        <p:spPr>
          <a:xfrm>
            <a:off x="6335843" y="182358"/>
            <a:ext cx="60935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/>
              <a:t>Nervo Laringeo deve essere protetto (lato destro è più vulnerabile.</a:t>
            </a:r>
          </a:p>
        </p:txBody>
      </p:sp>
      <p:pic>
        <p:nvPicPr>
          <p:cNvPr id="6" name="Elemento grafico 5" descr="Segno di spunta con riempimento a tinta unita">
            <a:extLst>
              <a:ext uri="{FF2B5EF4-FFF2-40B4-BE49-F238E27FC236}">
                <a16:creationId xmlns:a16="http://schemas.microsoft.com/office/drawing/2014/main" id="{C378C91D-0589-A9B9-A4C6-095B477A6A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9823" y="115778"/>
            <a:ext cx="389746" cy="389746"/>
          </a:xfrm>
          <a:prstGeom prst="rect">
            <a:avLst/>
          </a:prstGeom>
        </p:spPr>
      </p:pic>
      <p:pic>
        <p:nvPicPr>
          <p:cNvPr id="7" name="Elemento grafico 6" descr="Segno di spunta con riempimento a tinta unita">
            <a:extLst>
              <a:ext uri="{FF2B5EF4-FFF2-40B4-BE49-F238E27FC236}">
                <a16:creationId xmlns:a16="http://schemas.microsoft.com/office/drawing/2014/main" id="{38AD6ED9-A14E-4A64-64DF-8EAEF33792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46097" y="182358"/>
            <a:ext cx="389746" cy="389746"/>
          </a:xfrm>
          <a:prstGeom prst="rect">
            <a:avLst/>
          </a:prstGeom>
        </p:spPr>
      </p:pic>
      <p:pic>
        <p:nvPicPr>
          <p:cNvPr id="13" name="Immagine 12" descr="Immagine che contiene parco giochi, scivolo, arte&#10;&#10;Il contenuto generato dall'IA potrebbe non essere corretto.">
            <a:extLst>
              <a:ext uri="{FF2B5EF4-FFF2-40B4-BE49-F238E27FC236}">
                <a16:creationId xmlns:a16="http://schemas.microsoft.com/office/drawing/2014/main" id="{A6763137-A88D-4247-1BA3-84E770B9D5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489" y="1593107"/>
            <a:ext cx="3402143" cy="4717752"/>
          </a:xfrm>
          <a:prstGeom prst="rect">
            <a:avLst/>
          </a:prstGeom>
        </p:spPr>
      </p:pic>
      <p:pic>
        <p:nvPicPr>
          <p:cNvPr id="23" name="Immagine 22" descr="Immagine che contiene scivolo, arte&#10;&#10;Il contenuto generato dall'IA potrebbe non essere corretto.">
            <a:extLst>
              <a:ext uri="{FF2B5EF4-FFF2-40B4-BE49-F238E27FC236}">
                <a16:creationId xmlns:a16="http://schemas.microsoft.com/office/drawing/2014/main" id="{36C0F2AA-5590-1C03-26A8-26689B3DFA3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2114" y="1593106"/>
            <a:ext cx="3402144" cy="4717753"/>
          </a:xfrm>
          <a:prstGeom prst="rect">
            <a:avLst/>
          </a:prstGeom>
        </p:spPr>
      </p:pic>
      <p:cxnSp>
        <p:nvCxnSpPr>
          <p:cNvPr id="24" name="Connettore 2 23">
            <a:extLst>
              <a:ext uri="{FF2B5EF4-FFF2-40B4-BE49-F238E27FC236}">
                <a16:creationId xmlns:a16="http://schemas.microsoft.com/office/drawing/2014/main" id="{38903DEE-026E-5DDD-2E98-4F0417AF0CB9}"/>
              </a:ext>
            </a:extLst>
          </p:cNvPr>
          <p:cNvCxnSpPr>
            <a:cxnSpLocks/>
          </p:cNvCxnSpPr>
          <p:nvPr/>
        </p:nvCxnSpPr>
        <p:spPr>
          <a:xfrm>
            <a:off x="5231567" y="4090501"/>
            <a:ext cx="1351612" cy="0"/>
          </a:xfrm>
          <a:prstGeom prst="straightConnector1">
            <a:avLst/>
          </a:prstGeom>
          <a:ln w="57150" cap="flat" cmpd="sng" algn="ctr">
            <a:solidFill>
              <a:schemeClr val="tx2"/>
            </a:solidFill>
            <a:prstDash val="solid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6645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3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9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9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3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9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000"/>
                            </p:stCondLst>
                            <p:childTnLst>
                              <p:par>
                                <p:cTn id="34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con un angolo arrotondato 1">
            <a:extLst>
              <a:ext uri="{FF2B5EF4-FFF2-40B4-BE49-F238E27FC236}">
                <a16:creationId xmlns:a16="http://schemas.microsoft.com/office/drawing/2014/main" id="{2D19966E-CAA4-F53C-BB91-B530F210B784}"/>
              </a:ext>
            </a:extLst>
          </p:cNvPr>
          <p:cNvSpPr/>
          <p:nvPr/>
        </p:nvSpPr>
        <p:spPr>
          <a:xfrm flipV="1">
            <a:off x="359764" y="358139"/>
            <a:ext cx="5404493" cy="841073"/>
          </a:xfrm>
          <a:prstGeom prst="round1Rect">
            <a:avLst>
              <a:gd name="adj" fmla="val 50000"/>
            </a:avLst>
          </a:prstGeom>
          <a:solidFill>
            <a:srgbClr val="0B30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just">
              <a:lnSpc>
                <a:spcPct val="150000"/>
              </a:lnSpc>
            </a:pPr>
            <a:endParaRPr lang="en-US" b="1" dirty="0">
              <a:solidFill>
                <a:srgbClr val="FFFFFF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3B746C03-F245-421D-8BDF-4D05794FF968}"/>
              </a:ext>
            </a:extLst>
          </p:cNvPr>
          <p:cNvSpPr txBox="1"/>
          <p:nvPr/>
        </p:nvSpPr>
        <p:spPr>
          <a:xfrm>
            <a:off x="359764" y="517065"/>
            <a:ext cx="58496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b="1" dirty="0">
                <a:solidFill>
                  <a:schemeClr val="bg1"/>
                </a:solidFill>
              </a:rPr>
              <a:t>Accesso alla colonna vertebrale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1AFDDE47-BE82-5FCA-CDE3-7995E9F228B1}"/>
              </a:ext>
            </a:extLst>
          </p:cNvPr>
          <p:cNvSpPr txBox="1"/>
          <p:nvPr/>
        </p:nvSpPr>
        <p:spPr>
          <a:xfrm>
            <a:off x="2530705" y="1288565"/>
            <a:ext cx="7130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L’ultima fase preliminare prima di esportare l’ernia è esporre più possibile i corpi vertebrali  e il disco intervertebrale: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BB3720DA-B756-7E51-A63F-1D236C614A4F}"/>
              </a:ext>
            </a:extLst>
          </p:cNvPr>
          <p:cNvSpPr txBox="1"/>
          <p:nvPr/>
        </p:nvSpPr>
        <p:spPr>
          <a:xfrm>
            <a:off x="2717507" y="2024249"/>
            <a:ext cx="6093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/>
              <a:t>Isolare e retrarre il flessori spinale destro e sinistro</a:t>
            </a:r>
          </a:p>
        </p:txBody>
      </p:sp>
      <p:pic>
        <p:nvPicPr>
          <p:cNvPr id="10" name="Elemento grafico 9" descr="Segno di spunta con riempimento a tinta unita">
            <a:extLst>
              <a:ext uri="{FF2B5EF4-FFF2-40B4-BE49-F238E27FC236}">
                <a16:creationId xmlns:a16="http://schemas.microsoft.com/office/drawing/2014/main" id="{6B7C0D96-7C8A-1B65-14ED-ACFAC6523F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35832" y="2024249"/>
            <a:ext cx="389746" cy="389746"/>
          </a:xfrm>
          <a:prstGeom prst="rect">
            <a:avLst/>
          </a:prstGeom>
        </p:spPr>
      </p:pic>
      <p:pic>
        <p:nvPicPr>
          <p:cNvPr id="12" name="Immagine 11" descr="Immagine che contiene torta di compleanno, cartone animato, cibo, torta&#10;&#10;Il contenuto generato dall'IA potrebbe non essere corretto.">
            <a:extLst>
              <a:ext uri="{FF2B5EF4-FFF2-40B4-BE49-F238E27FC236}">
                <a16:creationId xmlns:a16="http://schemas.microsoft.com/office/drawing/2014/main" id="{62787272-D0F9-C9FC-A80D-62273FB0F2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0618" y="2482934"/>
            <a:ext cx="2922783" cy="4251321"/>
          </a:xfrm>
          <a:prstGeom prst="rect">
            <a:avLst/>
          </a:prstGeom>
        </p:spPr>
      </p:pic>
      <p:cxnSp>
        <p:nvCxnSpPr>
          <p:cNvPr id="13" name="Connettore 2 12">
            <a:extLst>
              <a:ext uri="{FF2B5EF4-FFF2-40B4-BE49-F238E27FC236}">
                <a16:creationId xmlns:a16="http://schemas.microsoft.com/office/drawing/2014/main" id="{B88299DA-6F54-083E-EE82-027FCFCB32B3}"/>
              </a:ext>
            </a:extLst>
          </p:cNvPr>
          <p:cNvCxnSpPr>
            <a:cxnSpLocks/>
          </p:cNvCxnSpPr>
          <p:nvPr/>
        </p:nvCxnSpPr>
        <p:spPr>
          <a:xfrm>
            <a:off x="4962457" y="4540692"/>
            <a:ext cx="1921508" cy="0"/>
          </a:xfrm>
          <a:prstGeom prst="straightConnector1">
            <a:avLst/>
          </a:prstGeom>
          <a:ln w="57150" cap="flat" cmpd="sng" algn="ctr">
            <a:solidFill>
              <a:schemeClr val="tx2"/>
            </a:solidFill>
            <a:prstDash val="solid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6" name="Immagine 15" descr="Immagine che contiene torta di compleanno, torta&#10;&#10;Il contenuto generato dall'IA potrebbe non essere corretto.">
            <a:extLst>
              <a:ext uri="{FF2B5EF4-FFF2-40B4-BE49-F238E27FC236}">
                <a16:creationId xmlns:a16="http://schemas.microsoft.com/office/drawing/2014/main" id="{FA0812CA-F5CE-77AE-1460-055E77EE621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7003" y="2482938"/>
            <a:ext cx="3008007" cy="4251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9789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9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9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3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9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FCF08-886C-4FC9-0AE2-6F094E5F2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ttangolo 16">
            <a:extLst>
              <a:ext uri="{FF2B5EF4-FFF2-40B4-BE49-F238E27FC236}">
                <a16:creationId xmlns:a16="http://schemas.microsoft.com/office/drawing/2014/main" id="{AD29ED6E-4E3C-2D98-DBCE-88E0E99E8779}"/>
              </a:ext>
            </a:extLst>
          </p:cNvPr>
          <p:cNvSpPr/>
          <p:nvPr/>
        </p:nvSpPr>
        <p:spPr>
          <a:xfrm>
            <a:off x="0" y="0"/>
            <a:ext cx="12192000" cy="1046480"/>
          </a:xfrm>
          <a:prstGeom prst="rect">
            <a:avLst/>
          </a:prstGeom>
          <a:solidFill>
            <a:srgbClr val="0B304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Text 0">
            <a:extLst>
              <a:ext uri="{FF2B5EF4-FFF2-40B4-BE49-F238E27FC236}">
                <a16:creationId xmlns:a16="http://schemas.microsoft.com/office/drawing/2014/main" id="{13F81CA0-FA4E-2D77-0D5B-EC1A3714F06B}"/>
              </a:ext>
            </a:extLst>
          </p:cNvPr>
          <p:cNvSpPr/>
          <p:nvPr/>
        </p:nvSpPr>
        <p:spPr>
          <a:xfrm>
            <a:off x="382266" y="0"/>
            <a:ext cx="11427468" cy="9163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Fonti</a:t>
            </a:r>
            <a:endParaRPr lang="en-US" sz="2400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88838523-5CC8-553A-289B-9EDB8BAB9FD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342" r="11946" b="16787"/>
          <a:stretch>
            <a:fillRect/>
          </a:stretch>
        </p:blipFill>
        <p:spPr bwMode="auto">
          <a:xfrm>
            <a:off x="368292" y="5870510"/>
            <a:ext cx="1758462" cy="9748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29902C70-9007-D668-17EE-3CB449BF23AC}"/>
              </a:ext>
            </a:extLst>
          </p:cNvPr>
          <p:cNvSpPr txBox="1"/>
          <p:nvPr/>
        </p:nvSpPr>
        <p:spPr>
          <a:xfrm>
            <a:off x="162560" y="1229360"/>
            <a:ext cx="1164717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Immagine slide 1</a:t>
            </a:r>
            <a:endParaRPr lang="it-IT" dirty="0">
              <a:solidFill>
                <a:schemeClr val="accent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accent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Immagine slide 7</a:t>
            </a:r>
            <a:endParaRPr lang="it-IT" dirty="0">
              <a:solidFill>
                <a:schemeClr val="accent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accent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 slide 7</a:t>
            </a:r>
            <a:endParaRPr lang="it-IT" dirty="0">
              <a:solidFill>
                <a:schemeClr val="accent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>
                <a:solidFill>
                  <a:schemeClr val="accent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Immagine slide 8</a:t>
            </a:r>
            <a:endParaRPr lang="it-IT" dirty="0">
              <a:solidFill>
                <a:schemeClr val="accent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>
                <a:solidFill>
                  <a:schemeClr val="accent1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StatPearls</a:t>
            </a:r>
            <a:r>
              <a:rPr lang="it-IT" dirty="0">
                <a:solidFill>
                  <a:schemeClr val="accent1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</a:t>
            </a:r>
            <a:r>
              <a:rPr lang="it-IT" i="1" dirty="0" err="1">
                <a:solidFill>
                  <a:schemeClr val="accent1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Cervical</a:t>
            </a:r>
            <a:r>
              <a:rPr lang="it-IT" i="1" dirty="0">
                <a:solidFill>
                  <a:schemeClr val="accent1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Disc </a:t>
            </a:r>
            <a:r>
              <a:rPr lang="it-IT" i="1" dirty="0" err="1">
                <a:solidFill>
                  <a:schemeClr val="accent1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Herniation</a:t>
            </a:r>
            <a:r>
              <a:rPr lang="it-IT" i="1" dirty="0">
                <a:solidFill>
                  <a:schemeClr val="accent1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Medscape: </a:t>
            </a:r>
            <a:r>
              <a:rPr lang="en-US" i="1" dirty="0">
                <a:solidFill>
                  <a:schemeClr val="accent1"/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Cervical Disc Disease – Pathophysiology</a:t>
            </a:r>
            <a:endParaRPr lang="en-US" i="1" dirty="0">
              <a:solidFill>
                <a:schemeClr val="accent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Hammer C. et al., </a:t>
            </a:r>
            <a:r>
              <a:rPr lang="en-US" i="1" dirty="0">
                <a:solidFill>
                  <a:schemeClr val="accent1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Epidemiology and pathophysiology of cervical disc herniation</a:t>
            </a:r>
            <a:endParaRPr lang="en-US" i="1" dirty="0">
              <a:solidFill>
                <a:schemeClr val="accent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rgbClr val="467886"/>
                </a:solidFill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Haso</a:t>
            </a:r>
            <a:r>
              <a:rPr lang="en-US" dirty="0">
                <a:solidFill>
                  <a:srgbClr val="467886"/>
                </a:solidFill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S., Adi Ah., Edin H., Mersad B., Mirsad M., </a:t>
            </a:r>
            <a:r>
              <a:rPr lang="en-US" i="1" dirty="0">
                <a:solidFill>
                  <a:schemeClr val="accent1"/>
                </a:solidFill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Surgical Treatment of the Patients with Cervical Disc Herniation at Clinical Center of University of Sarajevo, Bosnia and Herzegovina</a:t>
            </a:r>
            <a:endParaRPr lang="en-US" i="1" dirty="0">
              <a:solidFill>
                <a:schemeClr val="accent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IT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209320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7742</TotalTime>
  <Words>753</Words>
  <Application>Microsoft Office PowerPoint</Application>
  <PresentationFormat>Widescreen</PresentationFormat>
  <Paragraphs>136</Paragraphs>
  <Slides>16</Slides>
  <Notes>5</Notes>
  <HiddenSlides>0</HiddenSlides>
  <MMClips>1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ui-sans-serif</vt:lpstr>
      <vt:lpstr>Wingdings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Marta Palazzoli</dc:creator>
  <cp:lastModifiedBy>Emilio Leo</cp:lastModifiedBy>
  <cp:revision>25</cp:revision>
  <dcterms:created xsi:type="dcterms:W3CDTF">2025-09-19T15:08:37Z</dcterms:created>
  <dcterms:modified xsi:type="dcterms:W3CDTF">2025-09-25T17:05:54Z</dcterms:modified>
</cp:coreProperties>
</file>